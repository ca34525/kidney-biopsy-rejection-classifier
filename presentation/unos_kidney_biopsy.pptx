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charts/chart1.xml" ContentType="application/vnd.openxmlformats-officedocument.drawingml.chart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Default Extension="xlsx" ContentType="application/vnd.openxmlformats-officedocument.spreadsheetml.sheet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2026595640c74eef" /><Relationship Type="http://schemas.openxmlformats.org/officeDocument/2006/relationships/extended-properties" Target="/docProps/app.xml" Id="R5991d2089f2144e1" /><Relationship Type="http://schemas.openxmlformats.org/officeDocument/2006/relationships/officeDocument" Target="/ppt/presentation.xml" Id="R325d7b174964498f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50ca9ad9fd284fea"/>
  </p:sldMasterIdLst>
  <p:sldIdLst>
    <p:sldId id="256" r:id="Re7db7bb8a46d4b32"/>
    <p:sldId id="257" r:id="R4f968604d946492e"/>
    <p:sldId id="258" r:id="R34c49a3e23a94722"/>
    <p:sldId id="259" r:id="R686d18927feb48d7"/>
    <p:sldId id="260" r:id="R565c92036ba34a91"/>
    <p:sldId id="261" r:id="R6b3df11763304d4a"/>
    <p:sldId id="262" r:id="R849d321994f741aa"/>
    <p:sldId id="263" r:id="Rbffebd4ea35540dc"/>
    <p:sldId id="264" r:id="Rdc77cf83ba53449c"/>
    <p:sldId id="265" r:id="Rd128ef0c147642eb"/>
    <p:sldId id="266" r:id="R67e2eab437f2424e"/>
    <p:sldId id="267" r:id="R900c6fba1bbe4bbf"/>
    <p:sldId id="268" r:id="Rf0112f79d9cb419d"/>
    <p:sldId id="269" r:id="R358fd6ca706044ea"/>
    <p:sldId id="270" r:id="R4f95177ecd4b45b9"/>
    <p:sldId id="271" r:id="R6136032f43d2435b"/>
    <p:sldId id="272" r:id="Rbedbe09b8c514403"/>
    <p:sldId id="273" r:id="Rd0dfdfa4a6284704"/>
    <p:sldId id="274" r:id="Reb36b179ad554ac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8b4850e0949a4ea2" /><Relationship Type="http://schemas.openxmlformats.org/officeDocument/2006/relationships/slideMaster" Target="/ppt/slideMasters/slideMaster1.xml" Id="R50ca9ad9fd284fea" /><Relationship Type="http://schemas.openxmlformats.org/officeDocument/2006/relationships/presProps" Target="/ppt/presProps.xml" Id="R0ad43cc8b95b4889" /><Relationship Type="http://schemas.openxmlformats.org/officeDocument/2006/relationships/tableStyles" Target="/ppt/tableStyles.xml" Id="R8ee1fe01c0c14a9f" /><Relationship Type="http://schemas.openxmlformats.org/officeDocument/2006/relationships/slide" Target="/ppt/slides/slide1.xml" Id="Re7db7bb8a46d4b32" /><Relationship Type="http://schemas.openxmlformats.org/officeDocument/2006/relationships/slide" Target="/ppt/slides/slide2.xml" Id="R4f968604d946492e" /><Relationship Type="http://schemas.openxmlformats.org/officeDocument/2006/relationships/slide" Target="/ppt/slides/slide3.xml" Id="R34c49a3e23a94722" /><Relationship Type="http://schemas.openxmlformats.org/officeDocument/2006/relationships/slide" Target="/ppt/slides/slide4.xml" Id="R686d18927feb48d7" /><Relationship Type="http://schemas.openxmlformats.org/officeDocument/2006/relationships/slide" Target="/ppt/slides/slide5.xml" Id="R565c92036ba34a91" /><Relationship Type="http://schemas.openxmlformats.org/officeDocument/2006/relationships/slide" Target="/ppt/slides/slide6.xml" Id="R6b3df11763304d4a" /><Relationship Type="http://schemas.openxmlformats.org/officeDocument/2006/relationships/slide" Target="/ppt/slides/slide7.xml" Id="R849d321994f741aa" /><Relationship Type="http://schemas.openxmlformats.org/officeDocument/2006/relationships/slide" Target="/ppt/slides/slide8.xml" Id="Rbffebd4ea35540dc" /><Relationship Type="http://schemas.openxmlformats.org/officeDocument/2006/relationships/slide" Target="/ppt/slides/slide9.xml" Id="Rdc77cf83ba53449c" /><Relationship Type="http://schemas.openxmlformats.org/officeDocument/2006/relationships/slide" Target="/ppt/slides/slide10.xml" Id="Rd128ef0c147642eb" /><Relationship Type="http://schemas.openxmlformats.org/officeDocument/2006/relationships/slide" Target="/ppt/slides/slide11.xml" Id="R67e2eab437f2424e" /><Relationship Type="http://schemas.openxmlformats.org/officeDocument/2006/relationships/slide" Target="/ppt/slides/slide12.xml" Id="R900c6fba1bbe4bbf" /><Relationship Type="http://schemas.openxmlformats.org/officeDocument/2006/relationships/slide" Target="/ppt/slides/slide13.xml" Id="Rf0112f79d9cb419d" /><Relationship Type="http://schemas.openxmlformats.org/officeDocument/2006/relationships/slide" Target="/ppt/slides/slide14.xml" Id="R358fd6ca706044ea" /><Relationship Type="http://schemas.openxmlformats.org/officeDocument/2006/relationships/slide" Target="/ppt/slides/slide15.xml" Id="R4f95177ecd4b45b9" /><Relationship Type="http://schemas.openxmlformats.org/officeDocument/2006/relationships/slide" Target="/ppt/slides/slide16.xml" Id="R6136032f43d2435b" /><Relationship Type="http://schemas.openxmlformats.org/officeDocument/2006/relationships/slide" Target="/ppt/slides/slide17.xml" Id="Rbedbe09b8c514403" /><Relationship Type="http://schemas.openxmlformats.org/officeDocument/2006/relationships/slide" Target="/ppt/slides/slide18.xml" Id="Rd0dfdfa4a6284704" /><Relationship Type="http://schemas.openxmlformats.org/officeDocument/2006/relationships/slide" Target="/ppt/slides/slide19.xml" Id="Reb36b179ad554ac2" /></Relationship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ffc5b2da8889431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328abc6bea0540de" /><Relationship Type="http://schemas.openxmlformats.org/officeDocument/2006/relationships/slideLayout" Target="/ppt/slideLayouts/slideLayout1.xml" Id="Rebdb733dc828409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bdb733dc828409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fc847a7ba49a46ed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1ac37e9e730e4946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71f0bc9073654f8d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a22fdb56fa50441d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52fc005ea40d46f6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0eb1d956d1204950" 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f480ae6ee3ac4e35" 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73b69f935ef94a12" 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156225f4d5cf46a8" 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85694873fa624136" 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bc263fead9974a82" 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24f8c858a2794d07" /><Relationship Type="http://schemas.openxmlformats.org/officeDocument/2006/relationships/chart" Target="/ppt/slides/charts/chart1.xml" Id="Rc3668eff1a674212" 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18d4bdc4832423d" 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d6b21448034c42a7" /></Relationships>
</file>

<file path=ppt/slides/_rels/slide1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85c5f007dd4e41e2" /></Relationships>
</file>

<file path=ppt/slides/_rels/slide1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03a80ce7c91541bd" /></Relationships>
</file>

<file path=ppt/slides/_rels/slide1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dbcb9a603be64c63" /></Relationships>
</file>

<file path=ppt/slides/_rels/slide1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08414aaa9e840cd" /></Relationships>
</file>

<file path=ppt/slides/_rels/slide19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00d461d184a9440b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False negatives / 169</c:v>
          </c:tx>
          <c:spPr>
            <a:solidFill xmlns:a="http://schemas.openxmlformats.org/drawingml/2006/main">
              <a:srgbClr val="B55730"/>
            </a:solidFill>
          </c:spPr>
          <c:cat>
            <c:strRef>
              <c:f>'Chart Data'!$A$2:$A$4</c:f>
              <c:strCache>
                <c:ptCount val="3"/>
                <c:pt idx="0">
                  <c:v>IFNG only (Logistic regression)</c:v>
                </c:pt>
                <c:pt idx="1">
                  <c:v>All RNA (Logistic Regression)</c:v>
                </c:pt>
                <c:pt idx="2">
                  <c:v>CatBoost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14</c:v>
                </c:pt>
                <c:pt idx="1">
                  <c:v>33</c:v>
                </c:pt>
                <c:pt idx="2">
                  <c:v>25</c:v>
                </c:pt>
              </c:numCache>
            </c:numRef>
          </c:val>
        </c:ser>
        <c:ser>
          <c:idx val="1"/>
          <c:order val="1"/>
          <c:tx>
            <c:v>False positives / 176</c:v>
          </c:tx>
          <c:spPr>
            <a:solidFill xmlns:a="http://schemas.openxmlformats.org/drawingml/2006/main">
              <a:srgbClr val="007C78"/>
            </a:solidFill>
          </c:spPr>
          <c:cat>
            <c:strRef>
              <c:f>'Chart Data'!$C$2:$C$4</c:f>
              <c:strCache>
                <c:ptCount val="3"/>
                <c:pt idx="0">
                  <c:v>IFNG only (Logistic regression)</c:v>
                </c:pt>
                <c:pt idx="1">
                  <c:v>All RNA (Logistic Regression)</c:v>
                </c:pt>
                <c:pt idx="2">
                  <c:v>CatBoost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75</c:v>
                </c:pt>
                <c:pt idx="1">
                  <c:v>8</c:v>
                </c:pt>
                <c:pt idx="2">
                  <c:v>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75" b="1">
                  <a:solidFill>
                    <a:srgbClr val="16343E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8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CEDBD7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7F8F5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75">
              <a:solidFill>
                <a:srgbClr val="16343E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7F8F5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34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B5ED01-E630-46ED-8609-55A3E6A3F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24025"/>
            <a:ext cx="10972800" cy="3028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Classifying Kidney</a:t>
            </a:r>
          </a:p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Transplant Rejection</a:t>
            </a:r>
          </a:p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from Biopsy RNA</a:t>
            </a:r>
          </a:p>
        </p:txBody>
      </p:sp>
    </p:spTree>
    <p:extLst>
      <p:ext uri="{BB962C8B-B14F-4D97-AF65-F5344CB8AC3E}">
        <p14:creationId xmlns:p14="http://schemas.microsoft.com/office/powerpoint/2010/main" val="6544293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ACE76-F09B-4101-B69F-319645C3B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Transplant rejection and kidney biopsy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65E769-3B74-4AFC-B649-30DD52B6B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NIDDK, Kidney Transplant and Kidney Biopsy; Zhang et al. (2024)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6093F8-240E-4697-BE53-38CF30458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E775AA-DCF2-44F9-BA82-8E6D6CB7C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Rejection: </a:t>
            </a:r>
            <a:r>
              <a:t>The recipient’s immune system attacks the donated kidney.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477F46-999E-4402-B044-6C544FAE5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109728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Kidney biopsy: </a:t>
            </a:r>
            <a:r>
              <a:t>A small tissue sample collected from the kidney for examination.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0411FF-8FF5-4EAA-8C68-6A9D258F4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590925"/>
            <a:ext cx="1052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Histology: </a:t>
            </a:r>
            <a:r>
              <a:t>Microscopic examination reveals injury and inflammation that can support a rejection diagnosis.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A87B9A-090F-4236-9B5C-644E807A7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695825"/>
            <a:ext cx="105251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Molecular measurements: </a:t>
            </a:r>
            <a:r>
              <a:t>Counts of selected RNA types reflect gene activity and the mix of cells in the tissue.</a:t>
            </a:r>
          </a:p>
        </p:txBody>
      </p:sp>
    </p:spTree>
    <p:extLst>
      <p:ext uri="{BB962C8B-B14F-4D97-AF65-F5344CB8AC3E}">
        <p14:creationId xmlns:p14="http://schemas.microsoft.com/office/powerpoint/2010/main" val="16044761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7CC288-B6D6-4EE7-91C3-FBAA20CB3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Purpose of this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CC2A99-696D-4E71-B44E-608A723A5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Clinical context: Banff Reference Guide (2026). Public data: Zhang et al. (2024).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EFC309-97C9-474C-A6FC-618DEA7DD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2C2754-8114-4BD0-ACC4-82F7CF1D7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76425"/>
            <a:ext cx="10972800" cy="3219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300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Molecular measurements already have a recognized role in parts of transplant rejection assessment.</a:t>
            </a:r>
          </a:p>
          <a:p xmlns:a="http://schemas.openxmlformats.org/drawingml/2006/main">
            <a:pPr marL="279400" indent="-152400" algn="l">
              <a:spcAft>
                <a:spcPts val="300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This project uses that established application to compare missed rejection and false flags across classifiers.</a:t>
            </a:r>
          </a:p>
          <a:p xmlns:a="http://schemas.openxmlformats.org/drawingml/2006/main">
            <a:pPr marL="279400" indent="-152400" algn="l">
              <a:spcAft>
                <a:spcPts val="300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aim is to assess what a more complex model contributes before further validation.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C1807E-D2B4-4CDA-9A53-0EF399727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The scoring software preserves the procedure evaluated here.</a:t>
            </a:r>
          </a:p>
        </p:txBody>
      </p:sp>
    </p:spTree>
    <p:extLst>
      <p:ext uri="{BB962C8B-B14F-4D97-AF65-F5344CB8AC3E}">
        <p14:creationId xmlns:p14="http://schemas.microsoft.com/office/powerpoint/2010/main" val="17533611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882B71-677C-48B5-B535-30732198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Clinical and research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025956-A920-4E6F-83EE-463298E19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Banff Reference Guide (2026); Zhang et al. (2024); KDIGO (2009); BK consensus (2024)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E6B718-AE8E-4743-824F-03079EDF4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731F01-9087-4049-9D69-5EAB0A4E7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2609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Banff diagnostic</a:t>
            </a:r>
          </a:p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framework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318E99-DD40-4013-925C-52B7CBD2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619250"/>
            <a:ext cx="81057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Validated biopsy transcript tests have a defined role</a:t>
            </a:r>
          </a:p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 antibody-mediated rejection assessment.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B94C24-7100-44D2-AD6B-BF2F0FE32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CEDBD7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3BCDDA-454D-48EB-8186-4A57FD6F1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2609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Published B-HOT study</a:t>
            </a:r>
          </a:p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Zhang, 2024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BD8F5A-BD67-47D6-BDF2-FB9C4905E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857500"/>
            <a:ext cx="8105775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Four-class study compared regression and boosting.</a:t>
            </a:r>
          </a:p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Selected LASSO for similar accuracy with fewer features.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DCC75A-4093-4917-B677-65ECD08F2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CEDBD7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1F0EF1-95FB-4083-BE57-3366BB616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26098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Why both kinds</a:t>
            </a:r>
          </a:p>
          <a:p xmlns:a="http://schemas.openxmlformats.org/drawingml/2006/main">
            <a:pPr algn="l">
              <a:defRPr sz="21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of error matter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86BAC8-AD3B-4402-9DC4-8740AFC49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295775"/>
            <a:ext cx="8105775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Missed rejection can leave kidney injury untreated.</a:t>
            </a:r>
          </a:p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Unnecessary treatment can weaken the body’s defenses</a:t>
            </a:r>
          </a:p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and worsen an infection.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CA514D-A162-4946-9D14-57F704E6A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0547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This project compares binary classifier errors against recorded diagnoses.</a:t>
            </a:r>
          </a:p>
        </p:txBody>
      </p:sp>
    </p:spTree>
    <p:extLst>
      <p:ext uri="{BB962C8B-B14F-4D97-AF65-F5344CB8AC3E}">
        <p14:creationId xmlns:p14="http://schemas.microsoft.com/office/powerpoint/2010/main" val="197089062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592D23-9C3F-4415-A260-632034D43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What the dataset contains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346531-79DC-4042-B380-AA946EA1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GSE212160; Zhang et al. (2024), Methods and Tables 5–6; project data reader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121A58-F425-4308-9E69-DB22AC74E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2F1B2F-4BEA-4510-A055-3AAF0AE08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1,395 biopsy specimens, with one row per specimen in each table.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15F3E2-3C79-4FFA-94B5-967BD00BC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47815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RNA counts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ADB40B-F54E-43BE-B52F-F398410D2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43150"/>
            <a:ext cx="4762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Specimen information</a:t>
            </a:r>
          </a:p>
        </p:txBody>
      </p:sp>
      <p:graphicFrame>
        <p:nvGraphicFramePr>
          <p:cNvPr id="19" name=""/>
          <p:cNvGraphicFramePr/>
          <p:nvPr/>
        </p:nvGraphicFramePr>
        <p:xfrm>
          <a:off xmlns:a="http://schemas.openxmlformats.org/drawingml/2006/main" x="609600" y="2990850"/>
          <a:ext xmlns:a="http://schemas.openxmlformats.org/drawingml/2006/main" cx="4781550" cy="2276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2257425"/>
              </a:tblGrid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Column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Specimen ID (key)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GSM6510425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IFNG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GUSB (reference)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260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Other RNA counts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…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"/>
          <p:cNvGraphicFramePr/>
          <p:nvPr/>
        </p:nvGraphicFramePr>
        <p:xfrm>
          <a:off xmlns:a="http://schemas.openxmlformats.org/drawingml/2006/main" x="6819900" y="2990850"/>
          <a:ext xmlns:a="http://schemas.openxmlformats.org/drawingml/2006/main" cx="4762500" cy="2276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2190750"/>
              </a:tblGrid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Column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Specimen ID (key)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GSM6510425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Recorded diagnosis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Study group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Discovery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Other details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…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5A6440-CB86-4151-B8C4-9C61B0E7F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676650"/>
            <a:ext cx="142875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52656B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027F8E-4165-41D5-9A6B-8D13F3467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27660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1 : 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5F1FB3-A0CD-4E32-80AB-05B41C74A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752850"/>
            <a:ext cx="1276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Same ID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AA2BAC-D6C5-4778-B86D-0D6FC86A3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800"/>
              </a:spcAft>
              <a:buChar char="•"/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Includes 1,193 transplant biopsies and 202 native-kidney controls.</a:t>
            </a:r>
          </a:p>
          <a:p xmlns:a="http://schemas.openxmlformats.org/drawingml/2006/main">
            <a:pPr marL="279400" indent="-152400" algn="l">
              <a:spcAft>
                <a:spcPts val="800"/>
              </a:spcAft>
              <a:buChar char="•"/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study does not document separation by patient or referring center between study groups.</a:t>
            </a:r>
          </a:p>
        </p:txBody>
      </p:sp>
    </p:spTree>
    <p:extLst>
      <p:ext uri="{BB962C8B-B14F-4D97-AF65-F5344CB8AC3E}">
        <p14:creationId xmlns:p14="http://schemas.microsoft.com/office/powerpoint/2010/main" val="160377741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9D7E1F-A9B1-4F1D-893B-C1A318829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Outcome: rejection versus no rejection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900364-2973-45AF-BCCE-156A2C4EB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Zhang et al. (2024), Tables 5–6 and Discussion, p. 11; project diagnosis mapping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5A8CB9-2226-4BF2-91A2-3DF663178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2C25E3-0066-4C1A-9B4B-8BA458499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The model combines the three rejection categories in the public dataset.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09600" y="2428875"/>
          <a:ext xmlns:a="http://schemas.openxmlformats.org/drawingml/2006/main" cx="10972800" cy="3095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19625"/>
                <a:gridCol w="3876675"/>
                <a:gridCol w="247650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Recorded diagnosis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Meaning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 label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Antibody-mediated 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Antibodies: immune proteins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T-cell-mediated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 cells: immune cells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Mixed 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Both rejection processes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recorded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70221F-E817-4CD2-BC4D-54C7DBE60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The authors excluded some diagnostic categories from the dataset.</a:t>
            </a:r>
          </a:p>
        </p:txBody>
      </p:sp>
    </p:spTree>
    <p:extLst>
      <p:ext uri="{BB962C8B-B14F-4D97-AF65-F5344CB8AC3E}">
        <p14:creationId xmlns:p14="http://schemas.microsoft.com/office/powerpoint/2010/main" val="60384590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EB6F53-48BE-4974-A36C-BC4960B95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measurements used to build the features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D46A98-93FA-44BA-B37B-FD1C6A8C3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GSE212160; B-HOT panel consensus; NanoString analysis guidance; shared preprocessing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4C512E-848F-4799-891E-5D3048786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10486F-DDF1-4D02-84BD-8E4C4463D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770 RNA counts per specimen, one for each RNA type measured.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49AA30-0E40-494E-A35F-70888CE86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62225"/>
            <a:ext cx="5095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758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AAC4F8-9CD9-4271-A482-123F8076F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50958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Model measurements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870C10-CD8A-4D7E-A5CA-D1FDACF73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5143500" cy="222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Selected human and viral RNA measurements.</a:t>
            </a:r>
          </a:p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Signals reflect gene activity and the mixture of cells in the biopsy.</a:t>
            </a:r>
          </a:p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Normalized values become the model’s inputs.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E46DAF-6DBC-4FF6-80FD-9F0EC934F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2562225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45895F-AD5B-4E5E-B04F-35ACB78B0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3343275"/>
            <a:ext cx="50387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Housekeeping references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6288D3-816D-4289-89FE-276534E11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3905250"/>
            <a:ext cx="5038725" cy="222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Relatively stable RNAs provide a reference for each specimen.</a:t>
            </a:r>
          </a:p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Help adjust for differences in overall measurable RNA input.</a:t>
            </a:r>
          </a:p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Used for normalization, then excluded from the model.</a:t>
            </a:r>
          </a:p>
        </p:txBody>
      </p:sp>
    </p:spTree>
    <p:extLst>
      <p:ext uri="{BB962C8B-B14F-4D97-AF65-F5344CB8AC3E}">
        <p14:creationId xmlns:p14="http://schemas.microsoft.com/office/powerpoint/2010/main" val="11794865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E70A33-9E5B-471C-A107-11F335211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Preparing counts for the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8601A4-507C-4B32-8325-78D0AB095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shared preprocessing; public specimen GSM6510425. Values rounded for display.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2817DD-2D72-4DC2-9CF1-6AEDBD292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09600" y="1743075"/>
          <a:ext xmlns:a="http://schemas.openxmlformats.org/drawingml/2006/main" cx="10972800" cy="31718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677150"/>
                <a:gridCol w="3295650"/>
              </a:tblGrid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For each of the 758 RNA counts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IFNG example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1. Start with the raw count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 Calculate log₂(count + 1)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2.322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3. Average log₂(count + 1) for the 12 reference RNAs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7.900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4. Subtract that reference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2.322 − 7.900 = −5.578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158690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B64EFB-D7CB-4C1C-8105-A69DF1692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Development and evaluation specimens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921378-8F81-45C5-AF83-6BCECD700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Zhang et al. (2024), Methods; saved project split, seed 20260915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668167-0F9C-48FC-B43C-A350B21BD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B39263-190D-43A6-9D4A-534152A79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3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 used the authors’ two study groups: discovery and validation cohorts.</a:t>
            </a:r>
          </a:p>
          <a:p xmlns:a="http://schemas.openxmlformats.org/drawingml/2006/main">
            <a:pPr marL="279400" indent="-152400" algn="l">
              <a:spcAft>
                <a:spcPts val="13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My training / screening split kept diagnosis proportions similar.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5E4670-9989-4D38-BA32-ECC0E1126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665797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>
                <a:solidFill>
                  <a:srgbClr val="16343E"/>
                </a:solidFill>
                <a:latin typeface="Arial"/>
                <a:ea typeface="Arial"/>
                <a:cs typeface="Arial"/>
              </a:rPr>
              <a:t>Discovery Cohort</a:t>
            </a:r>
          </a:p>
          <a:p xmlns:a="http://schemas.openxmlformats.org/drawingml/2006/main">
            <a:pPr algn="ctr">
              <a:defRPr sz="24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>
                <a:solidFill>
                  <a:srgbClr val="16343E"/>
                </a:solidFill>
                <a:latin typeface="Arial"/>
                <a:ea typeface="Arial"/>
                <a:cs typeface="Arial"/>
              </a:rPr>
              <a:t>1,050 specimens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5F124B-CF62-41AD-B116-AE87FFAF1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30099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Training: 787</a:t>
            </a:r>
          </a:p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Fit the models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499024-1C99-439A-B4B6-815A5172C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724400"/>
            <a:ext cx="31718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Screening: 263</a:t>
            </a:r>
          </a:p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Choose model and threshold</a:t>
            </a:r>
          </a:p>
        </p:txBody>
      </p:sp>
      <p:cxnSp>
        <p:nvCxnSpPr>
          <p:cNvPr id="18" name=""/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 flipH="1">
            <a:off x="2114550" y="4048125"/>
            <a:ext cx="1824038" cy="6762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cxnSp>
        <p:nvCxnSpPr>
          <p:cNvPr id="19" name=""/>
          <p:cNvCxnSpPr>
            <a:stCxn xmlns:a="http://schemas.openxmlformats.org/drawingml/2006/main" id="5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3938588" y="4048125"/>
            <a:ext cx="1743075" cy="6762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69DB85-AE16-4E4E-AA00-CB7E40D50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067050"/>
            <a:ext cx="377190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43E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Validation Cohort</a:t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345 specimens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Evaluate the selected</a:t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 and threshold</a:t>
            </a:r>
          </a:p>
        </p:txBody>
      </p:sp>
    </p:spTree>
    <p:extLst>
      <p:ext uri="{BB962C8B-B14F-4D97-AF65-F5344CB8AC3E}">
        <p14:creationId xmlns:p14="http://schemas.microsoft.com/office/powerpoint/2010/main" val="94002890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68FA2C-109C-47F4-9CD6-6E2820246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Models compared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BE6A94-DB81-4337-A21E-DA2A0845D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primary configuration and analysis; Zhang et al., Table S2; CatBoost documentation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6E94DA-7751-4EBF-8D09-FE46C0AF2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FA872B-10F4-4533-A9CB-69885B133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Each model produces a score for rejection versus no rejection.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2381250"/>
          <a:ext xmlns:a="http://schemas.openxmlformats.org/drawingml/2006/main" cx="10972800" cy="3695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71850"/>
                <a:gridCol w="7600950"/>
              </a:tblGrid>
              <a:tr h="4762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Approach and rationale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5715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Constant baseline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One score: the training rejection fraction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IFNG only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(Logistic regression)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One immune-related RNA measurement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as a simple benchmark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9144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All RNA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(Logistic Regression)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 weighted combination of 758 measurements.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Regularization limits the size of the weights.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Can capture nonlinear RNA patterns and interactions.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Shallow trees help limit overfitting.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733371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9D1339-B69F-47AD-9B8B-E164306A2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Selecting the model and threshold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CA2ABC-BAC1-4D39-A14A-F878B54E6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Reference: recorded biopsy diagnoses. Source: saved discovery screening results, 15 Sep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B9B459-1BB3-4BB9-90F3-A18C62843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64A9A8-9D23-41C1-9CA0-A8A28146B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5181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B5573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B5573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DA304F-5E34-4FCD-B021-6865DFE00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5181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Correctly flagged rejection cases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7590C4-F4EA-44F4-B546-DE2BFF0D1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00300"/>
            <a:ext cx="49530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16343E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65FFDE-2F2F-4B25-A08C-8D3622C31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86025"/>
            <a:ext cx="5181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All cases diagnosed as rejection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FE5F7B-3BB8-4E93-B2C4-3DAD49A11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81325"/>
            <a:ext cx="5181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B5573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B55730"/>
                </a:solidFill>
                <a:latin typeface="Arial"/>
                <a:ea typeface="Arial"/>
                <a:cs typeface="Arial"/>
              </a:rPr>
              <a:t>(False negatives are missed cases.)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E50C29-8DF7-475B-98BC-7733C219A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476375"/>
            <a:ext cx="4876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0837CC-1440-4C66-B50B-0184CC268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943100"/>
            <a:ext cx="4876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Correctly flagged rejection cases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34DBEE-F172-4903-94ED-6F2F356F1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400300"/>
            <a:ext cx="46482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16343E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584EB6-4B4F-4EEE-AC12-F5C06ECBD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86025"/>
            <a:ext cx="4876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All rejection flags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951C02-3FEF-43C0-B939-1056B496A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81325"/>
            <a:ext cx="4876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(False positives are incorrect flags.)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390391-0978-4050-A971-78EB3D96A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Screening rule: detect at least 90% of recorded rejection cases,</a:t>
            </a:r>
          </a:p>
          <a:p xmlns:a="http://schemas.openxmlformats.org/drawingml/2006/main">
            <a:pPr algn="l">
              <a:defRPr sz="21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then minimize false positives. ROC-AUC breaks ties.</a:t>
            </a:r>
          </a:p>
        </p:txBody>
      </p:sp>
      <p:graphicFrame>
        <p:nvGraphicFramePr>
          <p:cNvPr id="31" name=""/>
          <p:cNvGraphicFramePr/>
          <p:nvPr/>
        </p:nvGraphicFramePr>
        <p:xfrm>
          <a:off xmlns:a="http://schemas.openxmlformats.org/drawingml/2006/main" x="609600" y="4419600"/>
          <a:ext xmlns:a="http://schemas.openxmlformats.org/drawingml/2006/main" cx="10972800" cy="1200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762500"/>
                <a:gridCol w="3105150"/>
                <a:gridCol w="3105150"/>
              </a:tblGrid>
              <a:tr h="4000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Screening result</a:t>
                      </a:r>
                    </a:p>
                  </a:txBody>
                  <a:tcPr marL="171450" marR="142875" marT="28575" marB="285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28575" marB="285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All-RNA logistic</a:t>
                      </a:r>
                    </a:p>
                  </a:txBody>
                  <a:tcPr marL="171450" marR="142875" marT="28575" marB="28575" anchor="ctr">
                    <a:solidFill>
                      <a:srgbClr val="16343E"/>
                    </a:solidFill>
                  </a:tcPr>
                </a:tc>
              </a:tr>
              <a:tr h="4000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 detected</a:t>
                      </a:r>
                    </a:p>
                  </a:txBody>
                  <a:tcPr marL="171450" marR="1428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157 / 174</a:t>
                      </a:r>
                    </a:p>
                  </a:txBody>
                  <a:tcPr marL="171450" marR="1428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157 / 174</a:t>
                      </a:r>
                    </a:p>
                  </a:txBody>
                  <a:tcPr marL="171450" marR="142875" marT="28575" marB="28575"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False positives</a:t>
                      </a:r>
                    </a:p>
                  </a:txBody>
                  <a:tcPr marL="171450" marR="142875" marT="28575" marB="285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5 / 89</a:t>
                      </a:r>
                    </a:p>
                  </a:txBody>
                  <a:tcPr marL="171450" marR="142875" marT="28575" marB="285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6 / 89</a:t>
                      </a:r>
                    </a:p>
                  </a:txBody>
                  <a:tcPr marL="171450" marR="142875" marT="28575" marB="285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14F4E0-9141-499B-AC08-06E6F27AB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245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One fewer false positive selected CatBoost.</a:t>
            </a:r>
          </a:p>
          <a:p xmlns:a="http://schemas.openxmlformats.org/drawingml/2006/main">
            <a:pPr algn="l"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model and threshold then stayed fixed for evaluation.</a:t>
            </a:r>
          </a:p>
        </p:txBody>
      </p:sp>
    </p:spTree>
    <p:extLst>
      <p:ext uri="{BB962C8B-B14F-4D97-AF65-F5344CB8AC3E}">
        <p14:creationId xmlns:p14="http://schemas.microsoft.com/office/powerpoint/2010/main" val="45468670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080C2B-8A04-4027-96B8-797FCFB59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Validation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E75F5F-C2DA-4888-B22B-6B3BFAF2B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primary evaluation (15 Sep) and discovery-only stability follow-up (17 Sep 2026).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EB2580-B756-4FA7-BE4D-29250C3D2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756204-3158-4111-A824-A7B47F7A8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Same 345 specimens: 169 rejection and 176 no rejection</a:t>
            </a:r>
          </a:p>
        </p:txBody>
      </p:sp>
      <p:graphicFrame>
        <p:nvGraphicFramePr>
          <p:cNvPr id="12" name="Chart"/>
          <p:cNvGraphicFramePr/>
          <p:nvPr/>
        </p:nvGraphicFramePr>
        <p:xfrm>
          <a:off xmlns:a="http://schemas.openxmlformats.org/drawingml/2006/main" x="533400" y="1924050"/>
          <a:ext xmlns:a="http://schemas.openxmlformats.org/drawingml/2006/main" cx="11144250" cy="31146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3668eff1a674212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2B0F19-1D1B-4186-B4AF-D7E948DA1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1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Constant baseline: 0 false negatives, 176 false positives. It flags everyone.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8083B6-B332-47D2-8742-A87775734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Across 20 discovery splits: CatBoost selected 13 times, logistic 7.</a:t>
            </a:r>
          </a:p>
        </p:txBody>
      </p:sp>
    </p:spTree>
    <p:extLst>
      <p:ext uri="{BB962C8B-B14F-4D97-AF65-F5344CB8AC3E}">
        <p14:creationId xmlns:p14="http://schemas.microsoft.com/office/powerpoint/2010/main" val="8355572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4DC71E-E96E-4D84-85BC-96EF0D800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Inspecting the analysis report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5FAD24-480A-4734-8D45-96BABA6CF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saved primary analysis, 15 Sep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986F6E-4B0E-4C24-AD0B-7F3BE37F1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96B2C8-9668-42A6-8C30-F0E328563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811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Saved analysis for another analyst to inspect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FDF15D-A4FF-4D06-9869-73EFCA77A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109728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2500"/>
              </a:spcAft>
              <a:buChar char="•"/>
              <a:defRPr sz="26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Full model comparisons</a:t>
            </a:r>
          </a:p>
          <a:p xmlns:a="http://schemas.openxmlformats.org/drawingml/2006/main">
            <a:pPr marL="279400" indent="-152400" algn="l">
              <a:spcAft>
                <a:spcPts val="2500"/>
              </a:spcAft>
              <a:buChar char="•"/>
              <a:defRPr sz="26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Errors by recorded diagnosis</a:t>
            </a:r>
          </a:p>
          <a:p xmlns:a="http://schemas.openxmlformats.org/drawingml/2006/main">
            <a:pPr marL="279400" indent="-152400" algn="l">
              <a:spcAft>
                <a:spcPts val="2500"/>
              </a:spcAft>
              <a:buChar char="•"/>
              <a:defRPr sz="26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Score reliability and uncertainty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924DAC-5091-4A90-B96E-8753F8BAD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91150"/>
            <a:ext cx="10687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Live walkthrough of the preserved report</a:t>
            </a:r>
          </a:p>
        </p:txBody>
      </p:sp>
    </p:spTree>
    <p:extLst>
      <p:ext uri="{BB962C8B-B14F-4D97-AF65-F5344CB8AC3E}">
        <p14:creationId xmlns:p14="http://schemas.microsoft.com/office/powerpoint/2010/main" val="142531957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6CC142-AD39-4AE7-A828-D6A059CA7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One public specimen through the service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E2C48B-B66D-4CBD-B628-BE7B87429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public discovery-screen example and saved application checks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EAB9FD-5B38-45B5-93A9-1FDDC9565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C14225-1320-4D91-81AB-4B1B42858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GSM6510425: recorded no rejection.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2371725"/>
          <a:ext xmlns:a="http://schemas.openxmlformats.org/drawingml/2006/main" cx="10972800" cy="13144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95650"/>
                <a:gridCol w="3486150"/>
                <a:gridCol w="4191000"/>
              </a:tblGrid>
              <a:tr h="6572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 score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Selected threshold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Rejection flag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572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0.274934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0.876588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False (below cutoff)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E2CAFF-C2AF-46B1-BAC6-0F94F9DA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Model: 20260915_shared:any_rejection:catboost_all_depth4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433A9C-3127-46D9-AF2C-2454DD781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71975"/>
            <a:ext cx="10972800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800"/>
              </a:spcAft>
              <a:buChar char="•"/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complete input produces a flag that agrees with the recorded diagnosis.</a:t>
            </a:r>
          </a:p>
          <a:p xmlns:a="http://schemas.openxmlformats.org/drawingml/2006/main">
            <a:pPr marL="279400" indent="-152400" algn="l">
              <a:spcAft>
                <a:spcPts val="1800"/>
              </a:spcAft>
              <a:buChar char="•"/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Removing IFNG clears the previous result and returns no new score.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51337F-57DB-488F-97AB-0FDB3EA81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38800"/>
            <a:ext cx="10687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“Missing required assay targets: IFNG”</a:t>
            </a:r>
          </a:p>
        </p:txBody>
      </p:sp>
    </p:spTree>
    <p:extLst>
      <p:ext uri="{BB962C8B-B14F-4D97-AF65-F5344CB8AC3E}">
        <p14:creationId xmlns:p14="http://schemas.microsoft.com/office/powerpoint/2010/main" val="160256668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9C52EB-3140-4C54-B274-1B59CEFE0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Shared preparation and scoring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D5E256-0ADF-4923-B1C6-8A080D05A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prediction.py, Predictor.predict; shared preprocessing; training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A10CC2-790B-4B5C-A652-60021A23B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7E0CB4-3726-4A7E-B9E6-1A2AADDE7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335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analysis and application use the same preparation code.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9F5D60-F27D-400D-A552-3F0B20B49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3143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Raw RNA counts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9103CC-1621-4A5A-ADE3-9C391C5AB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400300"/>
            <a:ext cx="31813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Check and normalize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117799-7568-4DF1-BFBB-81434B55D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00300"/>
            <a:ext cx="3143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6343E"/>
                </a:solidFill>
                <a:latin typeface="Arial"/>
                <a:ea typeface="Arial"/>
                <a:cs typeface="Arial"/>
              </a:rPr>
              <a:t>Saved model and threshold</a:t>
            </a:r>
          </a:p>
        </p:txBody>
      </p:sp>
      <p:cxnSp>
        <p:nvCxnSpPr>
          <p:cNvPr id="20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752850" y="2771775"/>
            <a:ext cx="7524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cxnSp>
        <p:nvCxnSpPr>
          <p:cNvPr id="21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7686675" y="2771775"/>
            <a:ext cx="7524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E8B592-AC7A-460A-8AB8-074C6180A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Application entry point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237106-9B1A-4F63-B5BB-527D15108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728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43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6343E"/>
                </a:solidFill>
                <a:latin typeface="Consolas"/>
                <a:ea typeface="Consolas"/>
                <a:cs typeface="Consolas"/>
              </a:rPr>
              <a:t>def predict(self, counts: pd.DataFrame) -&gt; pd.DataFrame:</a:t>
            </a:r>
          </a:p>
          <a:p xmlns:a="http://schemas.openxmlformats.org/drawingml/2006/main">
            <a:pPr algn="l">
              <a:defRPr sz="1800" b="0">
                <a:solidFill>
                  <a:srgbClr val="16343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6343E"/>
                </a:solidFill>
                <a:latin typeface="Consolas"/>
                <a:ea typeface="Consolas"/>
                <a:cs typeface="Consolas"/>
              </a:rPr>
              <a:t>    """Validate an entire raw batch before returning any specimen results."""</a:t>
            </a:r>
          </a:p>
          <a:p xmlns:a="http://schemas.openxmlformats.org/drawingml/2006/main">
            <a:pPr algn="l">
              <a:defRPr sz="1800" b="0">
                <a:solidFill>
                  <a:srgbClr val="16343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6343E"/>
                </a:solidFill>
                <a:latin typeface="Consolas"/>
                <a:ea typeface="Consolas"/>
                <a:cs typeface="Consolas"/>
              </a:rPr>
              <a:t>    normalized = normalize_counts(counts, self.schema)</a:t>
            </a:r>
          </a:p>
          <a:p xmlns:a="http://schemas.openxmlformats.org/drawingml/2006/main">
            <a:pPr algn="l">
              <a:defRPr sz="1800" b="0">
                <a:solidFill>
                  <a:srgbClr val="16343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6343E"/>
                </a:solidFill>
                <a:latin typeface="Consolas"/>
                <a:ea typeface="Consolas"/>
                <a:cs typeface="Consolas"/>
              </a:rPr>
              <a:t>    return self.predict_normalized(normalized)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67BF1F-E4CF-496C-B404-41C3C6E3D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web page and command line both use this prediction path.</a:t>
            </a:r>
          </a:p>
        </p:txBody>
      </p:sp>
    </p:spTree>
    <p:extLst>
      <p:ext uri="{BB962C8B-B14F-4D97-AF65-F5344CB8AC3E}">
        <p14:creationId xmlns:p14="http://schemas.microsoft.com/office/powerpoint/2010/main" val="214735204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71348B-5634-4B92-86BE-ECC0051FC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An interface other software can call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8C73CF-4C8F-43DD-835A-EEC0AC7C1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implemented POST /predict contract and public demonstration response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D25B97-C615-42DA-AFA2-8112A1F7B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304A59-9880-4B55-AD64-51ED67817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33525"/>
            <a:ext cx="109728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API: a documented way for software to send data and receive results.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867F57-793E-469F-BA13-28BC4539E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4171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CSV</a:t>
            </a:r>
          </a:p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Specimen ID + 770 counts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E76F25-CA7F-47B9-B0E1-FD30A42AD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638425"/>
            <a:ext cx="25908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POST /predict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407F16-F1AE-48B6-B79E-812121A83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524125"/>
            <a:ext cx="2381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6343E"/>
                </a:solidFill>
                <a:latin typeface="Arial"/>
                <a:ea typeface="Arial"/>
                <a:cs typeface="Arial"/>
              </a:rPr>
              <a:t>JSON</a:t>
            </a:r>
          </a:p>
          <a:p xmlns:a="http://schemas.openxmlformats.org/drawingml/2006/main">
            <a:pPr algn="ctr">
              <a:defRPr sz="20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6343E"/>
                </a:solidFill>
                <a:latin typeface="Arial"/>
                <a:ea typeface="Arial"/>
                <a:cs typeface="Arial"/>
              </a:rPr>
              <a:t>Prediction results</a:t>
            </a:r>
          </a:p>
        </p:txBody>
      </p:sp>
      <p:cxnSp>
        <p:nvCxnSpPr>
          <p:cNvPr id="20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4781550" y="3057525"/>
            <a:ext cx="9144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cxnSp>
        <p:nvCxnSpPr>
          <p:cNvPr id="21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8286750" y="3057525"/>
            <a:ext cx="9144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ACADC1-727B-4BED-9813-2AB09DA64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Each result identifies the calculation</a:t>
            </a:r>
          </a:p>
        </p:txBody>
      </p:sp>
      <p:graphicFrame>
        <p:nvGraphicFramePr>
          <p:cNvPr id="23" name=""/>
          <p:cNvGraphicFramePr/>
          <p:nvPr/>
        </p:nvGraphicFramePr>
        <p:xfrm>
          <a:off xmlns:a="http://schemas.openxmlformats.org/drawingml/2006/main" x="609600" y="4638675"/>
          <a:ext xmlns:a="http://schemas.openxmlformats.org/drawingml/2006/main" cx="10972800" cy="10572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543300"/>
                <a:gridCol w="2381250"/>
                <a:gridCol w="2667000"/>
                <a:gridCol w="2381250"/>
              </a:tblGrid>
              <a:tr h="5238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Specimen</a:t>
                      </a:r>
                    </a:p>
                  </a:txBody>
                  <a:tcPr marL="171450" marR="142875" marT="66675" marB="666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Score</a:t>
                      </a:r>
                    </a:p>
                  </a:txBody>
                  <a:tcPr marL="171450" marR="142875" marT="66675" marB="666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Threshold</a:t>
                      </a:r>
                    </a:p>
                  </a:txBody>
                  <a:tcPr marL="171450" marR="142875" marT="66675" marB="666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Flag</a:t>
                      </a:r>
                    </a:p>
                  </a:txBody>
                  <a:tcPr marL="171450" marR="142875" marT="66675" marB="66675" anchor="ctr">
                    <a:solidFill>
                      <a:srgbClr val="16343E"/>
                    </a:solidFill>
                  </a:tcPr>
                </a:tc>
              </a:tr>
              <a:tr h="5334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GSM6510425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0.274934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0.876588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False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CDC01B-913E-4010-B155-CC7A1166D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972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Each result includes versions for the model and expected input format.</a:t>
            </a:r>
          </a:p>
        </p:txBody>
      </p:sp>
    </p:spTree>
    <p:extLst>
      <p:ext uri="{BB962C8B-B14F-4D97-AF65-F5344CB8AC3E}">
        <p14:creationId xmlns:p14="http://schemas.microsoft.com/office/powerpoint/2010/main" val="138614802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86CB63-137E-4EFA-9B50-3C3482B5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Checking the application against the analysis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AE715A-824C-40E1-B2B1-37885B5BC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real HTTP verification and application tests, 17 Sep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1FC795-E85D-476F-91F9-AB493D6C9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8B375B-FDFC-4991-A80C-8AD6D12A2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All 345 validation specimens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5EF708-88CD-493E-8B46-9F31BE48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Saved results, command line and HTTP service had matching flags.</a:t>
            </a:r>
          </a:p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Scores agreed within 10⁻¹², including reordered measurement columns.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B7770F-5F80-4E99-9A49-9D6C3B260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Example check: HTTP scores versus command-line scores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E59603-A2E9-40E1-AAF9-6D23D4ED2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109728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43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6343E"/>
                </a:solidFill>
                <a:latin typeface="Consolas"/>
                <a:ea typeface="Consolas"/>
                <a:cs typeface="Consolas"/>
              </a:rPr>
              <a:t>np.testing.assert_allclose(</a:t>
            </a:r>
          </a:p>
          <a:p xmlns:a="http://schemas.openxmlformats.org/drawingml/2006/main">
            <a:pPr algn="l">
              <a:defRPr sz="1800" b="0">
                <a:solidFill>
                  <a:srgbClr val="16343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6343E"/>
                </a:solidFill>
                <a:latin typeface="Consolas"/>
                <a:ea typeface="Consolas"/>
                <a:cs typeface="Consolas"/>
              </a:rPr>
              <a:t>    actual.rejection_score, cli.rejection_score, rtol=0, atol=1e-12</a:t>
            </a:r>
          </a:p>
          <a:p xmlns:a="http://schemas.openxmlformats.org/drawingml/2006/main">
            <a:pPr algn="l">
              <a:defRPr sz="1800" b="0">
                <a:solidFill>
                  <a:srgbClr val="16343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6343E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609600" y="4495800"/>
          <a:ext xmlns:a="http://schemas.openxmlformats.org/drawingml/2006/main" cx="10972800" cy="15335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000750"/>
                <a:gridCol w="4972050"/>
              </a:tblGrid>
              <a:tr h="4857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Failure checked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Expected response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</a:tr>
              <a:tr h="5238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Missing or duplicate measurements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scores for the batch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Incompatible model metadata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Model does not load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538981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41C514-487B-4A04-ABCE-1CADEB9DD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Running and maintaining the application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1C99D8-9C27-4F97-AA8F-09620EB4C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setup guide, automated-check workflow and dated verification records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26D56C-CC83-4D2D-A986-7B0F0A3AA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1743075"/>
          <a:ext xmlns:a="http://schemas.openxmlformats.org/drawingml/2006/main" cx="10972800" cy="3124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591175"/>
                <a:gridCol w="5381625"/>
              </a:tblGrid>
              <a:tr h="5524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What another developer receives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Why it helps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</a:tr>
              <a:tr h="8572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Locked environment and run instructions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Install the recorded dependencies and start the service.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Automated checks on code changes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Catch changes that break scoring or input handling.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</a:tr>
              <a:tr h="8572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Tested local container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Run the packaged application with its saved model.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32D742-77B0-42B4-B099-5458AE371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Hosted checks passed for an earlier revision.</a:t>
            </a:r>
          </a:p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current application and research container were checked locally.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5DB40E-667F-4CC6-9E7A-A886D34EA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Cloud deployment remains future work.</a:t>
            </a:r>
          </a:p>
        </p:txBody>
      </p:sp>
    </p:spTree>
    <p:extLst>
      <p:ext uri="{BB962C8B-B14F-4D97-AF65-F5344CB8AC3E}">
        <p14:creationId xmlns:p14="http://schemas.microsoft.com/office/powerpoint/2010/main" val="153038893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1634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4FBCEF-E665-4ECA-9458-841AF728D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this project accomplished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2F6380-427E-4161-9DFD-B504FC098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6E8E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6E8E5"/>
                </a:solidFill>
                <a:latin typeface="Arial"/>
                <a:ea typeface="Arial"/>
                <a:cs typeface="Arial"/>
              </a:rPr>
              <a:t>Public data: Zhang et al. (2024), GSE212160. Development and presentation used AI assistance.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D0262E-37D4-4FD2-A5B4-B556AFAFC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D6E8E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6E8E5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16095D-7070-45DD-9E60-1DD4D68C5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Evidence for the classifier choice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3F9C68-93E0-428A-A64F-B9A294A81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71725"/>
            <a:ext cx="109728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CatBoost missed 8 fewer rejection cases than logistic, with 8 false flags each.</a:t>
            </a:r>
          </a:p>
          <a:p xmlns:a="http://schemas.openxmlformats.org/drawingml/2006/main">
            <a:pPr algn="l"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 dependable advantage remains uncertain.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07A37B-B033-46B3-9909-D8D1E8DBF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78949B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9691A3-64E7-4C9C-A867-DC424B46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71925"/>
            <a:ext cx="10972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Working software that preserves the calculation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BFC880-BE2F-4D97-AD7A-A79C557E6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57725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 versioned score, clear input errors and checks against the saved results.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7465D6-6FED-4DED-B2BB-3C4D5CFA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Next: cross-validation within discovery.</a:t>
            </a:r>
          </a:p>
          <a:p xmlns:a="http://schemas.openxmlformats.org/drawingml/2006/main">
            <a:pPr algn="l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Added diagnostic value of this particular score needs direct evaluation.</a:t>
            </a:r>
          </a:p>
        </p:txBody>
      </p:sp>
    </p:spTree>
    <p:extLst>
      <p:ext uri="{BB962C8B-B14F-4D97-AF65-F5344CB8AC3E}">
        <p14:creationId xmlns:p14="http://schemas.microsoft.com/office/powerpoint/2010/main" val="108633212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2026-09-21T23:42:33.4990000Z</dcterms:created>
  <dcterms:modified xsi:type="dcterms:W3CDTF">2026-09-21T23:42:33.4990000Z</dcterms:modified>
</coreProperties>
</file>