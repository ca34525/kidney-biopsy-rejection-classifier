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1a2243ddc879491d" /><Relationship Type="http://schemas.openxmlformats.org/officeDocument/2006/relationships/extended-properties" Target="/docProps/app.xml" Id="R065d80dc9df944be" /><Relationship Type="http://schemas.openxmlformats.org/officeDocument/2006/relationships/officeDocument" Target="/ppt/presentation.xml" Id="R13e7c79fd6c54d97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79b1857ba8b54701"/>
  </p:sldMasterIdLst>
  <p:sldIdLst>
    <p:sldId id="256" r:id="R6e150255ea9446cd"/>
    <p:sldId id="257" r:id="R91fe1622788e4f52"/>
    <p:sldId id="258" r:id="R2e65ac80c81544e7"/>
    <p:sldId id="259" r:id="Reab34073801c47bc"/>
    <p:sldId id="260" r:id="R1f7d336460aa4706"/>
    <p:sldId id="261" r:id="R8644af8355164929"/>
    <p:sldId id="262" r:id="Rae5dab9331454a4f"/>
    <p:sldId id="263" r:id="R697767e9519e4312"/>
    <p:sldId id="264" r:id="R9e8b8e93b6c546c5"/>
    <p:sldId id="265" r:id="R7558118145e44833"/>
    <p:sldId id="266" r:id="R343e78ecb4af482e"/>
    <p:sldId id="267" r:id="Rca486babc5de4cee"/>
    <p:sldId id="268" r:id="R55f0feb2f27d4d27"/>
    <p:sldId id="269" r:id="R979567abb1234642"/>
    <p:sldId id="270" r:id="Rbb2829deaaaf457a"/>
    <p:sldId id="271" r:id="Ra1bc5f73a55c49c3"/>
    <p:sldId id="272" r:id="R9f3946ad003f4110"/>
    <p:sldId id="273" r:id="R42438464b4a741da"/>
    <p:sldId id="274" r:id="R66467b3406b449ba"/>
    <p:sldId id="275" r:id="Ra3dab188ae434e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f7d8841a8aa4931" /><Relationship Type="http://schemas.openxmlformats.org/officeDocument/2006/relationships/slideMaster" Target="/ppt/slideMasters/slideMaster1.xml" Id="R79b1857ba8b54701" /><Relationship Type="http://schemas.openxmlformats.org/officeDocument/2006/relationships/presProps" Target="/ppt/presProps.xml" Id="R23f092627ad14198" /><Relationship Type="http://schemas.openxmlformats.org/officeDocument/2006/relationships/tableStyles" Target="/ppt/tableStyles.xml" Id="Rc0b546ae59124d76" /><Relationship Type="http://schemas.openxmlformats.org/officeDocument/2006/relationships/slide" Target="/ppt/slides/slide1.xml" Id="R6e150255ea9446cd" /><Relationship Type="http://schemas.openxmlformats.org/officeDocument/2006/relationships/slide" Target="/ppt/slides/slide2.xml" Id="R91fe1622788e4f52" /><Relationship Type="http://schemas.openxmlformats.org/officeDocument/2006/relationships/slide" Target="/ppt/slides/slide3.xml" Id="R2e65ac80c81544e7" /><Relationship Type="http://schemas.openxmlformats.org/officeDocument/2006/relationships/slide" Target="/ppt/slides/slide4.xml" Id="Reab34073801c47bc" /><Relationship Type="http://schemas.openxmlformats.org/officeDocument/2006/relationships/slide" Target="/ppt/slides/slide5.xml" Id="R1f7d336460aa4706" /><Relationship Type="http://schemas.openxmlformats.org/officeDocument/2006/relationships/slide" Target="/ppt/slides/slide6.xml" Id="R8644af8355164929" /><Relationship Type="http://schemas.openxmlformats.org/officeDocument/2006/relationships/slide" Target="/ppt/slides/slide7.xml" Id="Rae5dab9331454a4f" /><Relationship Type="http://schemas.openxmlformats.org/officeDocument/2006/relationships/slide" Target="/ppt/slides/slide8.xml" Id="R697767e9519e4312" /><Relationship Type="http://schemas.openxmlformats.org/officeDocument/2006/relationships/slide" Target="/ppt/slides/slide9.xml" Id="R9e8b8e93b6c546c5" /><Relationship Type="http://schemas.openxmlformats.org/officeDocument/2006/relationships/slide" Target="/ppt/slides/slide10.xml" Id="R7558118145e44833" /><Relationship Type="http://schemas.openxmlformats.org/officeDocument/2006/relationships/slide" Target="/ppt/slides/slide11.xml" Id="R343e78ecb4af482e" /><Relationship Type="http://schemas.openxmlformats.org/officeDocument/2006/relationships/slide" Target="/ppt/slides/slide12.xml" Id="Rca486babc5de4cee" /><Relationship Type="http://schemas.openxmlformats.org/officeDocument/2006/relationships/slide" Target="/ppt/slides/slide13.xml" Id="R55f0feb2f27d4d27" /><Relationship Type="http://schemas.openxmlformats.org/officeDocument/2006/relationships/slide" Target="/ppt/slides/slide14.xml" Id="R979567abb1234642" /><Relationship Type="http://schemas.openxmlformats.org/officeDocument/2006/relationships/slide" Target="/ppt/slides/slide15.xml" Id="Rbb2829deaaaf457a" /><Relationship Type="http://schemas.openxmlformats.org/officeDocument/2006/relationships/slide" Target="/ppt/slides/slide16.xml" Id="Ra1bc5f73a55c49c3" /><Relationship Type="http://schemas.openxmlformats.org/officeDocument/2006/relationships/slide" Target="/ppt/slides/slide17.xml" Id="R9f3946ad003f4110" /><Relationship Type="http://schemas.openxmlformats.org/officeDocument/2006/relationships/slide" Target="/ppt/slides/slide18.xml" Id="R42438464b4a741da" /><Relationship Type="http://schemas.openxmlformats.org/officeDocument/2006/relationships/slide" Target="/ppt/slides/slide19.xml" Id="R66467b3406b449ba" /><Relationship Type="http://schemas.openxmlformats.org/officeDocument/2006/relationships/slide" Target="/ppt/slides/slide20.xml" Id="Ra3dab188ae434e67" 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3a1b14403a3c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1b7cc0dd04d14530" /><Relationship Type="http://schemas.openxmlformats.org/officeDocument/2006/relationships/slideLayout" Target="/ppt/slideLayouts/slideLayout1.xml" Id="R11789c41679a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789c41679a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854735c3a214ef8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8487fdf298b44d0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3968253abc44089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9b158be0a4f492c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94f24e4a1e04dbf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270ddc275a04c61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0ec77148c404cea" /><Relationship Type="http://schemas.openxmlformats.org/officeDocument/2006/relationships/chart" Target="/ppt/slides/charts/chart1.xml" Id="Red35e7aebff44cff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5c8610082aa4f1d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8143fa529324ad2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a4fd16808e841fb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ea527eaae5f405a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22e2b6f2e7b4e06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cab4fb82625478b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523cf501d954d1d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ffd8c4d5798491d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1d5ba8c0d5c4917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95fe937a8fd4ca1" /><Relationship Type="http://schemas.openxmlformats.org/officeDocument/2006/relationships/chart" Target="/ppt/slides/charts/chart2.xml" Id="R0cb73a616f584ec6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2910b20f6c24140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d588cbf2bbe405a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38053a2b33043e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Missed rejection / 169</c:v>
          </c:tx>
          <c:spPr>
            <a:solidFill xmlns:a="http://schemas.openxmlformats.org/drawingml/2006/main">
              <a:srgbClr val="B55730"/>
            </a:solidFill>
          </c:spPr>
          <c:cat>
            <c:strRef>
              <c:f>'Chart Data'!$A$2:$A$4</c:f>
              <c:strCache>
                <c:ptCount val="3"/>
                <c:pt idx="0">
                  <c:v>IFNG only</c:v>
                </c:pt>
                <c:pt idx="1">
                  <c:v>Logistic regression</c:v>
                </c:pt>
                <c:pt idx="2">
                  <c:v>CatBoost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14</c:v>
                </c:pt>
                <c:pt idx="1">
                  <c:v>33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v>False flags / 176</c:v>
          </c:tx>
          <c:spPr>
            <a:solidFill xmlns:a="http://schemas.openxmlformats.org/drawingml/2006/main">
              <a:srgbClr val="007C78"/>
            </a:solidFill>
          </c:spPr>
          <c:cat>
            <c:strRef>
              <c:f>'Chart Data'!$C$2:$C$4</c:f>
              <c:strCache>
                <c:ptCount val="3"/>
                <c:pt idx="0">
                  <c:v>IFNG only</c:v>
                </c:pt>
                <c:pt idx="1">
                  <c:v>Logistic regression</c:v>
                </c:pt>
                <c:pt idx="2">
                  <c:v>CatBoost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75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6343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CEDBD7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7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43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8F5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Agreement</c:v>
          </c:tx>
          <c:spPr>
            <a:ln xmlns:a="http://schemas.openxmlformats.org/drawingml/2006/main" w="13335">
              <a:solidFill>
                <a:srgbClr val="52656B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Observed bins</c:v>
          </c:tx>
          <c:spPr>
            <a:solidFill xmlns:a="http://schemas.openxmlformats.org/drawingml/2006/main">
              <a:srgbClr val="007C78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noFill xmlns:a="http://schemas.openxmlformats.org/drawingml/2006/main"/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0.02236</c:v>
                </c:pt>
                <c:pt idx="1">
                  <c:v>0.150831</c:v>
                </c:pt>
                <c:pt idx="2">
                  <c:v>0.256868</c:v>
                </c:pt>
                <c:pt idx="3">
                  <c:v>0.33529</c:v>
                </c:pt>
                <c:pt idx="4">
                  <c:v>0.462784</c:v>
                </c:pt>
                <c:pt idx="5">
                  <c:v>0.535663</c:v>
                </c:pt>
                <c:pt idx="6">
                  <c:v>0.66592</c:v>
                </c:pt>
                <c:pt idx="7">
                  <c:v>0.764537</c:v>
                </c:pt>
                <c:pt idx="8">
                  <c:v>0.847196</c:v>
                </c:pt>
                <c:pt idx="9">
                  <c:v>0.983569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0.02963</c:v>
                </c:pt>
                <c:pt idx="1">
                  <c:v>0.25</c:v>
                </c:pt>
                <c:pt idx="2">
                  <c:v>0.333333</c:v>
                </c:pt>
                <c:pt idx="3">
                  <c:v>0.222222</c:v>
                </c:pt>
                <c:pt idx="4">
                  <c:v>0.5</c:v>
                </c:pt>
                <c:pt idx="5">
                  <c:v>0.5</c:v>
                </c:pt>
                <c:pt idx="6">
                  <c:v>0.375</c:v>
                </c:pt>
                <c:pt idx="7">
                  <c:v>0.5</c:v>
                </c:pt>
                <c:pt idx="8">
                  <c:v>0.4375</c:v>
                </c:pt>
                <c:pt idx="9">
                  <c:v>0.959459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BD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6343E"/>
                    </a:solidFill>
                    <a:latin typeface="Arial"/>
                    <a:ea typeface="Arial"/>
                    <a:cs typeface="Arial"/>
                  </a:rPr>
                  <a:t>Recorded rejection fraction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6343E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6343E"/>
                    </a:solidFill>
                    <a:latin typeface="Arial"/>
                    <a:ea typeface="Arial"/>
                    <a:cs typeface="Arial"/>
                  </a:rPr>
                  <a:t>Mean model score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6343E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7F8F5"/>
        </a:solidFill>
      </c:spPr>
    </c:plotArea>
    <c:plotVisOnly val="1"/>
  </c:chart>
  <c:spPr>
    <a:solidFill xmlns:a="http://schemas.openxmlformats.org/drawingml/2006/main">
      <a:srgbClr val="F7F8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23695-68FF-43A1-AC50-70668D21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E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6E8E5"/>
                </a:solidFill>
                <a:latin typeface="Arial"/>
                <a:ea typeface="Arial"/>
                <a:cs typeface="Arial"/>
              </a:rPr>
              <a:t>Independent research project for the UNOS Associate Data Scientist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D8EFD-287A-4EE8-BB7B-E0EDD59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6E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E8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9F053-E35C-4AEA-8678-89DD1247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Classifying rejection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kidney biopsy 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2548-4E96-4EE5-88EF-084179B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CDE6D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CDE6DF"/>
                </a:solidFill>
                <a:latin typeface="Arial"/>
                <a:ea typeface="Arial"/>
                <a:cs typeface="Arial"/>
              </a:rPr>
              <a:t>Can molecular measurements classify</a:t>
            </a:r>
          </a:p>
          <a:p xmlns:a="http://schemas.openxmlformats.org/drawingml/2006/main">
            <a:pPr algn="l">
              <a:defRPr sz="2925" b="0">
                <a:solidFill>
                  <a:srgbClr val="CDE6D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CDE6DF"/>
                </a:solidFill>
                <a:latin typeface="Arial"/>
                <a:ea typeface="Arial"/>
                <a:cs typeface="Arial"/>
              </a:rPr>
              <a:t>the recorded biopsy diagnosis?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E53DC-C37C-457A-AB12-956596E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missed rejection cases and 8 false flags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5B4E9-7091-46B4-BC46-6F5008BE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DE6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DE6DF"/>
                </a:solidFill>
                <a:latin typeface="Arial"/>
                <a:ea typeface="Arial"/>
                <a:cs typeface="Arial"/>
              </a:rPr>
              <a:t>CatBoost on 345 author technical-validation specimens</a:t>
            </a:r>
          </a:p>
        </p:txBody>
      </p:sp>
    </p:spTree>
    <p:extLst>
      <p:ext uri="{BB962C8B-B14F-4D97-AF65-F5344CB8AC3E}">
        <p14:creationId xmlns:p14="http://schemas.microsoft.com/office/powerpoint/2010/main" val="522959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F3383-7FD2-4A53-B979-A46A6F24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Kidney biopsy and transplant rejection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DC444-7357-4FA8-8993-94B7349D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Sources: NIDDK, Kidney Transplant and Kidney Biopsy; Zhang et al., 2024. Full links in the HTML script.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F0443-037E-4510-ABB8-9346306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2BBA3-C877-484E-A2E3-16622BB2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Rejection: the recipient’s immune system attacks the donated kidney.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E30B9-6A22-4928-9034-832F373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124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6343E"/>
                </a:solidFill>
                <a:latin typeface="Arial"/>
                <a:ea typeface="Arial"/>
                <a:cs typeface="Arial"/>
              </a:rPr>
              <a:t>Biopsy tissue</a:t>
            </a:r>
          </a:p>
          <a:p xmlns:a="http://schemas.openxmlformats.org/drawingml/2006/main">
            <a:pPr algn="ctr">
              <a:defRPr sz="255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6343E"/>
                </a:solidFill>
                <a:latin typeface="Arial"/>
                <a:ea typeface="Arial"/>
                <a:cs typeface="Arial"/>
              </a:rPr>
              <a:t>A small tissue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B2959-9053-4685-85EA-3C256013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24125"/>
            <a:ext cx="61912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16343E"/>
                </a:solidFill>
                <a:latin typeface="Arial"/>
                <a:ea typeface="Arial"/>
                <a:cs typeface="Arial"/>
              </a:rPr>
              <a:t>Microscopic examination</a:t>
            </a:r>
          </a:p>
          <a:p xmlns:a="http://schemas.openxmlformats.org/drawingml/2006/main">
            <a:pPr algn="ctr">
              <a:defRPr sz="2475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16343E"/>
                </a:solidFill>
                <a:latin typeface="Arial"/>
                <a:ea typeface="Arial"/>
                <a:cs typeface="Arial"/>
              </a:rPr>
              <a:t>Recorded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34F06-B835-4444-8B8B-5CB6D115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67200"/>
            <a:ext cx="61912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16343E"/>
                </a:solidFill>
                <a:latin typeface="Arial"/>
                <a:ea typeface="Arial"/>
                <a:cs typeface="Arial"/>
              </a:rPr>
              <a:t>RNA measurements</a:t>
            </a:r>
          </a:p>
          <a:p xmlns:a="http://schemas.openxmlformats.org/drawingml/2006/main">
            <a:pPr algn="ctr">
              <a:defRPr sz="2475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16343E"/>
                </a:solidFill>
                <a:latin typeface="Arial"/>
                <a:ea typeface="Arial"/>
                <a:cs typeface="Arial"/>
              </a:rPr>
              <a:t>Inputs to this model</a:t>
            </a:r>
          </a:p>
        </p:txBody>
      </p:sp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733800" y="3109913"/>
            <a:ext cx="1323975" cy="633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33800" y="3743325"/>
            <a:ext cx="1323975" cy="11096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30999-3377-41C5-935A-B840F90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The prediction concerns this existing specimen.</a:t>
            </a:r>
          </a:p>
        </p:txBody>
      </p:sp>
    </p:spTree>
    <p:extLst>
      <p:ext uri="{BB962C8B-B14F-4D97-AF65-F5344CB8AC3E}">
        <p14:creationId xmlns:p14="http://schemas.microsoft.com/office/powerpoint/2010/main" val="1216110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D25EA-3F8F-40ED-A8E9-84E98ED6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An assay measures specified molecules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0522B-4AF3-4ED6-8792-29AEBF1E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Sources: GSE212160; Bruker nCounter technology documentation. This project uses the deposited raw RNA counts.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8FEA6-E0C1-4CC9-BD73-C8C21A32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EC05A-2C3A-469B-A563-FEDC66B5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763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RNA is made as genes are expressed.</a:t>
            </a:r>
          </a:p>
          <a:p xmlns:a="http://schemas.openxmlformats.org/drawingml/2006/main">
            <a:pPr algn="l">
              <a:defRPr sz="27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The assay counts signals for selected RNA targets.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C3419-6D15-4590-8374-8B3E43AE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85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RNA from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biopsy tissue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9EA0-49C4-4891-ADC3-7830FBDE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38475"/>
            <a:ext cx="285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Target-specific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barcoded probes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8BA6C-0EFD-4BAD-B6B2-3EB3188C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38475"/>
            <a:ext cx="285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Digital counts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for each target</a:t>
            </a:r>
          </a:p>
        </p:txBody>
      </p: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67100" y="362902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34275" y="3629025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F8B73-8706-44AA-BCD6-862C23F6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5334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770 measured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722A6-59C2-47AB-9948-1059CC71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758 model inputs + 12 housekeeping targets</a:t>
            </a:r>
          </a:p>
        </p:txBody>
      </p:sp>
    </p:spTree>
    <p:extLst>
      <p:ext uri="{BB962C8B-B14F-4D97-AF65-F5344CB8AC3E}">
        <p14:creationId xmlns:p14="http://schemas.microsoft.com/office/powerpoint/2010/main" val="279075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8D50A-2FBB-4C1B-B1D7-E83EA67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One row describes one biopsy specimen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8F5F1-5A73-4BAF-BE37-B5250627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project data audit and diagnosis mapping. “No rejection” does not mean an otherwise healthy biopsy.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59352-E340-4FAE-B590-320CDFF6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A4E32-BF0D-4412-AC51-6345E394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1,395 archived kidney transplant biopsies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62950"/>
                <a:gridCol w="260985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diagnosis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Binary label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No rejection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Antibody-mediated rejection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T-cell-mediated rejection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Mixed rejection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58053-EEF7-4636-A1A2-E28119A7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Inputs: assay counts     Reference label: recorded diagnosis</a:t>
            </a:r>
          </a:p>
        </p:txBody>
      </p:sp>
    </p:spTree>
    <p:extLst>
      <p:ext uri="{BB962C8B-B14F-4D97-AF65-F5344CB8AC3E}">
        <p14:creationId xmlns:p14="http://schemas.microsoft.com/office/powerpoint/2010/main" val="1412362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EEE94-31F3-4AFC-8A8B-C168D32A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Normalization uses each specimen’s reference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7AD33-CC3F-4F00-AC34-6AFE1F3E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shared preprocessing and public specimen GSM6510425. Rounded values shown; computation uses full precision.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AF5C4-5581-4365-9BA4-E72C25C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BCF62-D210-43FA-BADA-5DA61DA4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Housekeeping targets provide a within-specimen reference.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466975"/>
          <a:ext xmlns:a="http://schemas.openxmlformats.org/drawingml/2006/main" cx="10972800" cy="2790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486775"/>
                <a:gridCol w="2486025"/>
              </a:tblGrid>
              <a:tr h="5581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IFNG in this specimen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5581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Raw count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5581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log₂(count + 1)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2.322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  <a:tr h="5581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Mean of 12 housekeeping log counts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7.900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55816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Normalized input: 2.322 − 7.900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−5.578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CB505-15C5-4F4D-AF28-588CB865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Apply to all 758 inputs. Fit later learned steps on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462555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A426B-368A-48E2-AAE0-D59D57D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Model choice and thresholds use discovery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AA508-9AD4-4DE2-AE56-BA0621CA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saved split, seed 20260915. Cohorts follow the authors; patient and center independence are unverified.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1A81D-3A5B-4AC2-8C6A-6816A9ED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29619-A879-4051-BF10-A7DA1328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381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Discovery cohort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1,050 specimens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72886-71A2-4A03-A80B-B917DBB8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Training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787 specimens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0B721-24EB-4013-9C5B-905CE620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48025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Screening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263 specimens</a:t>
            </a:r>
          </a:p>
        </p:txBody>
      </p:sp>
      <p:cxnSp>
        <p:nvCxnSpPr>
          <p:cNvPr id="18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066925" y="2581275"/>
            <a:ext cx="17335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800475" y="2581275"/>
            <a:ext cx="17335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F06C7-C02E-43DE-8FA4-77280EAF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76400"/>
            <a:ext cx="3914775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3E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Author technical validation</a:t>
            </a:r>
          </a:p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345 specimens</a:t>
            </a:r>
          </a:p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 frozen choices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62E61-A0D7-450A-B847-7190E326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Screening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3FEFD-EF47-4DF6-A101-48CC86D1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Retain at least 90% of rejection cases, then minimize false flags.</a:t>
            </a:r>
          </a:p>
        </p:txBody>
      </p:sp>
    </p:spTree>
    <p:extLst>
      <p:ext uri="{BB962C8B-B14F-4D97-AF65-F5344CB8AC3E}">
        <p14:creationId xmlns:p14="http://schemas.microsoft.com/office/powerpoint/2010/main" val="1848091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D708D-8E1A-41DC-A962-3D379A94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Several measurements reduced false flags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7AF92-79B8-4929-9343-8245BD1D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frozen primary analysis. Each learned model retains its discovery-selected threshold; constant cutoff is 0.5.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41387-571C-46FD-A026-D277B366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E90A6-D09A-4119-8371-88C92B01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Same 345 specimens: 169 rejection and 176 no rejection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33400" y="21240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35e7aebff44c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7A4F-58E3-4B25-A856-61F2C3A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Constant baseline: 0 misses and 176 false flags. It flags every specimen.</a:t>
            </a:r>
          </a:p>
        </p:txBody>
      </p:sp>
    </p:spTree>
    <p:extLst>
      <p:ext uri="{BB962C8B-B14F-4D97-AF65-F5344CB8AC3E}">
        <p14:creationId xmlns:p14="http://schemas.microsoft.com/office/powerpoint/2010/main" val="353301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FE7E5-0D7E-4B47-811D-FFAC5117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Most CatBoost misses were T-cell rejection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1504B-4298-42C7-8DF7-B5F9275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frozen primary analysis, 15 Sep 2026. Same 345 author technical-validation specimens.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13CC9-4FFB-4667-8A2B-B828DB56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C4818-B1DE-4780-9A42-080F138D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144 / 169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5407F-8553-42F7-A3D1-D538909E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rejection cases detected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B105D-DFDB-4D84-A4B6-69E476AB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B557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55730"/>
                </a:solidFill>
                <a:latin typeface="Arial"/>
                <a:ea typeface="Arial"/>
                <a:cs typeface="Arial"/>
              </a:rPr>
              <a:t>85.2%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9083F-5DAA-4505-B73A-A151E1F8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333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Below the 90%</a:t>
            </a:r>
          </a:p>
          <a:p xmlns:a="http://schemas.openxmlformats.org/drawingml/2006/main">
            <a:pPr algn="l">
              <a:defRPr sz="23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screening target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14950" y="1857375"/>
          <a:ext xmlns:a="http://schemas.openxmlformats.org/drawingml/2006/main" cx="626745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266950"/>
              </a:tblGrid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rejection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Missed / total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Antibody-mediated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6 / 56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T-cell-mediated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18 / 95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  <a:tr h="819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Mixed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 / 18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CFA81-5F6A-42EB-92B0-9D8109A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Errors mean disagreement with the recorded diagnosis.</a:t>
            </a:r>
          </a:p>
        </p:txBody>
      </p:sp>
    </p:spTree>
    <p:extLst>
      <p:ext uri="{BB962C8B-B14F-4D97-AF65-F5344CB8AC3E}">
        <p14:creationId xmlns:p14="http://schemas.microsoft.com/office/powerpoint/2010/main" val="687541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63047-9603-43FE-A12E-FA86071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The advantage over logistic regression is uncertain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E2900-BEC9-4D2F-AF5D-6F5B964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Sources: paired bootstrap analysis (2,000 specimen resamples); discovery-only stability follow-up, 17 Sep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59C99-BE2E-4482-9AB0-33F394E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9A2B4-D454-401B-9BF1-619C85B6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8 fewer misses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5C769-C00F-4B91-A333-D20505AF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839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Same 8 false flags. The paired miss-difference interval includes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0AE9A-9A1C-485A-9EBB-0646456B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Model selected across 20 discovery splits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4543425"/>
          <a:ext xmlns:a="http://schemas.openxmlformats.org/drawingml/2006/main" cx="10972800" cy="1162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13 selections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7 selections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FE5E5-2FC5-4B28-8305-D7F8B7F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Overlapping repetitions describe split variability.</a:t>
            </a:r>
          </a:p>
        </p:txBody>
      </p:sp>
    </p:spTree>
    <p:extLst>
      <p:ext uri="{BB962C8B-B14F-4D97-AF65-F5344CB8AC3E}">
        <p14:creationId xmlns:p14="http://schemas.microsoft.com/office/powerpoint/2010/main" val="12744542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87B4B-20C8-40A7-92DB-FE64314F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Training and serving share the same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BED6D-3A60-4FDE-A309-AA13D37B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src/kidney_biopsy/preprocessing.py and prediction.py; CLI and FastAPI use the shared Predictor.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2E7C6-71B2-47FF-9D56-690996C6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CC20A-51D8-4E83-8CF8-C168D9B0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438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Read 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2B7C1-4E63-4DCE-BF26-5D8F8FB9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438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Check targets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and numbers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3048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790F-B92E-4F33-927C-BF9F201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438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Normalize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758 inputs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86450" y="3048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A0AFE-9090-48E4-89F1-C547D7A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2438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EDBD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Score with</a:t>
            </a:r>
          </a:p>
          <a:p xmlns:a="http://schemas.openxmlformats.org/drawingml/2006/main">
            <a:pPr algn="ctr">
              <a:defRPr sz="240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6343E"/>
                </a:solidFill>
                <a:latin typeface="Arial"/>
                <a:ea typeface="Arial"/>
                <a:cs typeface="Arial"/>
              </a:rPr>
              <a:t>frozen model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24900" y="3048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56B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74D22-8AB8-47E8-B1B2-EA5BE8BA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61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CSV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0BDC6-5DE6-44C9-8AE9-6B897FAE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Versioned score + threshold 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DE164-A3E6-4AA8-BF90-C378EB0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Diagnosis, specimen ID, cohort and assay batch stay out of the predictors.</a:t>
            </a:r>
          </a:p>
        </p:txBody>
      </p:sp>
    </p:spTree>
    <p:extLst>
      <p:ext uri="{BB962C8B-B14F-4D97-AF65-F5344CB8AC3E}">
        <p14:creationId xmlns:p14="http://schemas.microsoft.com/office/powerpoint/2010/main" val="3890283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FFE20-B26A-4350-9CB0-5E9F3B5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One public specimen through the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30D08-45B5-4CF0-BE62-C280DA01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Discovery-screen example GSM6510425, recorded no rejection. Demonstrates software; it adds no new validation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227B5-D4F6-4EB0-A559-DC8FE8AF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C67D2-68C0-47C0-A4B6-B1CE07FD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Public example: GSM6510425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362200"/>
          <a:ext xmlns:a="http://schemas.openxmlformats.org/drawingml/2006/main" cx="10972800" cy="146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05175"/>
                <a:gridCol w="3486150"/>
                <a:gridCol w="4181475"/>
              </a:tblGrid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score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Frozen threshold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0.274934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0.876588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7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Below threshold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53528-C450-4625-B42C-3555BB58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Remove IFNG from the same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C34CD-0595-4120-9C0A-E221E987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B557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B55730"/>
                </a:solidFill>
                <a:latin typeface="Arial"/>
                <a:ea typeface="Arial"/>
                <a:cs typeface="Arial"/>
              </a:rPr>
              <a:t>“Missing required assay targets: IFNG”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163BF-79C1-44EF-8FA9-2C71A3FF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Model: 20260915_shared:any_rejection:catboost_all_depth4</a:t>
            </a:r>
          </a:p>
        </p:txBody>
      </p:sp>
    </p:spTree>
    <p:extLst>
      <p:ext uri="{BB962C8B-B14F-4D97-AF65-F5344CB8AC3E}">
        <p14:creationId xmlns:p14="http://schemas.microsoft.com/office/powerpoint/2010/main" val="1764102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9CC24-D917-440D-9B50-11C1C5C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The service reproduces all 345 saved scores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EE744-67BC-4D1C-AFEE-00B6A3D4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local application checks, 17 Sep 2026. Score agreement is a software check, not new classifier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D5C48-2FF4-4583-940F-890AAAE0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9116A-884F-4DE4-A91F-50255430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345 / 345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A2D25-17F4-4CFC-A996-F0FA610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API, command line and saved evaluation agree</a:t>
            </a:r>
          </a:p>
          <a:p xmlns:a="http://schemas.openxmlformats.org/drawingml/2006/main">
            <a:pPr algn="l">
              <a:defRPr sz="27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within a tolerance of 10⁻¹².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70E08-6772-4DC4-9EF6-E8022CC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EDB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7C4A-D6C1-40C7-929B-5AC8405A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476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94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8B996-1944-40A5-B279-E6B7DAB9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53911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Local research container checked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D7935-6112-4345-94D4-F3ECCFBF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Missing targets stop scoring. Incompatible model metadata stops loading.</a:t>
            </a:r>
          </a:p>
        </p:txBody>
      </p:sp>
    </p:spTree>
    <p:extLst>
      <p:ext uri="{BB962C8B-B14F-4D97-AF65-F5344CB8AC3E}">
        <p14:creationId xmlns:p14="http://schemas.microsoft.com/office/powerpoint/2010/main" val="8698007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2D0A1-1309-4BE2-8F44-5D140DF8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The result applies to one deposited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8F35-1F17-4301-B5C3-7720BE83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Sources: GSE212160; study and assay review in docs/RESEARCH_CONTEXT.md; primary analysis limitations.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F2638-F10B-4313-BF16-F9CEFBDE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D63F2-64CF-4599-8610-4B63AAA8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E23DB-9899-4A80-AD6A-6F6A5180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Agreement with recorded diagnoses</a:t>
            </a:r>
          </a:p>
          <a:p xmlns:a="http://schemas.openxmlformats.org/drawingml/2006/main">
            <a:pPr algn="l">
              <a:defRPr sz="32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for existing transplant biopsies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11B97-5798-4F99-8A0B-C4474BB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CEDB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99BD0-BEF2-492B-8619-19C1CC43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666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Next evidence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66CA0-E221-47F5-BF2D-B5425B15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8299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An independent cohort with known patient and center IDs,</a:t>
            </a:r>
          </a:p>
          <a:p xmlns:a="http://schemas.openxmlformats.org/drawingml/2006/main">
            <a:pPr algn="l">
              <a:defRPr sz="27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and documented laboratory quality checks</a:t>
            </a:r>
          </a:p>
        </p:txBody>
      </p:sp>
    </p:spTree>
    <p:extLst>
      <p:ext uri="{BB962C8B-B14F-4D97-AF65-F5344CB8AC3E}">
        <p14:creationId xmlns:p14="http://schemas.microsoft.com/office/powerpoint/2010/main" val="189736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3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B3B41-C33D-4CC2-BB2E-CC86901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Molecular counts can classify recorded rejection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DBC54-304A-4279-BED8-89ED487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8E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6E8E5"/>
                </a:solidFill>
                <a:latin typeface="Arial"/>
                <a:ea typeface="Arial"/>
                <a:cs typeface="Arial"/>
              </a:rPr>
              <a:t>This presentation was drafted with AI assistance. Public data and study methods are credited in the backup slides.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2492-1800-46F5-AEF8-B45CFE62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6E8E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6E8E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8689E-B90C-4121-B824-E4DA2B11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06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 / 169 misses. 8 / 176 false flags.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1C726-C275-4063-A45B-DAF84862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810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CDE6D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CDE6DF"/>
                </a:solidFill>
                <a:latin typeface="Arial"/>
                <a:ea typeface="Arial"/>
                <a:cs typeface="Arial"/>
              </a:rPr>
              <a:t>Logistic regression remains a credible simpler alternative.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E09E7-664E-4431-941E-A1D5D61E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10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CDE6D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CDE6DF"/>
                </a:solidFill>
                <a:latin typeface="Arial"/>
                <a:ea typeface="Arial"/>
                <a:cs typeface="Arial"/>
              </a:rPr>
              <a:t>The same preprocessing powers a tested research service.</a:t>
            </a:r>
          </a:p>
        </p:txBody>
      </p:sp>
    </p:spTree>
    <p:extLst>
      <p:ext uri="{BB962C8B-B14F-4D97-AF65-F5344CB8AC3E}">
        <p14:creationId xmlns:p14="http://schemas.microsoft.com/office/powerpoint/2010/main" val="446190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AF936-3175-4F30-9979-A3239E1B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Backup: complete primary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B0FA7-1939-491C-A78C-39178156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frozen primary analysis, 15 Sep 2026. Same 345 author technical-validation specimens.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46ABA-C648-493D-AD9F-2112E4E0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24100"/>
                <a:gridCol w="1295400"/>
                <a:gridCol w="1600200"/>
                <a:gridCol w="1914525"/>
                <a:gridCol w="1952625"/>
                <a:gridCol w="1885950"/>
              </a:tblGrid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Misses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flags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Sensitivity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Specificity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85.2%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95.5%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0.969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Logistic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80.5%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95.5%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0.956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IFNG only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91.7%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57.4%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0.842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176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0.0%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0.500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26818-1C4E-4BD5-996A-E159CCDF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Denominators: 169 rejection; 176 no rejection. Fixed thresholds per model.</a:t>
            </a:r>
          </a:p>
        </p:txBody>
      </p:sp>
    </p:spTree>
    <p:extLst>
      <p:ext uri="{BB962C8B-B14F-4D97-AF65-F5344CB8AC3E}">
        <p14:creationId xmlns:p14="http://schemas.microsoft.com/office/powerpoint/2010/main" val="3834250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5475-E7DC-4730-840F-75C55DE5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Backup: normalization and threshold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6E653-C6E7-420A-B510-16B61AF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Sources: preprocessing.py; saved configuration and screening results in results/reproduction/baseline.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AD3F4-0E8F-471F-B34F-03E64D57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ACB2D-3358-4051-9820-02C43B18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Normalized target = log₂(raw count + 1)</a:t>
            </a:r>
          </a:p>
          <a:p xmlns:a="http://schemas.openxmlformats.org/drawingml/2006/main">
            <a:pPr algn="l">
              <a:defRPr sz="27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− mean of the 12 housekeeping log₂(count + 1)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26DD7-53FD-41D6-8863-A5BDAB2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58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Logistic: scaling fitted on training rows; regularization C = 0.1.</a:t>
            </a:r>
          </a:p>
          <a:p xmlns:a="http://schemas.openxmlformats.org/drawingml/2006/main">
            <a:pPr algn="l">
              <a:defRPr sz="24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CatBoost: 300 trees, depth 4, learning rate 0.04.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68748-1785-4C5B-92FE-D94BE04D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Both detected 157 / 174 screening rejection cases.</a:t>
            </a:r>
          </a:p>
          <a:p xmlns:a="http://schemas.openxmlformats.org/drawingml/2006/main">
            <a:pPr algn="l">
              <a:defRPr sz="25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CatBoost made 5 false flags; logistic made 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28F4B-711B-4BDD-9990-8E1FBFD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Flag when score ≥ 0.8765880870219778 for the frozen service.</a:t>
            </a:r>
          </a:p>
        </p:txBody>
      </p:sp>
    </p:spTree>
    <p:extLst>
      <p:ext uri="{BB962C8B-B14F-4D97-AF65-F5344CB8AC3E}">
        <p14:creationId xmlns:p14="http://schemas.microsoft.com/office/powerpoint/2010/main" val="1603155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8F5CA-CDFC-4F6B-820A-26FBD1B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Backup: ranking does not guarantee calibrated scores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9C675-E38B-42F6-89CB-D860348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reliability_bins.csv. Fixed bins; Wilson interval shown for the highlighted descriptive example. No recalibration fitted.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DBDE4-2687-4D4A-903F-2965247C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61975" y="1571625"/>
          <a:ext xmlns:a="http://schemas.openxmlformats.org/drawingml/2006/main" cx="69151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b73a616f584ec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89384-2F1F-4A67-B9B8-B74EA5F3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Score bin 0.8–0.9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D7343-1B99-4919-A9B4-49891EE7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7719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0.847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EED59-2C0A-4D53-B359-541D3BCD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527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mean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E65AE-8A65-4B5B-91C4-8B76A55A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3771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5573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B5573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87064-01C3-4458-BA07-D71A448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95825"/>
            <a:ext cx="3771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had recorded rejection</a:t>
            </a:r>
          </a:p>
          <a:p xmlns:a="http://schemas.openxmlformats.org/drawingml/2006/main">
            <a:pPr algn="l">
              <a:defRPr sz="20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43.8% (95% CI 23.1–66.8%)</a:t>
            </a:r>
          </a:p>
        </p:txBody>
      </p:sp>
    </p:spTree>
    <p:extLst>
      <p:ext uri="{BB962C8B-B14F-4D97-AF65-F5344CB8AC3E}">
        <p14:creationId xmlns:p14="http://schemas.microsoft.com/office/powerpoint/2010/main" val="1982285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02364-6DCC-4EAA-8B5A-9E9048A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Backup: subtype follow-up retained the binary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BC03B-5156-4BBD-91D3-2F977B5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Source: subtype follow-up, 15 Sep 2026. Reuses an already examined validation cohort; independent confirmation remains needed.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07CAF-B682-4873-A2DA-8D97955E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67300"/>
                <a:gridCol w="3257550"/>
                <a:gridCol w="264795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Any-rejection misses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flags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Binary CatBoost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25 / 169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8 / 176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Four-class CatBoost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29 / 169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8 / 176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Four-class logistic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28 / 169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10 / 176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Separate component models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24 / 169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15 / 176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B3D77-D848-4493-89E1-9D295B25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Four-class logistic recognized 10 / 18 mixed diagnoses,</a:t>
            </a:r>
          </a:p>
          <a:p xmlns:a="http://schemas.openxmlformats.org/drawingml/2006/main">
            <a:pPr algn="l">
              <a:defRPr sz="225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with 5 false mixed calls.</a:t>
            </a:r>
          </a:p>
        </p:txBody>
      </p:sp>
    </p:spTree>
    <p:extLst>
      <p:ext uri="{BB962C8B-B14F-4D97-AF65-F5344CB8AC3E}">
        <p14:creationId xmlns:p14="http://schemas.microsoft.com/office/powerpoint/2010/main" val="18781917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E85D7-51E7-4659-AF92-C49D678D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Backup: study, assay and deployment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0FE5B-1952-4846-BE53-3D7DA03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Sources: primary analysis, research context, and current verification guide.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8C093-CEBD-4465-A3AA-1225C88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43400"/>
                <a:gridCol w="6629400"/>
              </a:tblGrid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project establishes</a:t>
                      </a:r>
                    </a:p>
                  </a:txBody>
                  <a:tcPr marL="171450" marR="142875" marT="114300" marB="95250" anchor="ctr">
                    <a:solidFill>
                      <a:srgbClr val="16343E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Independent patients / centers?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Independence not verified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Laboratory assay quality?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File and numeric checks; assay QC not repeated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Individual probabilities?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Calibration remains limited</a:t>
                      </a:r>
                    </a:p>
                  </a:txBody>
                  <a:tcPr marL="171450" marR="142875" marT="114300" marB="95250" anchor="ctr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Cloud deployment?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43E"/>
                          </a:solidFill>
                          <a:latin typeface="Arial"/>
                          <a:ea typeface="Arial"/>
                          <a:cs typeface="Arial"/>
                        </a:rPr>
                        <a:t>Local container tested; cloud work deferred</a:t>
                      </a:r>
                    </a:p>
                  </a:txBody>
                  <a:tcPr marL="171450" marR="142875" marT="114300" marB="95250" anchor="ctr">
                    <a:solidFill>
                      <a:srgbClr val="EDF3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158B6-0201-43C6-B9AE-570EE50C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Biopsy-level resampling may understate uncertainty if specimens are related.</a:t>
            </a:r>
          </a:p>
        </p:txBody>
      </p:sp>
    </p:spTree>
    <p:extLst>
      <p:ext uri="{BB962C8B-B14F-4D97-AF65-F5344CB8AC3E}">
        <p14:creationId xmlns:p14="http://schemas.microsoft.com/office/powerpoint/2010/main" val="20999782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DCDCB-C31F-43C4-8809-6C9C867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43E"/>
                </a:solidFill>
                <a:latin typeface="Arial"/>
                <a:ea typeface="Arial"/>
                <a:cs typeface="Arial"/>
              </a:rPr>
              <a:t>Backup: sources and 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5E79-BF3D-42C1-A2CC-7A20F17D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Full URLs and repository evidence paths appear beside each slide in the HTML speaking script.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7D748-C86A-43B1-8EA5-93E0207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2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FDE26-B7FF-401D-9F48-B70E90B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Public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E05BB-7715-4646-BD52-3D3DB566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85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Zhang et al., Laboratory Investigation (2024)</a:t>
            </a:r>
          </a:p>
          <a:p xmlns:a="http://schemas.openxmlformats.org/drawingml/2006/main">
            <a:pPr algn="l">
              <a:defRPr sz="24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GSE212160 raw NanoString B-HOT measurements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83E5E-7963-431C-B33A-F8B59052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This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A64AC-AD55-414C-8A0F-DF1A683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Binary comparison and runs produced in this repository,</a:t>
            </a:r>
          </a:p>
          <a:p xmlns:a="http://schemas.openxmlformats.org/drawingml/2006/main">
            <a:pPr algn="l">
              <a:defRPr sz="2475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shared software and a tested local demonstration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50514-1402-44BB-B18C-3F62EDA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572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Presentation 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1F84C-8629-4AFE-A4AA-BF674409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43E"/>
                </a:solidFill>
                <a:latin typeface="Arial"/>
                <a:ea typeface="Arial"/>
                <a:cs typeface="Arial"/>
              </a:rPr>
              <a:t>Bourne (2007); Kosslyn et al. (2012); Garner &amp; Alley (2013); Rougier et al. (2014)</a:t>
            </a:r>
          </a:p>
        </p:txBody>
      </p:sp>
    </p:spTree>
    <p:extLst>
      <p:ext uri="{BB962C8B-B14F-4D97-AF65-F5344CB8AC3E}">
        <p14:creationId xmlns:p14="http://schemas.microsoft.com/office/powerpoint/2010/main" val="848281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2026-09-18T13:30:10.5550000Z</dcterms:created>
  <dcterms:modified xsi:type="dcterms:W3CDTF">2026-09-18T13:30:10.5550000Z</dcterms:modified>
</coreProperties>
</file>