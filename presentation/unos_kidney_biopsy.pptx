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charts/chart2.xml" ContentType="application/vnd.openxmlformats-officedocument.drawingml.chart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Default Extension="xlsx" ContentType="application/vnd.openxmlformats-officedocument.spreadsheetml.sheet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e9e9d4889bb4cdd" /><Relationship Type="http://schemas.openxmlformats.org/officeDocument/2006/relationships/extended-properties" Target="/docProps/app.xml" Id="Ra47454935997450c" /><Relationship Type="http://schemas.openxmlformats.org/officeDocument/2006/relationships/officeDocument" Target="/ppt/presentation.xml" Id="R1fb1d27c6b084253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8093aee81b845f4"/>
  </p:sldMasterIdLst>
  <p:sldIdLst>
    <p:sldId id="256" r:id="R27d35d42350f48c3"/>
    <p:sldId id="257" r:id="R2de282704664476a"/>
    <p:sldId id="258" r:id="Ra96ac9243e624c0b"/>
    <p:sldId id="259" r:id="Rf3a7574bda14452f"/>
    <p:sldId id="260" r:id="R92f47e12211840ca"/>
    <p:sldId id="261" r:id="R32c273e320db4766"/>
    <p:sldId id="262" r:id="R069005ad54374942"/>
    <p:sldId id="263" r:id="Ra268efc20fb14988"/>
    <p:sldId id="264" r:id="Rf59c5735bcbb49d9"/>
    <p:sldId id="265" r:id="R7a5a45dcd2ec47aa"/>
    <p:sldId id="266" r:id="Ra8889290ba704ee9"/>
    <p:sldId id="267" r:id="R07fa47ae0df64bc9"/>
    <p:sldId id="268" r:id="Ra9cde02a0670471e"/>
    <p:sldId id="269" r:id="Rb00b82dcfd234374"/>
    <p:sldId id="270" r:id="R7c2ba2f5b7ed4b1d"/>
    <p:sldId id="271" r:id="Rad0c0d45aaf246b2"/>
    <p:sldId id="272" r:id="R688c01e1cf5b48a4"/>
    <p:sldId id="273" r:id="R2f31db7a163c46fe"/>
    <p:sldId id="274" r:id="R28c7c51c2d804ec8"/>
    <p:sldId id="275" r:id="R59bd98ad52034f2a"/>
    <p:sldId id="276" r:id="R8ac4cb8efcad4d24"/>
    <p:sldId id="277" r:id="Rc85a80ad9f43459f"/>
    <p:sldId id="278" r:id="Rdad09b1d9d5f42fe"/>
    <p:sldId id="279" r:id="R18e0f5381708400b"/>
    <p:sldId id="280" r:id="R4a67bf5d7c794828"/>
    <p:sldId id="281" r:id="Rd8b73157cad945d0"/>
    <p:sldId id="282" r:id="Re7ad539fc20b410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3e0f4e83c24f48e4" /><Relationship Type="http://schemas.openxmlformats.org/officeDocument/2006/relationships/slideMaster" Target="/ppt/slideMasters/slideMaster1.xml" Id="Re8093aee81b845f4" /><Relationship Type="http://schemas.openxmlformats.org/officeDocument/2006/relationships/presProps" Target="/ppt/presProps.xml" Id="R23a0a692534c437f" /><Relationship Type="http://schemas.openxmlformats.org/officeDocument/2006/relationships/tableStyles" Target="/ppt/tableStyles.xml" Id="Rd7b5079b367d4ecf" /><Relationship Type="http://schemas.openxmlformats.org/officeDocument/2006/relationships/slide" Target="/ppt/slides/slide1.xml" Id="R27d35d42350f48c3" /><Relationship Type="http://schemas.openxmlformats.org/officeDocument/2006/relationships/slide" Target="/ppt/slides/slide2.xml" Id="R2de282704664476a" /><Relationship Type="http://schemas.openxmlformats.org/officeDocument/2006/relationships/slide" Target="/ppt/slides/slide3.xml" Id="Ra96ac9243e624c0b" /><Relationship Type="http://schemas.openxmlformats.org/officeDocument/2006/relationships/slide" Target="/ppt/slides/slide4.xml" Id="Rf3a7574bda14452f" /><Relationship Type="http://schemas.openxmlformats.org/officeDocument/2006/relationships/slide" Target="/ppt/slides/slide5.xml" Id="R92f47e12211840ca" /><Relationship Type="http://schemas.openxmlformats.org/officeDocument/2006/relationships/slide" Target="/ppt/slides/slide6.xml" Id="R32c273e320db4766" /><Relationship Type="http://schemas.openxmlformats.org/officeDocument/2006/relationships/slide" Target="/ppt/slides/slide7.xml" Id="R069005ad54374942" /><Relationship Type="http://schemas.openxmlformats.org/officeDocument/2006/relationships/slide" Target="/ppt/slides/slide8.xml" Id="Ra268efc20fb14988" /><Relationship Type="http://schemas.openxmlformats.org/officeDocument/2006/relationships/slide" Target="/ppt/slides/slide9.xml" Id="Rf59c5735bcbb49d9" /><Relationship Type="http://schemas.openxmlformats.org/officeDocument/2006/relationships/slide" Target="/ppt/slides/slide10.xml" Id="R7a5a45dcd2ec47aa" /><Relationship Type="http://schemas.openxmlformats.org/officeDocument/2006/relationships/slide" Target="/ppt/slides/slide11.xml" Id="Ra8889290ba704ee9" /><Relationship Type="http://schemas.openxmlformats.org/officeDocument/2006/relationships/slide" Target="/ppt/slides/slide12.xml" Id="R07fa47ae0df64bc9" /><Relationship Type="http://schemas.openxmlformats.org/officeDocument/2006/relationships/slide" Target="/ppt/slides/slide13.xml" Id="Ra9cde02a0670471e" /><Relationship Type="http://schemas.openxmlformats.org/officeDocument/2006/relationships/slide" Target="/ppt/slides/slide14.xml" Id="Rb00b82dcfd234374" /><Relationship Type="http://schemas.openxmlformats.org/officeDocument/2006/relationships/slide" Target="/ppt/slides/slide15.xml" Id="R7c2ba2f5b7ed4b1d" /><Relationship Type="http://schemas.openxmlformats.org/officeDocument/2006/relationships/slide" Target="/ppt/slides/slide16.xml" Id="Rad0c0d45aaf246b2" /><Relationship Type="http://schemas.openxmlformats.org/officeDocument/2006/relationships/slide" Target="/ppt/slides/slide17.xml" Id="R688c01e1cf5b48a4" /><Relationship Type="http://schemas.openxmlformats.org/officeDocument/2006/relationships/slide" Target="/ppt/slides/slide18.xml" Id="R2f31db7a163c46fe" /><Relationship Type="http://schemas.openxmlformats.org/officeDocument/2006/relationships/slide" Target="/ppt/slides/slide19.xml" Id="R28c7c51c2d804ec8" /><Relationship Type="http://schemas.openxmlformats.org/officeDocument/2006/relationships/slide" Target="/ppt/slides/slide20.xml" Id="R59bd98ad52034f2a" /><Relationship Type="http://schemas.openxmlformats.org/officeDocument/2006/relationships/slide" Target="/ppt/slides/slide21.xml" Id="R8ac4cb8efcad4d24" /><Relationship Type="http://schemas.openxmlformats.org/officeDocument/2006/relationships/slide" Target="/ppt/slides/slide22.xml" Id="Rc85a80ad9f43459f" /><Relationship Type="http://schemas.openxmlformats.org/officeDocument/2006/relationships/slide" Target="/ppt/slides/slide23.xml" Id="Rdad09b1d9d5f42fe" /><Relationship Type="http://schemas.openxmlformats.org/officeDocument/2006/relationships/slide" Target="/ppt/slides/slide24.xml" Id="R18e0f5381708400b" /><Relationship Type="http://schemas.openxmlformats.org/officeDocument/2006/relationships/slide" Target="/ppt/slides/slide25.xml" Id="R4a67bf5d7c794828" /><Relationship Type="http://schemas.openxmlformats.org/officeDocument/2006/relationships/slide" Target="/ppt/slides/slide26.xml" Id="Rd8b73157cad945d0" /><Relationship Type="http://schemas.openxmlformats.org/officeDocument/2006/relationships/slide" Target="/ppt/slides/slide27.xml" Id="Re7ad539fc20b4105" 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71ba9bc165ae48f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aeec7aed085143ce" /><Relationship Type="http://schemas.openxmlformats.org/officeDocument/2006/relationships/slideLayout" Target="/ppt/slideLayouts/slideLayout1.xml" Id="Rb3ef00f2e711481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3ef00f2e711481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017438c46a74095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44fd07f95ae4815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c66400a429446ff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bfd3d2a6cdaf4af2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44fd5eff9ed241a3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69761ae8f2af4c22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9bf12addd2646d2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57991fcacad4672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48933fc295a4578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4550e0967c504721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cbf2df5f61a4d2f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a33e344bbd34451" /><Relationship Type="http://schemas.openxmlformats.org/officeDocument/2006/relationships/chart" Target="/ppt/slides/charts/chart1.xml" Id="Rca6263f60e7744e2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12fc6dcdeb04b55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ff4f73518ce4856" 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c1d6e9d66ed44fe" 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17702f332104f0a" 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b6dd651d6714a84" 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f79777ac43241ed" 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9755705f290d4226" /></Relationships>
</file>

<file path=ppt/slides/_rels/slide2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a3b98bc218143a0" /></Relationships>
</file>

<file path=ppt/slides/_rels/slide2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3e31870f31f4311" /></Relationships>
</file>

<file path=ppt/slides/_rels/slide2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acfa9d74153436d" /></Relationships>
</file>

<file path=ppt/slides/_rels/slide2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fcf80c38846431f" /><Relationship Type="http://schemas.openxmlformats.org/officeDocument/2006/relationships/chart" Target="/ppt/slides/charts/chart2.xml" Id="Re3d7429ce7244d72" /></Relationships>
</file>

<file path=ppt/slides/_rels/slide2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88d8d7bc1d54ac2" /></Relationships>
</file>

<file path=ppt/slides/_rels/slide2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74c090d414c4b17" /></Relationships>
</file>

<file path=ppt/slides/_rels/slide2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42764a51a4594808" /></Relationships>
</file>

<file path=ppt/slides/_rels/slide2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2f2fcc2150a4210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False negatives / 169</c:v>
          </c:tx>
          <c:spPr>
            <a:solidFill xmlns:a="http://schemas.openxmlformats.org/drawingml/2006/main">
              <a:srgbClr val="B55730"/>
            </a:solidFill>
          </c:spPr>
          <c:cat>
            <c:strRef>
              <c:f>'Chart Data'!$A$2:$A$4</c:f>
              <c:strCache>
                <c:ptCount val="3"/>
                <c:pt idx="0">
                  <c:v>IFNG only</c:v>
                </c:pt>
                <c:pt idx="1">
                  <c:v>Logistic regression</c:v>
                </c:pt>
                <c:pt idx="2">
                  <c:v>CatBoost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14</c:v>
                </c:pt>
                <c:pt idx="1">
                  <c:v>33</c:v>
                </c:pt>
                <c:pt idx="2">
                  <c:v>25</c:v>
                </c:pt>
              </c:numCache>
            </c:numRef>
          </c:val>
        </c:ser>
        <c:ser>
          <c:idx val="1"/>
          <c:order val="1"/>
          <c:tx>
            <c:v>False positives / 176</c:v>
          </c:tx>
          <c:spPr>
            <a:solidFill xmlns:a="http://schemas.openxmlformats.org/drawingml/2006/main">
              <a:srgbClr val="007C78"/>
            </a:solidFill>
          </c:spPr>
          <c:cat>
            <c:strRef>
              <c:f>'Chart Data'!$C$2:$C$4</c:f>
              <c:strCache>
                <c:ptCount val="3"/>
                <c:pt idx="0">
                  <c:v>IFNG only</c:v>
                </c:pt>
                <c:pt idx="1">
                  <c:v>Logistic regression</c:v>
                </c:pt>
                <c:pt idx="2">
                  <c:v>CatBoost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75</c:v>
                </c:pt>
                <c:pt idx="1">
                  <c:v>8</c:v>
                </c:pt>
                <c:pt idx="2">
                  <c:v>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 b="1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8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CEDBD7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7F8F5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75">
              <a:solidFill>
                <a:srgbClr val="16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7F8F5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ser>
          <c:idx val="0"/>
          <c:order val="0"/>
          <c:tx>
            <c:v>Agreement</c:v>
          </c:tx>
          <c:spPr>
            <a:ln xmlns:a="http://schemas.openxmlformats.org/drawingml/2006/main" w="13335">
              <a:solidFill>
                <a:srgbClr val="52656B"/>
              </a:solidFill>
            </a:ln>
          </c:spPr>
          <c:marker>
            <c:symbol val="none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'Chart Data'!$B$2:$B$3</c:f>
              <c:numCache>
                <c:formatCode>0.0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</c:ser>
        <c:ser>
          <c:idx val="1"/>
          <c:order val="1"/>
          <c:tx>
            <c:v>Observed bins</c:v>
          </c:tx>
          <c:spPr>
            <a:solidFill xmlns:a="http://schemas.openxmlformats.org/drawingml/2006/main">
              <a:srgbClr val="007C78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noFill xmlns:a="http://schemas.openxmlformats.org/drawingml/2006/main"/>
            </c:spPr>
          </c:marker>
          <c:xVal>
            <c:numRef>
              <c:f>'Chart Data'!$C$2:$C$11</c:f>
              <c:numCache>
                <c:formatCode>General</c:formatCode>
                <c:ptCount val="10"/>
                <c:pt idx="0">
                  <c:v>0.02236</c:v>
                </c:pt>
                <c:pt idx="1">
                  <c:v>0.150831</c:v>
                </c:pt>
                <c:pt idx="2">
                  <c:v>0.256868</c:v>
                </c:pt>
                <c:pt idx="3">
                  <c:v>0.33529</c:v>
                </c:pt>
                <c:pt idx="4">
                  <c:v>0.462784</c:v>
                </c:pt>
                <c:pt idx="5">
                  <c:v>0.535663</c:v>
                </c:pt>
                <c:pt idx="6">
                  <c:v>0.66592</c:v>
                </c:pt>
                <c:pt idx="7">
                  <c:v>0.764537</c:v>
                </c:pt>
                <c:pt idx="8">
                  <c:v>0.847196</c:v>
                </c:pt>
                <c:pt idx="9">
                  <c:v>0.983569</c:v>
                </c:pt>
              </c:numCache>
            </c:numRef>
          </c:xVal>
          <c:yVal>
            <c:numRef>
              <c:f>'Chart Data'!$D$2:$D$11</c:f>
              <c:numCache>
                <c:formatCode>0.0</c:formatCode>
                <c:ptCount val="10"/>
                <c:pt idx="0">
                  <c:v>0.02963</c:v>
                </c:pt>
                <c:pt idx="1">
                  <c:v>0.25</c:v>
                </c:pt>
                <c:pt idx="2">
                  <c:v>0.333333</c:v>
                </c:pt>
                <c:pt idx="3">
                  <c:v>0.222222</c:v>
                </c:pt>
                <c:pt idx="4">
                  <c:v>0.5</c:v>
                </c:pt>
                <c:pt idx="5">
                  <c:v>0.5</c:v>
                </c:pt>
                <c:pt idx="6">
                  <c:v>0.375</c:v>
                </c:pt>
                <c:pt idx="7">
                  <c:v>0.5</c:v>
                </c:pt>
                <c:pt idx="8">
                  <c:v>0.4375</c:v>
                </c:pt>
                <c:pt idx="9">
                  <c:v>0.959459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EDBD7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800">
                    <a:solidFill>
                      <a:srgbClr val="16343E"/>
                    </a:solidFill>
                    <a:latin typeface="Arial"/>
                    <a:ea typeface="Arial"/>
                    <a:cs typeface="Arial"/>
                  </a:rPr>
                  <a:t>Recorded rejection fraction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1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800">
                    <a:solidFill>
                      <a:srgbClr val="16343E"/>
                    </a:solidFill>
                    <a:latin typeface="Arial"/>
                    <a:ea typeface="Arial"/>
                    <a:cs typeface="Arial"/>
                  </a:rPr>
                  <a:t>Mean model score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majorUnit val="0.2"/>
      </c:valAx>
      <c:spPr>
        <a:solidFill xmlns:a="http://schemas.openxmlformats.org/drawingml/2006/main">
          <a:srgbClr val="F7F8F5"/>
        </a:solidFill>
      </c:spPr>
    </c:plotArea>
    <c:plotVisOnly val="1"/>
  </c:chart>
  <c:spPr>
    <a:solidFill xmlns:a="http://schemas.openxmlformats.org/drawingml/2006/main">
      <a:srgbClr val="F7F8F5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5879B5-DFDE-4CFF-85D9-0B0344FA0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097280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Classifying Kidney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Transplant Rejection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Biopsy RNA</a:t>
            </a:r>
          </a:p>
        </p:txBody>
      </p:sp>
    </p:spTree>
    <p:extLst>
      <p:ext uri="{BB962C8B-B14F-4D97-AF65-F5344CB8AC3E}">
        <p14:creationId xmlns:p14="http://schemas.microsoft.com/office/powerpoint/2010/main" val="14838702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55A85A-BC71-4C35-B4C2-A5A947AB8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Transplant rejection and kidney biopsy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D97EA4-DFE8-4982-8271-4E0701819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NIDDK, Kidney Transplant and Kidney Biopsy; Zhang et al. (2024)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D0FA6E-57CD-4981-A2F1-C5DC0758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254147-C718-49A0-B7F2-835CBE803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Rejection: </a:t>
            </a:r>
            <a:r>
              <a:t>The recipient’s immune system attacks the donated kidney.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7B3972-BEF4-48AF-A48F-0228FC5D1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Kidney biopsy: </a:t>
            </a:r>
            <a:r>
              <a:t>A small tissue sample collected from the kidney for examination.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60CA93-9B15-43E7-8CE0-6EE21A6E1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990975"/>
            <a:ext cx="1052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Histology: </a:t>
            </a:r>
            <a:r>
              <a:t>Microscopic examination reveals injury and inflammation and supports the recorded diagnosis.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FE326B-EB13-4F3E-9EA1-50F7621D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5219700"/>
            <a:ext cx="10525125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Molecular measurements: </a:t>
            </a:r>
            <a:r>
              <a:t>Counts of selected RNA types provide the model’s inputs.</a:t>
            </a:r>
          </a:p>
        </p:txBody>
      </p:sp>
    </p:spTree>
    <p:extLst>
      <p:ext uri="{BB962C8B-B14F-4D97-AF65-F5344CB8AC3E}">
        <p14:creationId xmlns:p14="http://schemas.microsoft.com/office/powerpoint/2010/main" val="122609304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4D02E7-368C-4F9E-A9AE-12804AD6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Possible Use: Molecular Second Opinion for Ambiguous Biopsies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EBF120-E533-44AC-9727-50F7466A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Banff reference guide (updated Apr 2026).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8C908B-10CC-4D5B-B204-AAEFC984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2E1ABB-1389-47EA-BD1B-10CDAD5F1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Sometimes the microscopic findings are borderline or conflict with other clinical evidence.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8BEEED-04C4-47DC-BB69-6ED26955E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06870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BD6CEC-A411-4B62-A7E2-55344AEDB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657475"/>
            <a:ext cx="103251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Hypothetical Example: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A5AB2C-D59B-4929-888A-4DD31D45A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28950"/>
            <a:ext cx="10325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 biopsy shows mild inflammation, but the microscopic findings do not clearly establish rejection.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DEB9B7-582E-4458-A310-C582D85E5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728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This project tests how well RNA classifies recorded rejection diagnoses.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BF50A0-F60E-48E6-AEFD-128A919F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9175"/>
            <a:ext cx="106870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1DF608-D7CE-4035-9452-11B163A1C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914900"/>
            <a:ext cx="103251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Hypothetical Example, continued: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41BED3-5E98-414C-AE95-5E99BDA1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286375"/>
            <a:ext cx="10325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 high rejection score could add evidence for specialist review of this biopsy. That use needs direct validation.</a:t>
            </a:r>
          </a:p>
        </p:txBody>
      </p:sp>
    </p:spTree>
    <p:extLst>
      <p:ext uri="{BB962C8B-B14F-4D97-AF65-F5344CB8AC3E}">
        <p14:creationId xmlns:p14="http://schemas.microsoft.com/office/powerpoint/2010/main" val="16733378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C4118D-8416-4A7F-B645-B1F2DD6E8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Evidence for a molecular second opinion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A3072-0C5E-4A81-805E-90104609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F0516F-0625-4D04-AAF4-4BAEACDA4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90675"/>
            <a:ext cx="26098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Banff guidance</a:t>
            </a:r>
          </a:p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17401F-EFC6-45B5-8840-BC9FBA48B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533525"/>
            <a:ext cx="81057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Considers validated molecular tests</a:t>
            </a:r>
          </a:p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for difficult biopsy interpretations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DEB7BD-CEFB-4698-BC57-A7FC9D0C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AEB4EA-ED14-4665-87CD-6C88A9937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B-HOT study</a:t>
            </a:r>
          </a:p>
          <a:p xmlns:a="http://schemas.openxmlformats.org/drawingml/2006/main">
            <a:pPr algn="l">
              <a:defRPr sz="23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Rosales, 2022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33412D-67EA-43CC-A02D-BB903C3C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62275"/>
            <a:ext cx="81057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Higher initial molecular scores in patients who</a:t>
            </a:r>
          </a:p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later developed chronic active antibody-mediated</a:t>
            </a:r>
          </a:p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rejection, despite no initial diagnosis of 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9538CD-B4F8-4AEB-AE97-45A6EFE7C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59AA53-A6A8-4203-844B-B7697A343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109728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This project measures agreement with recorded diagnoses.</a:t>
            </a:r>
          </a:p>
          <a:p xmlns:a="http://schemas.openxmlformats.org/drawingml/2006/main">
            <a:pPr algn="l">
              <a:defRPr sz="247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Its value in ambiguous biopsies needs direct evaluation.</a:t>
            </a:r>
          </a:p>
        </p:txBody>
      </p:sp>
    </p:spTree>
    <p:extLst>
      <p:ext uri="{BB962C8B-B14F-4D97-AF65-F5344CB8AC3E}">
        <p14:creationId xmlns:p14="http://schemas.microsoft.com/office/powerpoint/2010/main" val="209546769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F29D6F-3370-43F3-B3C0-A60CDA463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What the dataset contains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FAF9AC-AC8D-4A14-B093-5EAD89F8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Zhang et al. (2024), Tables 5–6; project data reader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7527E3-35AD-4762-8A0E-1948F4E7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F7D202-B323-4C97-B2F9-6CE897F50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1,395 biopsy specimens, with one row per specimen in each 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FF3ACE-CC94-4E45-96E1-2EB9D066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47815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37C660-FF60-43D0-A4E3-6B46E024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628900"/>
            <a:ext cx="4762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Specimen information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609600" y="3333750"/>
          <a:ext xmlns:a="http://schemas.openxmlformats.org/drawingml/2006/main" cx="478155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2257425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GUSB (reference)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260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RNA counts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"/>
          <p:cNvGraphicFramePr/>
          <p:nvPr/>
        </p:nvGraphicFramePr>
        <p:xfrm>
          <a:off xmlns:a="http://schemas.openxmlformats.org/drawingml/2006/main" x="6819900" y="3333750"/>
          <a:ext xmlns:a="http://schemas.openxmlformats.org/drawingml/2006/main" cx="476250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2190750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Study group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Discovery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details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851B03-D414-4117-B1E2-ADFEB806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019550"/>
            <a:ext cx="142875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52656B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05D230-526F-4FBC-A7C6-FF641D6E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6195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 :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8473DF-7560-4C85-BD8B-15C926F1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095750"/>
            <a:ext cx="1276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23F906-F252-4FC2-A4B3-3E2B8B892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Includes 1,193 transplant biopsies and 202 native-kidney controls.</a:t>
            </a:r>
          </a:p>
        </p:txBody>
      </p:sp>
    </p:spTree>
    <p:extLst>
      <p:ext uri="{BB962C8B-B14F-4D97-AF65-F5344CB8AC3E}">
        <p14:creationId xmlns:p14="http://schemas.microsoft.com/office/powerpoint/2010/main" val="151608896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082387-50A6-4230-A076-A3DD53BC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Outcome: rejection versus no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00C321-F4C4-47D7-B8F0-7F0378F65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Zhang et al. (2024), GSE212160; project diagnosis mapping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840CB6-9A7E-4C51-86F1-ED20DC3D7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724025"/>
          <a:ext xmlns:a="http://schemas.openxmlformats.org/drawingml/2006/main" cx="10972800" cy="34956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876675"/>
                <a:gridCol w="2476500"/>
              </a:tblGrid>
              <a:tr h="6991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label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991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Antibody-mediated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Antibodies: immune proteins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991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T-cell-mediated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 cells: immune cells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991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Mixed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Both rejection processes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991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recorded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6BE59F-1201-4272-8E70-2AA7B5D92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The main question combines all three forms of rejection.</a:t>
            </a:r>
          </a:p>
        </p:txBody>
      </p:sp>
    </p:spTree>
    <p:extLst>
      <p:ext uri="{BB962C8B-B14F-4D97-AF65-F5344CB8AC3E}">
        <p14:creationId xmlns:p14="http://schemas.microsoft.com/office/powerpoint/2010/main" val="960087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C0A12B-5F48-44B4-9F1F-3A4B07721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measurements used to build the features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A8A3BC-D7A5-4761-8556-641DE8DC0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B-HOT panel consensus (2020); project data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273E55-F155-4871-A35B-56CBCB10C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22D254-CABD-40A8-81DC-9C1A0BE5D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770 RNA counts per specimen, one for each RNA type measured.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0204C1-CDCD-43C3-BEE7-4D89F4A5E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095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758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ABFDFC-E96A-45A5-86F8-6BCE749A4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50958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measurements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81C9D8-65B6-4E03-AEF0-6B7EDFDD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5143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Normalized counts are the model inputs.</a:t>
            </a:r>
          </a:p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Include human and viral RNA.</a:t>
            </a:r>
          </a:p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Signals depend on gene activity and the cell mixture.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B6434E-DA54-40D9-9A85-BD9A1BDD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71462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F57799-48A6-4EEF-8650-DABF7F84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514725"/>
            <a:ext cx="50387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Housekeeping references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422DDF-D895-4E26-B630-1A434A59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095750"/>
            <a:ext cx="503872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12 different reference RNAs.</a:t>
            </a:r>
          </a:p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Used to normalize the other counts.</a:t>
            </a:r>
          </a:p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Excluded as separate model inputs.</a:t>
            </a:r>
          </a:p>
        </p:txBody>
      </p:sp>
    </p:spTree>
    <p:extLst>
      <p:ext uri="{BB962C8B-B14F-4D97-AF65-F5344CB8AC3E}">
        <p14:creationId xmlns:p14="http://schemas.microsoft.com/office/powerpoint/2010/main" val="84357705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6107D7-3E8E-421F-8341-44C1441E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Preparing counts for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63FB25-6CA0-4638-90E4-834A9D3E9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shared preprocessing; public specimen GSM6510425. Values rounded for display.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36F471-8AF2-43F8-86DE-75C27B975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743075"/>
          <a:ext xmlns:a="http://schemas.openxmlformats.org/drawingml/2006/main" cx="10972800" cy="3171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677150"/>
                <a:gridCol w="3295650"/>
              </a:tblGrid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For each of the 758 RNA counts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IFNG example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1. Start with the raw count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 Calculate log₂(count + 1)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3. Average log₂(count + 1) for the 12 reference RNAs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7.900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4. Subtract that reference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2.322 − 7.900 = −5.578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A1B3A2-5E76-4AE7-8D95-8234D29A8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Housekeeping RNAs help account for differences in how much RNA a specimen supplies.</a:t>
            </a:r>
          </a:p>
        </p:txBody>
      </p:sp>
    </p:spTree>
    <p:extLst>
      <p:ext uri="{BB962C8B-B14F-4D97-AF65-F5344CB8AC3E}">
        <p14:creationId xmlns:p14="http://schemas.microsoft.com/office/powerpoint/2010/main" val="110705585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969A39-076D-488D-B118-7C3A5E8D4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Development and evaluation specimens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CA8B5D-0363-4CC7-9B82-482D7AFA0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Methods; saved project split, seed 20260915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812C08-A442-429A-9549-1F260A3BE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E59FF1-3C1B-4768-88F3-DE9CD3A4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We use the authors’ two study groups: discovery and validation cohorts.</a:t>
            </a:r>
          </a:p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Our training / screening split keeps diagnosis proportions similar.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9DF90C-EA5A-4BFE-A620-A240E2A7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665797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Discovery Cohort</a:t>
            </a:r>
          </a:p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1,050 specimens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9946F0-CCB5-4AE0-85E7-0197B3815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30099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Training: 787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Fit the models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9E9210-BBAC-4300-B717-8A7559265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724400"/>
            <a:ext cx="31718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263</a:t>
            </a:r>
          </a:p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Choose model and threshold</a:t>
            </a:r>
          </a:p>
        </p:txBody>
      </p:sp>
      <p:cxnSp>
        <p:nvCxnSpPr>
          <p:cNvPr id="19" name=""/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2114550" y="4048125"/>
            <a:ext cx="1824038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20" name=""/>
          <p:cNvCxnSpPr>
            <a:stCxn xmlns:a="http://schemas.openxmlformats.org/drawingml/2006/main" id="5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3938588" y="4048125"/>
            <a:ext cx="1743075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B3839F-B30D-4B31-95B7-8647F34BD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67050"/>
            <a:ext cx="37719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43E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Validation Cohort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345 specimens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Evaluate the selected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 and threshold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73C6C2-59F3-4156-B228-02A6B6A93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*Patient and referring-center separation are not documented in the study.</a:t>
            </a:r>
          </a:p>
        </p:txBody>
      </p:sp>
    </p:spTree>
    <p:extLst>
      <p:ext uri="{BB962C8B-B14F-4D97-AF65-F5344CB8AC3E}">
        <p14:creationId xmlns:p14="http://schemas.microsoft.com/office/powerpoint/2010/main" val="7599886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3514BF-8CED-42AA-B464-ABA2F95BD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Models compared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5AEAEC-82DF-4888-AA7A-DDBEB62F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primary configuration and analysis, 15 Sep 2026; Zhang et al., Supplementary Table S2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5FC85A-16CE-4FC1-A9D0-D71F873DB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705363-765D-42DF-8B66-9FCC0B34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Each model produces a score for rejection versus no rejection.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419350"/>
          <a:ext xmlns:a="http://schemas.openxmlformats.org/drawingml/2006/main" cx="10972800" cy="3543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71850"/>
                <a:gridCol w="7600950"/>
              </a:tblGrid>
              <a:tr h="5048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it learns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5810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Constant baseline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score: the training rejection fraction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 only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immune-related RNA measurement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as a simple benchmark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10477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Logistic regression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weighted combination of 758 measurements.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Regularization limits the size of the weights.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combination of decision trees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711814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FDFD1D-1824-46C4-9A0C-999AF100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Choosing a rejection threshold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63B68C-D214-46EF-BA80-A18845BE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discovery screening rule and selected model metadata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D27729-CEFE-4350-B248-8E6CD5DD6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04646C-4E26-4D69-ACD3-B95CB9C7D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90675"/>
            <a:ext cx="5181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B5573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73E241-79F3-48F1-8AD0-A4F0DC464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51816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Proportion of recorded rejection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cases detected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EACDCA-5CF6-4966-AAE6-A2EB74AE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51816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B55730"/>
                </a:solidFill>
                <a:latin typeface="Arial"/>
                <a:ea typeface="Arial"/>
                <a:cs typeface="Arial"/>
              </a:rPr>
              <a:t>(False negatives are missed cases.)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589DE-0BD3-44AF-AA94-FC7BFC2C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590675"/>
            <a:ext cx="487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B02BA4-8815-4F54-A416-4B489DFA2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33600"/>
            <a:ext cx="4876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Proportion of positive flags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with recorded rejection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5234F9-5D10-4852-94F4-435C2E732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76575"/>
            <a:ext cx="48768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(False positives are incorrect flags.)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7EF0F1-CF8F-411F-980E-F9E03547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Selection using screening specimens</a:t>
            </a:r>
          </a:p>
        </p:txBody>
      </p:sp>
      <p:graphicFrame>
        <p:nvGraphicFramePr>
          <p:cNvPr id="23" name=""/>
          <p:cNvGraphicFramePr/>
          <p:nvPr/>
        </p:nvGraphicFramePr>
        <p:xfrm>
          <a:off xmlns:a="http://schemas.openxmlformats.org/drawingml/2006/main" x="609600" y="4505325"/>
          <a:ext xmlns:a="http://schemas.openxmlformats.org/drawingml/2006/main" cx="10972800" cy="14382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66800"/>
                <a:gridCol w="9906000"/>
              </a:tblGrid>
              <a:tr h="3524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Step</a:t>
                      </a:r>
                    </a:p>
                  </a:txBody>
                  <a:tcPr marL="171450" marR="142875" marT="19050" marB="190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Rule</a:t>
                      </a:r>
                    </a:p>
                  </a:txBody>
                  <a:tcPr marL="171450" marR="142875" marT="19050" marB="19050" anchor="ctr">
                    <a:solidFill>
                      <a:srgbClr val="16343E"/>
                    </a:solidFill>
                  </a:tcPr>
                </a:tc>
              </a:tr>
              <a:tr h="361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Detect at least 90% of recorded rejection cases.*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71450" marR="142875" marT="19050" marB="190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Among qualifying choices, minimize false positives.</a:t>
                      </a:r>
                    </a:p>
                  </a:txBody>
                  <a:tcPr marL="171450" marR="142875" marT="19050" marB="19050" anchor="ctr">
                    <a:solidFill>
                      <a:srgbClr val="EDF3F0"/>
                    </a:solidFill>
                  </a:tcPr>
                </a:tc>
              </a:tr>
              <a:tr h="361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Keep the chosen model and threshold for evaluation.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056865-C62F-4496-BD9D-4F4AE5BC9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*90% is an experimental target.</a:t>
            </a:r>
          </a:p>
        </p:txBody>
      </p:sp>
    </p:spTree>
    <p:extLst>
      <p:ext uri="{BB962C8B-B14F-4D97-AF65-F5344CB8AC3E}">
        <p14:creationId xmlns:p14="http://schemas.microsoft.com/office/powerpoint/2010/main" val="119219975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D9C52D-EA13-463C-9E44-845CBF58B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Validation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BC208F-7020-41DB-BFC7-693C0918B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primary evaluation, 15 Sep 2026. Errors are against recorded diagnoses.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67271E-FAE5-445A-BE84-3DD40092E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561ECF-D5DC-4ECD-929B-361241B4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345 specimens: 169 rejection and 176 no rejection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533400" y="1924050"/>
          <a:ext xmlns:a="http://schemas.openxmlformats.org/drawingml/2006/main" cx="11144250" cy="3114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a6263f60e7744e2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F33D3F-FBA1-4ACC-9535-64F15897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1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Constant baseline: 0 false negatives, 176 false positives. It flags everyone.</a:t>
            </a:r>
          </a:p>
          <a:p xmlns:a="http://schemas.openxmlformats.org/drawingml/2006/main">
            <a:pPr marL="279400" indent="-152400" algn="l">
              <a:spcAft>
                <a:spcPts val="11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CatBoost versus IFNG: 67 fewer false positives, 11 more false negatives.</a:t>
            </a:r>
          </a:p>
        </p:txBody>
      </p:sp>
    </p:spTree>
    <p:extLst>
      <p:ext uri="{BB962C8B-B14F-4D97-AF65-F5344CB8AC3E}">
        <p14:creationId xmlns:p14="http://schemas.microsoft.com/office/powerpoint/2010/main" val="183446497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475BAA-B406-4F67-9C4F-29980A64D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Most CatBoost misses were T-cell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B7AAF4-47F9-4163-A5EA-4B6AE71FB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primary evaluation and screening results, 15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C84328-DA36-41F5-86F4-7DC3B0529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385D87-40FA-4E1D-8235-8FF0E169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466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144 / 169 detected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96648A-A816-4706-9EA0-4B57C8D1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4667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85.2% recall (sensitivity)</a:t>
            </a:r>
          </a:p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 evaluation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F27EBB-12E7-4358-A601-C4A7F12D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45148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157 / 174 detected (90.2%).</a:t>
            </a:r>
          </a:p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Evaluation falls below the 90% selection target.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78A475-6542-4184-96FC-787F857B9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666875"/>
            <a:ext cx="5915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Misses by recorded diagnosis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5667375" y="2381250"/>
          <a:ext xmlns:a="http://schemas.openxmlformats.org/drawingml/2006/main" cx="5915025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81425"/>
                <a:gridCol w="2133600"/>
              </a:tblGrid>
              <a:tr h="7739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rejection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Missed / total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7739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Antibody-mediated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6 / 56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7739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T-cell-mediated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18 / 95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7739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Mixed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 / 18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18400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FFFD05-4775-4642-BEF7-C9EA72AA8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advantage over logistic regression is uncertain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F82CA6-F3B4-49FF-9502-ECC37D43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paired bootstrap analysis; discovery stability follow-up, 17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17792A-7F38-4A04-A606-129FBCF50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12E363-B0AD-403E-BE09-ED8500535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CatBoost versus logistic regression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FFE187-378D-43B9-A686-A7D9993F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9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8 fewer misses among the same 169 rejection specimens.</a:t>
            </a:r>
          </a:p>
          <a:p xmlns:a="http://schemas.openxmlformats.org/drawingml/2006/main">
            <a:pPr marL="279400" indent="-152400" algn="l">
              <a:spcAft>
                <a:spcPts val="9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Both make 8 false flags among 176 no-rejection specimens.</a:t>
            </a:r>
          </a:p>
          <a:p xmlns:a="http://schemas.openxmlformats.org/drawingml/2006/main">
            <a:pPr marL="279400" indent="-152400" algn="l">
              <a:spcAft>
                <a:spcPts val="9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95% interval for the detection advantage includes zero.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EBD814-053A-4E72-9805-F1606A132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choice across 20 development splits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4562475"/>
          <a:ext xmlns:a="http://schemas.openxmlformats.org/drawingml/2006/main" cx="10972800" cy="1066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533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Logistic regression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13 selections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 selections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419549-9D24-47BB-8874-1336B1288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splits overlap. These counts describe variation in model choice.</a:t>
            </a:r>
          </a:p>
        </p:txBody>
      </p:sp>
    </p:spTree>
    <p:extLst>
      <p:ext uri="{BB962C8B-B14F-4D97-AF65-F5344CB8AC3E}">
        <p14:creationId xmlns:p14="http://schemas.microsoft.com/office/powerpoint/2010/main" val="208863144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C93409-8EAA-4BF4-A0B0-71B98ECE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Training and prediction use the same preparation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A8C4EA-C2D6-49A4-8B56-D162D2BA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shared preprocessing and Predictor; application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E8931E-A3BB-45C7-B2AF-13844209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649BD6-3E4E-43F9-90C0-5622B8CD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CSV input through the command line or web application.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470725-96A1-4866-8C8C-9A4D691C5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Read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81A68A-00B4-49AC-A169-239180FFD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Check names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and numbers</a:t>
            </a:r>
          </a:p>
        </p:txBody>
      </p:sp>
      <p:cxnSp>
        <p:nvCxnSpPr>
          <p:cNvPr id="19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48000" y="30289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EED323-F945-4F61-B513-81E64BC38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Normalize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758 inputs</a:t>
            </a:r>
          </a:p>
        </p:txBody>
      </p:sp>
      <p:cxnSp>
        <p:nvCxnSpPr>
          <p:cNvPr id="21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886450" y="30289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06F8E5-3BA3-447A-9395-D4B74378C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Score with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saved model</a:t>
            </a:r>
          </a:p>
        </p:txBody>
      </p:sp>
      <p:cxnSp>
        <p:nvCxnSpPr>
          <p:cNvPr id="23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724900" y="30289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FEF61A-0090-4561-BD4C-212E9F037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 valid request returns the specimen ID, model score, threshold, flag and model version.</a:t>
            </a:r>
          </a:p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Missing or duplicate measurements, negative counts or non-finite values stop scoring.</a:t>
            </a:r>
          </a:p>
        </p:txBody>
      </p:sp>
    </p:spTree>
    <p:extLst>
      <p:ext uri="{BB962C8B-B14F-4D97-AF65-F5344CB8AC3E}">
        <p14:creationId xmlns:p14="http://schemas.microsoft.com/office/powerpoint/2010/main" val="170070464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0D3ECF-9DC2-45CE-A07F-6D75EC1F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One public specimen through the service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688A78-84F5-43B9-8B64-C1BE036D8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public discovery-screen example and saved application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A9DD6B-26FF-4B17-9F3B-523A56E09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2B267B-1A43-41FA-AC1A-BC6668370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GSM6510425: recorded no rejection.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2371725"/>
          <a:ext xmlns:a="http://schemas.openxmlformats.org/drawingml/2006/main" cx="10972800" cy="1314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95650"/>
                <a:gridCol w="3486150"/>
                <a:gridCol w="4191000"/>
              </a:tblGrid>
              <a:tr h="6572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score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Selected threshold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Rejection flag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572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0.274934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0.876588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False (below cutoff)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1BEECD-BE3A-4D73-9DD5-82040DE08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Model: 20260915_shared:any_rejection:catboost_all_depth4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2DAA0-BF1E-4788-BADD-A2F3F086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109728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complete input produces a flag that agrees with the recorded diagnosis.</a:t>
            </a:r>
          </a:p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Removing IFNG clears the previous result and returns no new score.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4C0C34-0738-4848-81FD-98B3516D9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38800"/>
            <a:ext cx="10687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“Missing required assay targets: IFNG”</a:t>
            </a:r>
          </a:p>
        </p:txBody>
      </p:sp>
    </p:spTree>
    <p:extLst>
      <p:ext uri="{BB962C8B-B14F-4D97-AF65-F5344CB8AC3E}">
        <p14:creationId xmlns:p14="http://schemas.microsoft.com/office/powerpoint/2010/main" val="48376021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234208-591F-4995-BB5B-5D748D42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service reproduces all 345 saved scores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57E6DD-0EB4-4514-8B9D-248019075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local verification, 17 Sep 2026. Software consistency check.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4915E4-5DCD-4081-9991-DE87EEB2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EEE8B8-D184-43AB-A3D6-607355E6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API, command line and saved evaluation agree within 10⁻¹².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2447925"/>
          <a:ext xmlns:a="http://schemas.openxmlformats.org/drawingml/2006/main" cx="10972800" cy="2381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76875"/>
                <a:gridCol w="5495925"/>
              </a:tblGrid>
              <a:tr h="5953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Observed behavior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5953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Reordered columns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Same model score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5953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Invalid or incomplete counts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score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5953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Incompatible model metadata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Model does not load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48554C-055F-4382-A9E2-18624486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94 tests passed, including these failure cases.</a:t>
            </a:r>
          </a:p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local container was checked. Cloud deployment is deferred.</a:t>
            </a:r>
          </a:p>
        </p:txBody>
      </p:sp>
    </p:spTree>
    <p:extLst>
      <p:ext uri="{BB962C8B-B14F-4D97-AF65-F5344CB8AC3E}">
        <p14:creationId xmlns:p14="http://schemas.microsoft.com/office/powerpoint/2010/main" val="28490056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FBD081-7428-4286-BBF5-339D3BFBB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Testing the proposed use in ambiguous biopsies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98AA83-33B9-4089-9FF5-D3BD50B0D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project research context; primary analysis; Banff work plan (2024). Proposed evaluation.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44B4BB-8BCE-4B11-90E3-F8F11D578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FCA2B5-6144-4C70-94A2-244AF2DE3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90675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This project establishes classification performance in one deposited study.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571750"/>
          <a:ext xmlns:a="http://schemas.openxmlformats.org/drawingml/2006/main" cx="109728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67175"/>
                <a:gridCol w="6905625"/>
              </a:tblGrid>
              <a:tr h="5143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Proposed evaluation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</a:tr>
              <a:tr h="1333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Does performance hold in a new study?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New transplant biopsies with patient and center IDs and lab quality records.</a:t>
                      </a:r>
                    </a:p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Use the chosen models and thresholds.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</a:tr>
              <a:tr h="1200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Does the score help with ambiguous biopsies?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Compare usual assessment with and without the molecular score.</a:t>
                      </a:r>
                    </a:p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Use independent review and follow-up outcomes.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51771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DA867F-CC00-438A-8CFC-A49EBCACB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Molecular counts can classify recorded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682C42-4D56-49E1-9D96-DF2CB134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Public data: Zhang et al. (2024), GSE212160. Presentation prepared with AI assistance.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A68CA-796A-4E7A-BA7D-67B5E257A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431625-E31B-43EA-BD4A-697064FB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CatBoost, 345 evaluation specimens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C4FADB-E72E-458C-A9B7-1B746DB13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25 / 169 misses. 8 / 176 false flags.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A27923-9CCB-4158-8B30-CEBE5E4A6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500"/>
              </a:spcAft>
              <a:buChar char="•"/>
              <a:defRPr sz="25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Logistic regression remains a credible simpler alternative.</a:t>
            </a:r>
          </a:p>
          <a:p xmlns:a="http://schemas.openxmlformats.org/drawingml/2006/main">
            <a:pPr marL="279400" indent="-152400" algn="l">
              <a:spcAft>
                <a:spcPts val="2500"/>
              </a:spcAft>
              <a:buChar char="•"/>
              <a:defRPr sz="25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project provides a reproducible classifier and a tested prediction service.</a:t>
            </a:r>
          </a:p>
          <a:p xmlns:a="http://schemas.openxmlformats.org/drawingml/2006/main">
            <a:pPr marL="279400" indent="-152400" algn="l">
              <a:spcAft>
                <a:spcPts val="2500"/>
              </a:spcAft>
              <a:buChar char="•"/>
              <a:defRPr sz="25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Next: test added value in ambiguous biopsies in a new study.</a:t>
            </a:r>
          </a:p>
        </p:txBody>
      </p:sp>
    </p:spTree>
    <p:extLst>
      <p:ext uri="{BB962C8B-B14F-4D97-AF65-F5344CB8AC3E}">
        <p14:creationId xmlns:p14="http://schemas.microsoft.com/office/powerpoint/2010/main" val="164200190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40FAD8-288E-425C-87F7-B6992D6A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measuring biopsy RNA with NanoString nCounter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815F25-AD11-44DF-B4D0-375A6FA4E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Methods; Bruker nCounter documentation; GSE212160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E2B0FD-7298-49AD-8919-26FB8C10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225F91-8C8A-4FA9-8B50-E3E6C91C9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109728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includes messages cells make when genes are active.</a:t>
            </a:r>
          </a:p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An assay is a laboratory test. B-HOT is the fixed panel of RNA types measured in this study.</a:t>
            </a:r>
          </a:p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laboratory extracts RNA from preserved tissue. Probes recognize selected RNAs, and NanoString nCounter counts their identifying barcodes.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E7B64B-8B68-4486-8646-E27E60B9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10687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Example: IFNG count = 4 in one public specimen</a:t>
            </a:r>
          </a:p>
        </p:txBody>
      </p:sp>
    </p:spTree>
    <p:extLst>
      <p:ext uri="{BB962C8B-B14F-4D97-AF65-F5344CB8AC3E}">
        <p14:creationId xmlns:p14="http://schemas.microsoft.com/office/powerpoint/2010/main" val="205913324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F0612B-DE94-4175-8248-8D5C0515E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complete primary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C6F991-59F3-4F41-BFA5-3B3727960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primary evaluation, 15 Sep 2026. Same 345 specimens.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C5B9AC-1114-41D5-AB02-7A37C801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885950"/>
          <a:ext xmlns:a="http://schemas.openxmlformats.org/drawingml/2006/main" cx="10972800" cy="3276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24100"/>
                <a:gridCol w="1295400"/>
                <a:gridCol w="1600200"/>
                <a:gridCol w="1914525"/>
                <a:gridCol w="1952625"/>
                <a:gridCol w="1885950"/>
              </a:tblGrid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Misses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False flags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Sensitivity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Specificity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ROC-AUC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25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85.2%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95.5%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0.969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Logistic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33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80.5%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95.5%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0.956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 only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75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91.7%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57.4%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0.842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Constant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176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100.0%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0.0%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0.500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AB3F5E-451E-4047-A88C-E75205E6A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Denominators: 169 rejection; 176 no rejection. Fixed thresholds per model.</a:t>
            </a:r>
          </a:p>
        </p:txBody>
      </p:sp>
    </p:spTree>
    <p:extLst>
      <p:ext uri="{BB962C8B-B14F-4D97-AF65-F5344CB8AC3E}">
        <p14:creationId xmlns:p14="http://schemas.microsoft.com/office/powerpoint/2010/main" val="26950811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822553-DB4E-4042-8465-8EC28B419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normalization and model settings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756BC0-961A-46FB-A73A-4A063BE0E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shared preprocessing; primary model configuration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F90766-B3C1-4F16-B73C-BB1E8AAA9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36A180-ED22-4A9E-855B-CBE8D77B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Normalized measurement = log₂(raw count + 1)</a:t>
            </a:r>
          </a:p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− mean of the 12 housekeeping log₂(count + 1) values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905125"/>
          <a:ext xmlns:a="http://schemas.openxmlformats.org/drawingml/2006/main" cx="1097280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8115300"/>
              </a:tblGrid>
              <a:tr h="5143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Additional preparation and settings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</a:tr>
              <a:tr h="13525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Logistic regression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Subtract each feature’s training mean, then divide by its training standard deviation. Reuse these values for later specimens.</a:t>
                      </a:r>
                    </a:p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Regularization: C = 0.1.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extra feature scaling.</a:t>
                      </a:r>
                    </a:p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300 trees, depth 4, learning rate 0.04.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389123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FD798-0153-4975-867F-16487933A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interpreting model scores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99A73F-364A-4695-939E-3BA4D3F95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reliability_bins.csv. The highlighted bin has a Wilson 95% interval. No recalibration fitted.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FF0FF8-6A4B-4CDD-AE8A-F37DEE096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8A9997-2A2C-49C8-9612-B10CB7A96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CatBoost on 345 validation specimens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561975" y="2047875"/>
          <a:ext xmlns:a="http://schemas.openxmlformats.org/drawingml/2006/main" cx="6915150" cy="37433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3d7429ce7244d72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5EB011-701D-4322-9468-A877ACD65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152650"/>
            <a:ext cx="3609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Score bin 0.8–0.9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F0FE2A-6EB5-46A9-A3C2-3254BED91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886075"/>
            <a:ext cx="360997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000"/>
              </a:spcAft>
              <a:buChar char="•"/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Mean score: 0.847</a:t>
            </a:r>
          </a:p>
          <a:p xmlns:a="http://schemas.openxmlformats.org/drawingml/2006/main">
            <a:pPr marL="279400" indent="-152400" algn="l">
              <a:spcAft>
                <a:spcPts val="2000"/>
              </a:spcAft>
              <a:buChar char="•"/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Recorded rejection: 7 / 16</a:t>
            </a:r>
          </a:p>
          <a:p xmlns:a="http://schemas.openxmlformats.org/drawingml/2006/main">
            <a:pPr marL="279400" indent="-152400" algn="l">
              <a:spcAft>
                <a:spcPts val="2000"/>
              </a:spcAft>
              <a:buChar char="•"/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Observed fraction: 43.8%
95% interval: 23.1–66.8%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887F57-0B57-4515-9AA7-39536489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95975"/>
            <a:ext cx="106870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Diagonal: score equals observed rejection fraction</a:t>
            </a:r>
          </a:p>
        </p:txBody>
      </p:sp>
    </p:spTree>
    <p:extLst>
      <p:ext uri="{BB962C8B-B14F-4D97-AF65-F5344CB8AC3E}">
        <p14:creationId xmlns:p14="http://schemas.microsoft.com/office/powerpoint/2010/main" val="197047897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99560-ADE6-4240-B05B-5AD2BCE3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rejection subtype follow-up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FCC6D7-19D8-4F1D-B348-D9F82B6BE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subtype follow-up, 15 Sep 2026. Reuses the examined validation cohort; needs independent confirmation.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C0D422-6248-43A6-8A1D-083DCED16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905000"/>
          <a:ext xmlns:a="http://schemas.openxmlformats.org/drawingml/2006/main" cx="109728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67300"/>
                <a:gridCol w="3257550"/>
                <a:gridCol w="264795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Any-rejection misses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False flags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Binary CatBoost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25 / 169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 / 176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Four-class CatBoost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29 / 169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 / 176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Four-class logistic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28 / 169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10 / 176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Separate component models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24 / 169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15 / 176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1C94F4-963B-4554-878D-1B29012F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Four-class logistic recognized 10 / 18 mixed diagnoses, with 5 false mixed calls among 327 non-mixed specimens.</a:t>
            </a:r>
          </a:p>
        </p:txBody>
      </p:sp>
    </p:spTree>
    <p:extLst>
      <p:ext uri="{BB962C8B-B14F-4D97-AF65-F5344CB8AC3E}">
        <p14:creationId xmlns:p14="http://schemas.microsoft.com/office/powerpoint/2010/main" val="182256319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E9903F-8142-4CF3-AAB2-89099711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study, assay and deployment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D2BAAD-1FAC-451D-9F5F-AC9B5AEE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Methods and Tables 5–6; primary analysis; verification guide.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9CB7BD-C082-4E98-8C0B-8D28CCE9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704975"/>
          <a:ext xmlns:a="http://schemas.openxmlformats.org/drawingml/2006/main" cx="10972800" cy="4314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67125"/>
                <a:gridCol w="7305675"/>
              </a:tblGrid>
              <a:tr h="4667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</a:t>
                      </a:r>
                    </a:p>
                  </a:txBody>
                  <a:tcPr marL="171450" marR="142875" marT="66675" marB="666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Evidence and remaining limits</a:t>
                      </a:r>
                    </a:p>
                  </a:txBody>
                  <a:tcPr marL="171450" marR="142875" marT="66675" marB="66675" anchor="ctr">
                    <a:solidFill>
                      <a:srgbClr val="16343E"/>
                    </a:solidFill>
                  </a:tcPr>
                </a:tc>
              </a:tr>
              <a:tr h="8096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Patient / center separation?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Not documented. All specimens were processed at one laboratory.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</a:tr>
              <a:tr h="8953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Study population?</a:t>
                      </a:r>
                    </a:p>
                  </a:txBody>
                  <a:tcPr marL="171450" marR="142875" marT="66675" marB="666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Includes 202 native-kidney controls.</a:t>
                      </a:r>
                    </a:p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Selected ambiguous diagnoses were excluded.</a:t>
                      </a:r>
                    </a:p>
                  </a:txBody>
                  <a:tcPr marL="171450" marR="142875" marT="66675" marB="66675" anchor="ctr">
                    <a:solidFill>
                      <a:srgbClr val="EDF3F0"/>
                    </a:solidFill>
                  </a:tcPr>
                </a:tc>
              </a:tr>
              <a:tr h="9620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Laboratory assay quality?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File checks were tested. Laboratory quality was not independently reassessed.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Individual probabilities?</a:t>
                      </a:r>
                    </a:p>
                  </a:txBody>
                  <a:tcPr marL="171450" marR="142875" marT="66675" marB="666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Score calibration remains limited.</a:t>
                      </a:r>
                    </a:p>
                  </a:txBody>
                  <a:tcPr marL="171450" marR="142875" marT="66675" marB="66675" anchor="ctr">
                    <a:solidFill>
                      <a:srgbClr val="EDF3F0"/>
                    </a:solidFill>
                  </a:tcPr>
                </a:tc>
              </a:tr>
              <a:tr h="5905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Cloud deployment?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Local container tested. Cloud work deferred.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11548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5A06C4-A759-4C53-A4D8-2396DA180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sources and contributions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83AB44-ADA5-408A-98B7-DBB50B0D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7CC38B-F026-43C7-AED0-28D1D234F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Public study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C2B90B-BEE1-44D6-8305-34FD873A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972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Zhang et al., Laboratory Investigation (2024): GSE212160 raw NanoString B-HOT measurements.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22CBA6-76D2-4D87-9232-EC2102F1E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This project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8871A0-9897-4C83-844F-5BC804748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Binary model comparisons and runs produced here, shared preparation code, and a tested local prediction service.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9D3D75-0BD3-48B2-B463-E8B55DF3B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Presentation guidance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DDD0FD-43BB-44C2-AE50-A490304E1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Bourne (2007), Kosslyn et al. (2012), Garner and Alley (2013), Rougier et al. (2014)</a:t>
            </a:r>
          </a:p>
        </p:txBody>
      </p:sp>
    </p:spTree>
    <p:extLst>
      <p:ext uri="{BB962C8B-B14F-4D97-AF65-F5344CB8AC3E}">
        <p14:creationId xmlns:p14="http://schemas.microsoft.com/office/powerpoint/2010/main" val="89167145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1135E1-4B78-4069-AA27-36AB8B0C6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UNOS research connection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D64403-055D-42C0-AE4A-0C8E9D36E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UNOS, Using AI to identify kidney anatomy issues (2 Jun 2026)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040726-BD82-40D5-8317-393F64782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9E527B-1CE1-4AA7-B584-406694F79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590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1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UNOS researchers studied anatomical issues in donor kidney photographs.</a:t>
            </a:r>
          </a:p>
          <a:p xmlns:a="http://schemas.openxmlformats.org/drawingml/2006/main">
            <a:pPr marL="279400" indent="-152400" algn="l">
              <a:spcAft>
                <a:spcPts val="21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Labels came from records of transplantation or refusal because of anatomy concerns.</a:t>
            </a:r>
          </a:p>
          <a:p xmlns:a="http://schemas.openxmlformats.org/drawingml/2006/main">
            <a:pPr marL="279400" indent="-152400" algn="l">
              <a:spcAft>
                <a:spcPts val="21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intended use is to support clinical assessment and improve consistency.</a:t>
            </a:r>
          </a:p>
          <a:p xmlns:a="http://schemas.openxmlformats.org/drawingml/2006/main">
            <a:pPr marL="279400" indent="-152400" algn="l">
              <a:spcAft>
                <a:spcPts val="21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connection: use recorded assessments to develop additional evidence for specialists.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0BD5B4-2990-4FA7-A13A-538A247C9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19750"/>
            <a:ext cx="10687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This is a different clinical task and does not validate our classifier.</a:t>
            </a:r>
          </a:p>
        </p:txBody>
      </p:sp>
    </p:spTree>
    <p:extLst>
      <p:ext uri="{BB962C8B-B14F-4D97-AF65-F5344CB8AC3E}">
        <p14:creationId xmlns:p14="http://schemas.microsoft.com/office/powerpoint/2010/main" val="17904556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2026-09-19T17:31:39.8530000Z</dcterms:created>
  <dcterms:modified xsi:type="dcterms:W3CDTF">2026-09-19T17:31:39.8530000Z</dcterms:modified>
</coreProperties>
</file>