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charts/chart1.xml" ContentType="application/vnd.openxmlformats-officedocument.drawingml.chart+xml"/>
  <Override PartName="/ppt/slides/slide13.xml" ContentType="application/vnd.openxmlformats-officedocument.presentationml.slide+xml"/>
  <Override PartName="/ppt/slides/slide14.xml" ContentType="application/vnd.openxmlformats-officedocument.presentationml.slide+xml"/>
  <Default Extension="xlsx" ContentType="application/vnd.openxmlformats-officedocument.spreadsheetml.sheet"/>
</Types>
</file>

<file path=_rels/.rels><?xml version='1.0' encoding='utf-8'?>
<Relationships xmlns="http://schemas.openxmlformats.org/package/2006/relationships"><Relationship Type="http://schemas.openxmlformats.org/package/2006/relationships/metadata/core-properties" Target="/docProps/core.xml" Id="R0ad215b7a157489c" /><Relationship Type="http://schemas.openxmlformats.org/officeDocument/2006/relationships/extended-properties" Target="/docProps/app.xml" Id="Ra4f2fc8411ee46eb" /><Relationship Type="http://schemas.openxmlformats.org/officeDocument/2006/relationships/officeDocument" Target="/ppt/presentation.xml" Id="R0564273792254938" /></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id="2147483648" r:id="Rf66096a0ca224ace"/>
  </p:sldMasterIdLst>
  <p:sldIdLst>
    <p:sldId id="256" r:id="R929541006fc24323"/>
    <p:sldId id="257" r:id="R2308b4464e3c4e1a"/>
    <p:sldId id="258" r:id="R201bcbad29c846be"/>
    <p:sldId id="259" r:id="R1bb58af00cbd417d"/>
    <p:sldId id="260" r:id="Rd9d67569632d49d9"/>
    <p:sldId id="261" r:id="Rcc4d16d8b1c2481c"/>
    <p:sldId id="262" r:id="Ra8f975ce5fa1491e"/>
    <p:sldId id="263" r:id="R6d4dc4deb0b64c6a"/>
    <p:sldId id="264" r:id="Rb6d568d672f34e11"/>
    <p:sldId id="265" r:id="R1cf8861be31d4378"/>
    <p:sldId id="266" r:id="R97a7dbaedb524ab1"/>
    <p:sldId id="267" r:id="R362554e70bdc4c83"/>
    <p:sldId id="268" r:id="R960bdb4507324ca4"/>
    <p:sldId id="269" r:id="R5e88523445fb41fb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?>
<Relationships xmlns="http://schemas.openxmlformats.org/package/2006/relationships"><Relationship Type="http://schemas.openxmlformats.org/officeDocument/2006/relationships/theme" Target="/ppt/theme/theme1.xml" Id="R21b78f833cdb43d7" /><Relationship Type="http://schemas.openxmlformats.org/officeDocument/2006/relationships/slideMaster" Target="/ppt/slideMasters/slideMaster1.xml" Id="Rf66096a0ca224ace" /><Relationship Type="http://schemas.openxmlformats.org/officeDocument/2006/relationships/presProps" Target="/ppt/presProps.xml" Id="R852bc51d3b96486c" /><Relationship Type="http://schemas.openxmlformats.org/officeDocument/2006/relationships/tableStyles" Target="/ppt/tableStyles.xml" Id="Rb0137c52eff742ab" /><Relationship Type="http://schemas.openxmlformats.org/officeDocument/2006/relationships/slide" Target="/ppt/slides/slide1.xml" Id="R929541006fc24323" /><Relationship Type="http://schemas.openxmlformats.org/officeDocument/2006/relationships/slide" Target="/ppt/slides/slide2.xml" Id="R2308b4464e3c4e1a" /><Relationship Type="http://schemas.openxmlformats.org/officeDocument/2006/relationships/slide" Target="/ppt/slides/slide3.xml" Id="R201bcbad29c846be" /><Relationship Type="http://schemas.openxmlformats.org/officeDocument/2006/relationships/slide" Target="/ppt/slides/slide4.xml" Id="R1bb58af00cbd417d" /><Relationship Type="http://schemas.openxmlformats.org/officeDocument/2006/relationships/slide" Target="/ppt/slides/slide5.xml" Id="Rd9d67569632d49d9" /><Relationship Type="http://schemas.openxmlformats.org/officeDocument/2006/relationships/slide" Target="/ppt/slides/slide6.xml" Id="Rcc4d16d8b1c2481c" /><Relationship Type="http://schemas.openxmlformats.org/officeDocument/2006/relationships/slide" Target="/ppt/slides/slide7.xml" Id="Ra8f975ce5fa1491e" /><Relationship Type="http://schemas.openxmlformats.org/officeDocument/2006/relationships/slide" Target="/ppt/slides/slide8.xml" Id="R6d4dc4deb0b64c6a" /><Relationship Type="http://schemas.openxmlformats.org/officeDocument/2006/relationships/slide" Target="/ppt/slides/slide9.xml" Id="Rb6d568d672f34e11" /><Relationship Type="http://schemas.openxmlformats.org/officeDocument/2006/relationships/slide" Target="/ppt/slides/slide10.xml" Id="R1cf8861be31d4378" /><Relationship Type="http://schemas.openxmlformats.org/officeDocument/2006/relationships/slide" Target="/ppt/slides/slide11.xml" Id="R97a7dbaedb524ab1" /><Relationship Type="http://schemas.openxmlformats.org/officeDocument/2006/relationships/slide" Target="/ppt/slides/slide12.xml" Id="R362554e70bdc4c83" /><Relationship Type="http://schemas.openxmlformats.org/officeDocument/2006/relationships/slide" Target="/ppt/slides/slide13.xml" Id="R960bdb4507324ca4" /><Relationship Type="http://schemas.openxmlformats.org/officeDocument/2006/relationships/slide" Target="/ppt/slides/slide14.xml" Id="R5e88523445fb41fb" /></Relationships>
</file>

<file path=ppt/slideLayouts/_rels/slideLayout1.xml.rels><?xml version='1.0' encoding='utf-8'?>
<Relationships xmlns="http://schemas.openxmlformats.org/package/2006/relationships"><Relationship Type="http://schemas.openxmlformats.org/officeDocument/2006/relationships/slideMaster" Target="/ppt/slideMasters/slideMaster1.xml" Id="Rd8325f425e4343e8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?>
<Relationships xmlns="http://schemas.openxmlformats.org/package/2006/relationships"><Relationship Type="http://schemas.openxmlformats.org/officeDocument/2006/relationships/theme" Target="/ppt/slideMasters/theme/theme2.xml" Id="Rf7b5daf37330475d" /><Relationship Type="http://schemas.openxmlformats.org/officeDocument/2006/relationships/slideLayout" Target="/ppt/slideLayouts/slideLayout1.xml" Id="Rcd76588cdc9b4739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d76588cdc9b4739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9a97869e96e94db6" /></Relationships>
</file>

<file path=ppt/slides/_rels/slide2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71abfbcef1b14690" /></Relationships>
</file>

<file path=ppt/slides/_rels/slide3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9b07cda5efe34161" /></Relationships>
</file>

<file path=ppt/slides/_rels/slide4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0f37fea6fbe14b11" /></Relationships>
</file>

<file path=ppt/slides/_rels/slide5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118171c0f6de44d8" /></Relationships>
</file>

<file path=ppt/slides/_rels/slide6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4031802408ae4a45" /></Relationships>
</file>

<file path=ppt/slides/_rels/slide7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8af81f14441f4e30" /></Relationships>
</file>

<file path=ppt/slides/_rels/slide8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d464d81684804b10" /></Relationships>
</file>

<file path=ppt/slides/_rels/slide9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e37504d6ccf242dd" /></Relationships>
</file>

<file path=ppt/slides/_rels/slide10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013ba88d6a1040ff" /></Relationships>
</file>

<file path=ppt/slides/_rels/slide11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307cde33faf541ae" /></Relationships>
</file>

<file path=ppt/slides/_rels/slide12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0fc60db12d354dda" /><Relationship Type="http://schemas.openxmlformats.org/officeDocument/2006/relationships/chart" Target="/ppt/slides/charts/chart1.xml" Id="R3da263465cde4fcb" /></Relationships>
</file>

<file path=ppt/slides/_rels/slide13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8f6ef2c44c5a498f" /></Relationships>
</file>

<file path=ppt/slides/_rels/slide14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a70c511367814442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Missed cases / 169</c:v>
          </c:tx>
          <c:spPr>
            <a:solidFill xmlns:a="http://schemas.openxmlformats.org/drawingml/2006/main">
              <a:srgbClr val="B55730"/>
            </a:solidFill>
          </c:spPr>
          <c:cat>
            <c:strRef>
              <c:f>'Chart Data'!$A$2:$A$4</c:f>
              <c:strCache>
                <c:ptCount val="3"/>
                <c:pt idx="0">
                  <c:v>IFNG only (Logistic regression)</c:v>
                </c:pt>
                <c:pt idx="1">
                  <c:v>All RNA (Logistic Regression)</c:v>
                </c:pt>
                <c:pt idx="2">
                  <c:v>CatBoost</c:v>
                </c:pt>
              </c:strCache>
            </c:strRef>
          </c:cat>
          <c:val>
            <c:numRef>
              <c:f>'Chart Data'!$B$2:$B$4</c:f>
              <c:numCache>
                <c:formatCode>General</c:formatCode>
                <c:ptCount val="3"/>
                <c:pt idx="0">
                  <c:v>14</c:v>
                </c:pt>
                <c:pt idx="1">
                  <c:v>33</c:v>
                </c:pt>
                <c:pt idx="2">
                  <c:v>25</c:v>
                </c:pt>
              </c:numCache>
            </c:numRef>
          </c:val>
        </c:ser>
        <c:ser>
          <c:idx val="1"/>
          <c:order val="1"/>
          <c:tx>
            <c:v>Incorrect flags / 176</c:v>
          </c:tx>
          <c:spPr>
            <a:solidFill xmlns:a="http://schemas.openxmlformats.org/drawingml/2006/main">
              <a:srgbClr val="007C78"/>
            </a:solidFill>
          </c:spPr>
          <c:cat>
            <c:strRef>
              <c:f>'Chart Data'!$C$2:$C$4</c:f>
              <c:strCache>
                <c:ptCount val="3"/>
                <c:pt idx="0">
                  <c:v>IFNG only (Logistic regression)</c:v>
                </c:pt>
                <c:pt idx="1">
                  <c:v>All RNA (Logistic Regression)</c:v>
                </c:pt>
                <c:pt idx="2">
                  <c:v>CatBoost</c:v>
                </c:pt>
              </c:strCache>
            </c:strRef>
          </c:cat>
          <c:val>
            <c:numRef>
              <c:f>'Chart Data'!$D$2:$D$4</c:f>
              <c:numCache>
                <c:formatCode>General</c:formatCode>
                <c:ptCount val="3"/>
                <c:pt idx="0">
                  <c:v>75</c:v>
                </c:pt>
                <c:pt idx="1">
                  <c:v>8</c:v>
                </c:pt>
                <c:pt idx="2">
                  <c:v>8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875" b="1">
                  <a:solidFill>
                    <a:srgbClr val="16343E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9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  <c:max val="80"/>
          <c:min val="0"/>
        </c:scaling>
        <c:delete val="0"/>
        <c:axPos val="b"/>
        <c:majorGridlines>
          <c:spPr>
            <a:ln xmlns:a="http://schemas.openxmlformats.org/drawingml/2006/main" w="9525">
              <a:solidFill>
                <a:srgbClr val="CEDBD7"/>
              </a:solidFill>
            </a:ln>
          </c:spPr>
        </c:majorGridlines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  <c:majorUnit val="20"/>
      </c:valAx>
      <c:spPr>
        <a:solidFill xmlns:a="http://schemas.openxmlformats.org/drawingml/2006/main">
          <a:srgbClr val="F7F8F5"/>
        </a:solidFill>
      </c:spPr>
    </c:plotArea>
    <c:plotVisOnly val="1"/>
  </c:chart>
  <c:spPr>
    <a:solidFill xmlns:a="http://schemas.openxmlformats.org/drawingml/2006/main">
      <a:srgbClr val="F7F8F5"/>
    </a:solidFill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6343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BEBBD3D-FF57-4B8D-B446-1D3FCF669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24025"/>
            <a:ext cx="10972800" cy="3028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5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52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Classifying Kidney</a:t>
            </a:r>
          </a:p>
          <a:p xmlns:a="http://schemas.openxmlformats.org/drawingml/2006/main">
            <a:pPr algn="l">
              <a:defRPr sz="5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52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Transplant Rejection</a:t>
            </a:r>
          </a:p>
          <a:p xmlns:a="http://schemas.openxmlformats.org/drawingml/2006/main">
            <a:pPr algn="l">
              <a:defRPr sz="5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52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from Biopsy RNA</a:t>
            </a:r>
          </a:p>
        </p:txBody>
      </p:sp>
    </p:spTree>
    <p:extLst>
      <p:ext uri="{BB962C8B-B14F-4D97-AF65-F5344CB8AC3E}">
        <p14:creationId xmlns:p14="http://schemas.microsoft.com/office/powerpoint/2010/main" val="24273394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07D6D15-6760-4258-B568-E5D44FFC7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Transplant rejection and kidney biopsy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9D74DD0-31A8-4B4A-90CC-9C4CEEB45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Sources: NIDDK, Kidney Transplant and Kidney Biopsy; Zhang et al. (2024)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ECCAD31-B16F-4E7B-A383-1369A18B6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931218D-E9EB-4B22-BE44-3B682E99A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5925"/>
            <a:ext cx="10972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marL="279400" indent="-152400" algn="l">
              <a:spcAft>
                <a:spcPts val="0"/>
              </a:spcAft>
              <a:buChar char="•"/>
              <a:defRPr sz="255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b="1"/>
              <a:t>Rejection: </a:t>
            </a:r>
            <a:r>
              <a:t>The recipient’s immune system attacks the donated kidney.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6D9F45F-48A1-4696-B7A4-97DC2961C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47925"/>
            <a:ext cx="10972800" cy="885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marL="279400" indent="-152400" algn="l">
              <a:spcAft>
                <a:spcPts val="0"/>
              </a:spcAft>
              <a:buChar char="•"/>
              <a:defRPr sz="255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b="1"/>
              <a:t>Kidney biopsy: </a:t>
            </a:r>
            <a:r>
              <a:t>A small tissue sample collected from the kidney for examination.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C701502-21B5-4E84-B84F-DFB545703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" y="3590925"/>
            <a:ext cx="1052512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marL="279400" indent="-152400" algn="l">
              <a:spcAft>
                <a:spcPts val="0"/>
              </a:spcAft>
              <a:buChar char="•"/>
              <a:defRPr sz="240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b="1"/>
              <a:t>Histology: </a:t>
            </a:r>
            <a:r>
              <a:t>A microscopic examination that reveals injury and inflammation, which can support a rejection diagnosis.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C41AA78-848E-4EDD-875A-99A399A88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" y="4695825"/>
            <a:ext cx="10525125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marL="279400" indent="-152400" algn="l">
              <a:spcAft>
                <a:spcPts val="0"/>
              </a:spcAft>
              <a:buChar char="•"/>
              <a:defRPr sz="240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b="1"/>
              <a:t>Molecular measurements: </a:t>
            </a:r>
            <a:r>
              <a:t>Counts of selected RNA types that reflect gene activity in the mix of cells in the tissue.</a:t>
            </a:r>
          </a:p>
        </p:txBody>
      </p:sp>
    </p:spTree>
    <p:extLst>
      <p:ext uri="{BB962C8B-B14F-4D97-AF65-F5344CB8AC3E}">
        <p14:creationId xmlns:p14="http://schemas.microsoft.com/office/powerpoint/2010/main" val="57664832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5934B30-F0D9-4634-99E9-5D41D0BCD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Purpose of this project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E92FD7A-7429-46F5-8A5C-F8389A405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Clinical rationale: Zhang et al. (2024), Discussion, p. 13; KDIGO (2009).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5846C47-60FF-4427-8686-BE4737896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BEC1414-65CA-47D9-A074-6BB7E4BD3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621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0">
                <a:solidFill>
                  <a:srgbClr val="007C78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007C78"/>
                </a:solidFill>
                <a:latin typeface="Arial"/>
                <a:ea typeface="Arial"/>
                <a:cs typeface="Arial"/>
              </a:rPr>
              <a:t>Whether rejection is present can affect decisions about further treatment to suppress the immune system.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DECC472-940E-4CE8-B89C-7C3954F78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81275"/>
            <a:ext cx="109728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475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Model comparison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0EE228C-BE5E-4BDD-BD93-6BBACDF88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0"/>
            <a:ext cx="109728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How do logistic regression and CatBoost compare in classifying any recorded rejection versus no rejection from B-HOT biopsy RNA, particularly in missed cases and incorrect flags?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AE21BE2-29CC-4A5A-9CDA-B64A52211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57700"/>
            <a:ext cx="109728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475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Software engineering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1AEE26C-CD1C-4939-BF39-5001777D8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24425"/>
            <a:ext cx="109728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Make preprocessing, training and evaluation reproducible. Build a tested scoring service and prototype application that let a user submit a specimen’s RNA counts and inspect its model score, threshold and rejection flag.</a:t>
            </a:r>
          </a:p>
        </p:txBody>
      </p:sp>
    </p:spTree>
    <p:extLst>
      <p:ext uri="{BB962C8B-B14F-4D97-AF65-F5344CB8AC3E}">
        <p14:creationId xmlns:p14="http://schemas.microsoft.com/office/powerpoint/2010/main" val="196979115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2EA8BD4-567E-42E6-8B21-0CCAEA123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Clinical and research context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EE745EA-253C-422C-97CB-B7815CA79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Sources: Banff Reference Guide (2026); Zhang et al. (2024); KDIGO (2009), recommendation 6.1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D5F84BD-7FF1-4705-8C4D-02D9BF771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E1FA940-A8DE-4AC7-BB31-725533C90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26098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Banff diagnostic</a:t>
            </a:r>
          </a:p>
          <a:p xmlns:a="http://schemas.openxmlformats.org/drawingml/2006/main">
            <a:pPr algn="l">
              <a:defRPr sz="2175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framework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930EE56-988B-4564-884E-DBC4AB703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1619250"/>
            <a:ext cx="81057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Validated biopsy transcript tests have a defined role</a:t>
            </a:r>
          </a:p>
          <a:p xmlns:a="http://schemas.openxmlformats.org/drawingml/2006/main">
            <a:pPr algn="l">
              <a:defRPr sz="225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in antibody-mediated rejection assessment.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E1314FF-6E04-417B-B2B9-9DBE59EA7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86050"/>
            <a:ext cx="10972800" cy="0"/>
          </a:xfrm>
          <a:prstGeom xmlns:a="http://schemas.openxmlformats.org/drawingml/2006/main" prst="line">
            <a:avLst/>
          </a:prstGeom>
          <a:ln xmlns:a="http://schemas.openxmlformats.org/drawingml/2006/main" w="11430">
            <a:solidFill>
              <a:srgbClr val="CEDBD7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C4F0B82-946A-4EE2-AE29-C0DCE4AD2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52750"/>
            <a:ext cx="26098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Published B-HOT study</a:t>
            </a:r>
          </a:p>
          <a:p xmlns:a="http://schemas.openxmlformats.org/drawingml/2006/main">
            <a:pPr algn="l">
              <a:defRPr sz="2175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Zhang, 2024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40F2441-A8B9-4EC8-A6D9-5FD1406CB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2857500"/>
            <a:ext cx="8105775" cy="1076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Four-class study compared regression and boosting.</a:t>
            </a:r>
          </a:p>
          <a:p xmlns:a="http://schemas.openxmlformats.org/drawingml/2006/main">
            <a:pPr algn="l">
              <a:defRPr sz="225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Selected LASSO for similar accuracy with fewer features.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D016587-C6EC-49F3-9637-80C59F73B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24325"/>
            <a:ext cx="10972800" cy="0"/>
          </a:xfrm>
          <a:prstGeom xmlns:a="http://schemas.openxmlformats.org/drawingml/2006/main" prst="line">
            <a:avLst/>
          </a:prstGeom>
          <a:ln xmlns:a="http://schemas.openxmlformats.org/drawingml/2006/main" w="11430">
            <a:solidFill>
              <a:srgbClr val="CEDBD7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1C1D718-297A-4983-857E-1F06CBED0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33875"/>
            <a:ext cx="260985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Biopsy and</a:t>
            </a:r>
          </a:p>
          <a:p xmlns:a="http://schemas.openxmlformats.org/drawingml/2006/main">
            <a:pPr algn="l">
              <a:defRPr sz="2175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treatment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6D42D15-2713-4648-B87C-EB6D27CC9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4267200"/>
            <a:ext cx="8105775" cy="1438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KDIGO recommends biopsy before treating acute rejection,</a:t>
            </a:r>
          </a:p>
          <a:p xmlns:a="http://schemas.openxmlformats.org/drawingml/2006/main">
            <a:pPr algn="l">
              <a:defRPr sz="225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unless waiting would substantially delay treatment.</a:t>
            </a:r>
          </a:p>
        </p:txBody>
      </p:sp>
    </p:spTree>
    <p:extLst>
      <p:ext uri="{BB962C8B-B14F-4D97-AF65-F5344CB8AC3E}">
        <p14:creationId xmlns:p14="http://schemas.microsoft.com/office/powerpoint/2010/main" val="160506881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FFEEA99-7895-493F-82FF-602E7F1DE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What the dataset contains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DC8F077-CB97-4C17-AC00-7D575BB4C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Sources: GSE212160; Zhang et al. (2024), Methods and Tables 5–6; project data reader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8F199D6-06F7-455C-8D60-19022D342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3E6BE25-2195-4D2D-BC20-96E59029A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71625"/>
            <a:ext cx="10972800" cy="771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475" b="0">
                <a:solidFill>
                  <a:srgbClr val="007C78"/>
                </a:solidFill>
                <a:latin typeface="Arial"/>
                <a:ea typeface="Arial"/>
                <a:cs typeface="Arial"/>
              </a:defRPr>
            </a:pPr>
            <a:r>
              <a:rPr sz="2475" b="0">
                <a:solidFill>
                  <a:srgbClr val="007C78"/>
                </a:solidFill>
                <a:latin typeface="Arial"/>
                <a:ea typeface="Arial"/>
                <a:cs typeface="Arial"/>
              </a:rPr>
              <a:t>1,395 biopsy specimens, with one row per specimen in each table.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AF2C263-4C1E-4FAF-8065-852797ED0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43150"/>
            <a:ext cx="47815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RNA counts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511355A-654B-41DA-8F42-A46D1EFB3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2343150"/>
            <a:ext cx="47625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Specimen information</a:t>
            </a:r>
          </a:p>
        </p:txBody>
      </p:sp>
      <p:graphicFrame>
        <p:nvGraphicFramePr>
          <p:cNvPr id="19" name=""/>
          <p:cNvGraphicFramePr/>
          <p:nvPr/>
        </p:nvGraphicFramePr>
        <p:xfrm>
          <a:off xmlns:a="http://schemas.openxmlformats.org/drawingml/2006/main" x="609600" y="2990850"/>
          <a:ext xmlns:a="http://schemas.openxmlformats.org/drawingml/2006/main" cx="4781550" cy="22764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524125"/>
                <a:gridCol w="2257425"/>
              </a:tblGrid>
              <a:tr h="45529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Column</a:t>
                      </a:r>
                    </a:p>
                  </a:txBody>
                  <a:tcPr marL="171450" marR="142875" marT="57150" marB="57150" anchor="ctr">
                    <a:solidFill>
                      <a:srgbClr val="16343E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Example</a:t>
                      </a:r>
                    </a:p>
                  </a:txBody>
                  <a:tcPr marL="171450" marR="142875" marT="57150" marB="57150" anchor="ctr">
                    <a:solidFill>
                      <a:srgbClr val="16343E"/>
                    </a:solidFill>
                  </a:tcPr>
                </a:tc>
              </a:tr>
              <a:tr h="45529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Specimen ID (key)</a:t>
                      </a:r>
                    </a:p>
                  </a:txBody>
                  <a:tcPr marL="171450" marR="142875" marT="57150" marB="5715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GSM6510425</a:t>
                      </a:r>
                    </a:p>
                  </a:txBody>
                  <a:tcPr marL="171450" marR="142875" marT="57150" marB="57150" anchor="ctr">
                    <a:solidFill>
                      <a:srgbClr val="FFFFFF"/>
                    </a:solidFill>
                  </a:tcPr>
                </a:tc>
              </a:tr>
              <a:tr h="45529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IFNG</a:t>
                      </a:r>
                    </a:p>
                  </a:txBody>
                  <a:tcPr marL="171450" marR="142875" marT="57150" marB="57150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171450" marR="142875" marT="57150" marB="57150" anchor="ctr">
                    <a:solidFill>
                      <a:srgbClr val="EDF3F0"/>
                    </a:solidFill>
                  </a:tcPr>
                </a:tc>
              </a:tr>
              <a:tr h="45529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GUSB (reference)</a:t>
                      </a:r>
                    </a:p>
                  </a:txBody>
                  <a:tcPr marL="171450" marR="142875" marT="57150" marB="5715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260</a:t>
                      </a:r>
                    </a:p>
                  </a:txBody>
                  <a:tcPr marL="171450" marR="142875" marT="57150" marB="57150" anchor="ctr">
                    <a:solidFill>
                      <a:srgbClr val="FFFFFF"/>
                    </a:solidFill>
                  </a:tcPr>
                </a:tc>
              </a:tr>
              <a:tr h="45529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Other RNA counts</a:t>
                      </a:r>
                    </a:p>
                  </a:txBody>
                  <a:tcPr marL="171450" marR="142875" marT="57150" marB="57150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…</a:t>
                      </a:r>
                    </a:p>
                  </a:txBody>
                  <a:tcPr marL="171450" marR="142875" marT="57150" marB="57150" anchor="ctr">
                    <a:solidFill>
                      <a:srgbClr val="EDF3F0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0" name=""/>
          <p:cNvGraphicFramePr/>
          <p:nvPr/>
        </p:nvGraphicFramePr>
        <p:xfrm>
          <a:off xmlns:a="http://schemas.openxmlformats.org/drawingml/2006/main" x="6819900" y="2990850"/>
          <a:ext xmlns:a="http://schemas.openxmlformats.org/drawingml/2006/main" cx="4762500" cy="22764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571750"/>
                <a:gridCol w="2190750"/>
              </a:tblGrid>
              <a:tr h="45529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Column</a:t>
                      </a:r>
                    </a:p>
                  </a:txBody>
                  <a:tcPr marL="171450" marR="142875" marT="57150" marB="57150" anchor="ctr">
                    <a:solidFill>
                      <a:srgbClr val="16343E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Example</a:t>
                      </a:r>
                    </a:p>
                  </a:txBody>
                  <a:tcPr marL="171450" marR="142875" marT="57150" marB="57150" anchor="ctr">
                    <a:solidFill>
                      <a:srgbClr val="16343E"/>
                    </a:solidFill>
                  </a:tcPr>
                </a:tc>
              </a:tr>
              <a:tr h="45529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Specimen ID (key)</a:t>
                      </a:r>
                    </a:p>
                  </a:txBody>
                  <a:tcPr marL="171450" marR="142875" marT="57150" marB="5715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GSM6510425</a:t>
                      </a:r>
                    </a:p>
                  </a:txBody>
                  <a:tcPr marL="171450" marR="142875" marT="57150" marB="57150" anchor="ctr">
                    <a:solidFill>
                      <a:srgbClr val="FFFFFF"/>
                    </a:solidFill>
                  </a:tcPr>
                </a:tc>
              </a:tr>
              <a:tr h="45529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Recorded diagnosis</a:t>
                      </a:r>
                    </a:p>
                  </a:txBody>
                  <a:tcPr marL="171450" marR="142875" marT="57150" marB="57150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No rejection</a:t>
                      </a:r>
                    </a:p>
                  </a:txBody>
                  <a:tcPr marL="171450" marR="142875" marT="57150" marB="57150" anchor="ctr">
                    <a:solidFill>
                      <a:srgbClr val="EDF3F0"/>
                    </a:solidFill>
                  </a:tcPr>
                </a:tc>
              </a:tr>
              <a:tr h="45529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Study group</a:t>
                      </a:r>
                    </a:p>
                  </a:txBody>
                  <a:tcPr marL="171450" marR="142875" marT="57150" marB="5715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Discovery</a:t>
                      </a:r>
                    </a:p>
                  </a:txBody>
                  <a:tcPr marL="171450" marR="142875" marT="57150" marB="57150" anchor="ctr">
                    <a:solidFill>
                      <a:srgbClr val="FFFFFF"/>
                    </a:solidFill>
                  </a:tcPr>
                </a:tc>
              </a:tr>
              <a:tr h="45529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Other details</a:t>
                      </a:r>
                    </a:p>
                  </a:txBody>
                  <a:tcPr marL="171450" marR="142875" marT="57150" marB="57150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…</a:t>
                      </a:r>
                    </a:p>
                  </a:txBody>
                  <a:tcPr marL="171450" marR="142875" marT="57150" marB="57150" anchor="ctr">
                    <a:solidFill>
                      <a:srgbClr val="EDF3F0"/>
                    </a:solidFill>
                  </a:tcPr>
                </a:tc>
              </a:tr>
            </a:tbl>
          </a:graphicData>
        </a:graphic>
      </p:graphicFrame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88C2C4E-09BE-4CF7-BD35-F4423CCC1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3676650"/>
            <a:ext cx="1428750" cy="0"/>
          </a:xfrm>
          <a:prstGeom xmlns:a="http://schemas.openxmlformats.org/drawingml/2006/main" prst="line">
            <a:avLst/>
          </a:prstGeom>
          <a:ln xmlns:a="http://schemas.openxmlformats.org/drawingml/2006/main" w="11430">
            <a:solidFill>
              <a:srgbClr val="52656B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3569A82-3E21-4090-B39A-C00992A0C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3276600"/>
            <a:ext cx="1276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1 : 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4CF6F7B-55CA-4EA2-AB82-C8C924E7B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3752850"/>
            <a:ext cx="12763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Same ID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3FB9634-0DAC-4D08-AA89-A2FD0E6B0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67350"/>
            <a:ext cx="109728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marL="279400" indent="-152400" algn="l">
              <a:spcAft>
                <a:spcPts val="800"/>
              </a:spcAft>
              <a:buChar char="•"/>
              <a:defRPr sz="187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Includes 1,193 transplant biopsies and 202 native-kidney controls.</a:t>
            </a:r>
          </a:p>
          <a:p xmlns:a="http://schemas.openxmlformats.org/drawingml/2006/main">
            <a:pPr marL="279400" indent="-152400" algn="l">
              <a:spcAft>
                <a:spcPts val="800"/>
              </a:spcAft>
              <a:buChar char="•"/>
              <a:defRPr sz="187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The study does not document separation by patient or referring center between study groups.</a:t>
            </a:r>
          </a:p>
        </p:txBody>
      </p:sp>
    </p:spTree>
    <p:extLst>
      <p:ext uri="{BB962C8B-B14F-4D97-AF65-F5344CB8AC3E}">
        <p14:creationId xmlns:p14="http://schemas.microsoft.com/office/powerpoint/2010/main" val="23660218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0CC7029-DBD2-4BD1-8F4E-DAFB09B04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Outcome: rejection versus no rejection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66AF794-AF5D-4C8D-A9FF-9BDFDC5A7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Sources: Zhang et al. (2024), Tables 5–6 and Discussion, p. 11; project diagnosis mapping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271DA19-0206-4445-BAAF-AF64750E6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3943C6D-ACF7-43F6-AC3A-7E789F520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8115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0">
                <a:solidFill>
                  <a:srgbClr val="007C78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007C78"/>
                </a:solidFill>
                <a:latin typeface="Arial"/>
                <a:ea typeface="Arial"/>
                <a:cs typeface="Arial"/>
              </a:rPr>
              <a:t>The model combines the three rejection categories in the public dataset.</a:t>
            </a:r>
          </a:p>
        </p:txBody>
      </p:sp>
      <p:graphicFrame>
        <p:nvGraphicFramePr>
          <p:cNvPr id="11" name=""/>
          <p:cNvGraphicFramePr/>
          <p:nvPr/>
        </p:nvGraphicFramePr>
        <p:xfrm>
          <a:off xmlns:a="http://schemas.openxmlformats.org/drawingml/2006/main" x="609600" y="2428875"/>
          <a:ext xmlns:a="http://schemas.openxmlformats.org/drawingml/2006/main" cx="10972800" cy="30956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619625"/>
                <a:gridCol w="3876675"/>
                <a:gridCol w="2476500"/>
              </a:tblGrid>
              <a:tr h="619125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Recorded diagnosis</a:t>
                      </a:r>
                    </a:p>
                  </a:txBody>
                  <a:tcPr marL="171450" marR="142875" marT="104775" marB="104775" anchor="ctr">
                    <a:solidFill>
                      <a:srgbClr val="16343E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Meaning</a:t>
                      </a:r>
                    </a:p>
                  </a:txBody>
                  <a:tcPr marL="171450" marR="142875" marT="104775" marB="104775" anchor="ctr">
                    <a:solidFill>
                      <a:srgbClr val="16343E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Model label</a:t>
                      </a:r>
                    </a:p>
                  </a:txBody>
                  <a:tcPr marL="171450" marR="142875" marT="104775" marB="104775" anchor="ctr">
                    <a:solidFill>
                      <a:srgbClr val="16343E"/>
                    </a:solidFill>
                  </a:tcPr>
                </a:tc>
              </a:tr>
              <a:tr h="619125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Antibody-mediated rejection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Antibodies: immune proteins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Rejection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</a:tr>
              <a:tr h="619125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T-cell-mediated rejection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T cells: immune cells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Rejection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</a:tr>
              <a:tr h="619125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Mixed rejection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Both rejection processes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Rejection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</a:tr>
              <a:tr h="619125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No rejection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No recorded rejection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No rejection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5C8D265-FF69-4251-8FAC-327D61325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95950"/>
            <a:ext cx="10972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The authors excluded some diagnostic categories from the dataset.</a:t>
            </a:r>
          </a:p>
        </p:txBody>
      </p:sp>
    </p:spTree>
    <p:extLst>
      <p:ext uri="{BB962C8B-B14F-4D97-AF65-F5344CB8AC3E}">
        <p14:creationId xmlns:p14="http://schemas.microsoft.com/office/powerpoint/2010/main" val="1234190895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8EBFF8C-0834-42BA-B300-F390843BD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The measurements used to build the features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3BBC085-BA2A-4D9D-BA07-47E350E56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Sources: GSE212160; B-HOT panel consensus; NanoString analysis guidance; shared preprocessing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60C0861-B6EF-4E1C-A108-AD67D84D8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5EDFDBA-3564-4A63-8C00-1DE1BFCB1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10972800" cy="771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0">
                <a:solidFill>
                  <a:srgbClr val="007C78"/>
                </a:solidFill>
                <a:latin typeface="Arial"/>
                <a:ea typeface="Arial"/>
                <a:cs typeface="Arial"/>
              </a:defRPr>
            </a:pPr>
            <a:r>
              <a:rPr sz="2550" b="0">
                <a:solidFill>
                  <a:srgbClr val="007C78"/>
                </a:solidFill>
                <a:latin typeface="Arial"/>
                <a:ea typeface="Arial"/>
                <a:cs typeface="Arial"/>
              </a:rPr>
              <a:t>770 RNA counts per specimen, one for each RNA type measured.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41C30C9-716D-477C-A244-18084488CB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62225"/>
            <a:ext cx="50958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480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480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758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0E69EE8-F983-4063-AAF0-7A6651410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43275"/>
            <a:ext cx="509587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Model measurements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3F714A9-1B3D-401C-944A-BCD59409C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05250"/>
            <a:ext cx="5143500" cy="2228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marL="279400" indent="-152400" algn="l">
              <a:spcAft>
                <a:spcPts val="1000"/>
              </a:spcAft>
              <a:buChar char="•"/>
              <a:defRPr sz="217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Selected human and viral RNA measurements.</a:t>
            </a:r>
          </a:p>
          <a:p xmlns:a="http://schemas.openxmlformats.org/drawingml/2006/main">
            <a:pPr marL="279400" indent="-152400" algn="l">
              <a:spcAft>
                <a:spcPts val="1000"/>
              </a:spcAft>
              <a:buChar char="•"/>
              <a:defRPr sz="217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Signals reflect gene activity and the mixture of cells in the biopsy.</a:t>
            </a:r>
          </a:p>
          <a:p xmlns:a="http://schemas.openxmlformats.org/drawingml/2006/main">
            <a:pPr marL="279400" indent="-152400" algn="l">
              <a:spcAft>
                <a:spcPts val="1000"/>
              </a:spcAft>
              <a:buChar char="•"/>
              <a:defRPr sz="217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Normalized values become the model’s inputs.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7571F6C-10AA-4653-9B64-16799E845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3675" y="2562225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480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480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3E4AF80-47EB-493E-9C43-CD8A53732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3675" y="3343275"/>
            <a:ext cx="503872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Housekeeping references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4BF9274-2889-4216-8431-552A365E4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3675" y="3905250"/>
            <a:ext cx="5038725" cy="2228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marL="279400" indent="-152400" algn="l">
              <a:spcAft>
                <a:spcPts val="1000"/>
              </a:spcAft>
              <a:buChar char="•"/>
              <a:defRPr sz="217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Relatively stable RNAs provide a reference for each specimen.</a:t>
            </a:r>
          </a:p>
          <a:p xmlns:a="http://schemas.openxmlformats.org/drawingml/2006/main">
            <a:pPr marL="279400" indent="-152400" algn="l">
              <a:spcAft>
                <a:spcPts val="1000"/>
              </a:spcAft>
              <a:buChar char="•"/>
              <a:defRPr sz="217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Help adjust for differences in overall measurable RNA input.</a:t>
            </a:r>
          </a:p>
          <a:p xmlns:a="http://schemas.openxmlformats.org/drawingml/2006/main">
            <a:pPr marL="279400" indent="-152400" algn="l">
              <a:spcAft>
                <a:spcPts val="1000"/>
              </a:spcAft>
              <a:buChar char="•"/>
              <a:defRPr sz="217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Used for normalization, then excluded from the model.</a:t>
            </a:r>
          </a:p>
        </p:txBody>
      </p:sp>
    </p:spTree>
    <p:extLst>
      <p:ext uri="{BB962C8B-B14F-4D97-AF65-F5344CB8AC3E}">
        <p14:creationId xmlns:p14="http://schemas.microsoft.com/office/powerpoint/2010/main" val="1957838437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66EDA1E-EDDF-4B16-AFEA-5EF77DCE7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Preparing counts for the model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7E28662-F24A-4C4E-AADC-51C1F7C3E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Source: shared preprocessing; public specimen GSM6510425. Values rounded for display.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3498D4E-79A7-4E97-AE3F-8460403ED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graphicFrame>
        <p:nvGraphicFramePr>
          <p:cNvPr id="8" name=""/>
          <p:cNvGraphicFramePr/>
          <p:nvPr/>
        </p:nvGraphicFramePr>
        <p:xfrm>
          <a:off xmlns:a="http://schemas.openxmlformats.org/drawingml/2006/main" x="609600" y="1743075"/>
          <a:ext xmlns:a="http://schemas.openxmlformats.org/drawingml/2006/main" cx="10972800" cy="31718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7677150"/>
                <a:gridCol w="3295650"/>
              </a:tblGrid>
              <a:tr h="634365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For each of the 758 RNA counts</a:t>
                      </a:r>
                    </a:p>
                  </a:txBody>
                  <a:tcPr marL="171450" marR="142875" marT="104775" marB="104775" anchor="ctr">
                    <a:solidFill>
                      <a:srgbClr val="16343E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IFNG example</a:t>
                      </a:r>
                    </a:p>
                  </a:txBody>
                  <a:tcPr marL="171450" marR="142875" marT="104775" marB="104775" anchor="ctr">
                    <a:solidFill>
                      <a:srgbClr val="16343E"/>
                    </a:solidFill>
                  </a:tcPr>
                </a:tc>
              </a:tr>
              <a:tr h="634365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1. Start with the raw count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</a:tr>
              <a:tr h="634365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2. Calculate log₂(count + 1)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2.322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</a:tr>
              <a:tr h="634365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3. Average log₂(count + 1) for the 12 reference RNAs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7.900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</a:tr>
              <a:tr h="634365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4. Subtract that reference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2.322 − 7.900 = −5.578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11100645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56EC34A-E9FC-40BA-8771-D6C8C48BC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Development and evaluation specimens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30DA7C5-1BC6-4E16-8142-28AF8DAB5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Sources: Zhang et al. (2024), Methods; saved project split, seed 20260915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FF541F2-F367-4B39-BB7F-A8FEBA119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4E7D227-A067-4EF1-80C9-203094F68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81150"/>
            <a:ext cx="109728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marL="279400" indent="-152400" algn="l">
              <a:spcAft>
                <a:spcPts val="1300"/>
              </a:spcAft>
              <a:buChar char="•"/>
              <a:defRPr sz="232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I used the authors’ two study groups: discovery and validation cohorts.</a:t>
            </a:r>
          </a:p>
          <a:p xmlns:a="http://schemas.openxmlformats.org/drawingml/2006/main">
            <a:pPr marL="279400" indent="-152400" algn="l">
              <a:spcAft>
                <a:spcPts val="1300"/>
              </a:spcAft>
              <a:buChar char="•"/>
              <a:defRPr sz="232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My training / screening split kept diagnosis proportions similar.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78D17B2-0AE0-422F-A42E-1F25CD1EF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67050"/>
            <a:ext cx="6657975" cy="981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FEB"/>
          </a:solidFill>
          <a:ln xmlns:a="http://schemas.openxmlformats.org/drawingml/2006/main" w="9525">
            <a:solidFill>
              <a:srgbClr val="CEDBD7"/>
            </a:solidFill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475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475">
                <a:solidFill>
                  <a:srgbClr val="16343E"/>
                </a:solidFill>
                <a:latin typeface="Arial"/>
                <a:ea typeface="Arial"/>
                <a:cs typeface="Arial"/>
              </a:rPr>
              <a:t>Discovery Cohort</a:t>
            </a:r>
          </a:p>
          <a:p xmlns:a="http://schemas.openxmlformats.org/drawingml/2006/main">
            <a:pPr algn="ctr">
              <a:defRPr sz="2475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475">
                <a:solidFill>
                  <a:srgbClr val="16343E"/>
                </a:solidFill>
                <a:latin typeface="Arial"/>
                <a:ea typeface="Arial"/>
                <a:cs typeface="Arial"/>
              </a:rPr>
              <a:t>1,050 specimens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B69B962-E85B-458A-AE49-512F74500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24400"/>
            <a:ext cx="30099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FEB"/>
          </a:solidFill>
          <a:ln xmlns:a="http://schemas.openxmlformats.org/drawingml/2006/main" w="9525">
            <a:solidFill>
              <a:srgbClr val="CEDBD7"/>
            </a:solidFill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325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325">
                <a:solidFill>
                  <a:srgbClr val="16343E"/>
                </a:solidFill>
                <a:latin typeface="Arial"/>
                <a:ea typeface="Arial"/>
                <a:cs typeface="Arial"/>
              </a:rPr>
              <a:t>Training: 787</a:t>
            </a:r>
          </a:p>
          <a:p xmlns:a="http://schemas.openxmlformats.org/drawingml/2006/main">
            <a:pPr algn="ctr">
              <a:defRPr sz="2325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325">
                <a:solidFill>
                  <a:srgbClr val="16343E"/>
                </a:solidFill>
                <a:latin typeface="Arial"/>
                <a:ea typeface="Arial"/>
                <a:cs typeface="Arial"/>
              </a:rPr>
              <a:t>Fit the models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85FE899-28F4-4E79-A455-98A1CFFDB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4724400"/>
            <a:ext cx="317182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FEB"/>
          </a:solidFill>
          <a:ln xmlns:a="http://schemas.openxmlformats.org/drawingml/2006/main" w="9525">
            <a:solidFill>
              <a:srgbClr val="CEDBD7"/>
            </a:solidFill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75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75">
                <a:solidFill>
                  <a:srgbClr val="16343E"/>
                </a:solidFill>
                <a:latin typeface="Arial"/>
                <a:ea typeface="Arial"/>
                <a:cs typeface="Arial"/>
              </a:rPr>
              <a:t>Screening: 263</a:t>
            </a:r>
          </a:p>
          <a:p xmlns:a="http://schemas.openxmlformats.org/drawingml/2006/main">
            <a:pPr algn="ctr">
              <a:defRPr sz="2175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75">
                <a:solidFill>
                  <a:srgbClr val="16343E"/>
                </a:solidFill>
                <a:latin typeface="Arial"/>
                <a:ea typeface="Arial"/>
                <a:cs typeface="Arial"/>
              </a:rPr>
              <a:t>Choose model and threshold</a:t>
            </a:r>
          </a:p>
        </p:txBody>
      </p:sp>
      <p:cxnSp>
        <p:nvCxnSpPr>
          <p:cNvPr id="18" name=""/>
          <p:cNvCxnSpPr>
            <a:stCxn xmlns:a="http://schemas.openxmlformats.org/drawingml/2006/main" id="5" idx="2"/>
            <a:endCxn xmlns:a="http://schemas.openxmlformats.org/drawingml/2006/main" id="6" idx="0"/>
          </p:cNvCxnSpPr>
          <p:nvPr/>
        </p:nvCxnSpPr>
        <p:spPr>
          <a:xfrm xmlns:a="http://schemas.openxmlformats.org/drawingml/2006/main" flipH="1">
            <a:off x="2114550" y="4048125"/>
            <a:ext cx="1824038" cy="676275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23813">
            <a:solidFill>
              <a:srgbClr val="52656B"/>
            </a:solidFill>
            <a:tailEnd type="arrow" w="med" len="med"/>
          </a:ln>
        </p:spPr>
      </p:cxnSp>
      <p:cxnSp>
        <p:nvCxnSpPr>
          <p:cNvPr id="19" name=""/>
          <p:cNvCxnSpPr>
            <a:stCxn xmlns:a="http://schemas.openxmlformats.org/drawingml/2006/main" id="5" idx="2"/>
            <a:endCxn xmlns:a="http://schemas.openxmlformats.org/drawingml/2006/main" id="7" idx="0"/>
          </p:cNvCxnSpPr>
          <p:nvPr/>
        </p:nvCxnSpPr>
        <p:spPr>
          <a:xfrm xmlns:a="http://schemas.openxmlformats.org/drawingml/2006/main">
            <a:off x="3938588" y="4048125"/>
            <a:ext cx="1743075" cy="676275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23813">
            <a:solidFill>
              <a:srgbClr val="52656B"/>
            </a:solidFill>
            <a:tailEnd type="arrow" w="med" len="med"/>
          </a:ln>
        </p:spPr>
      </p:cxn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1EA4F0F-2865-4F53-A0D6-2212A1E31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067050"/>
            <a:ext cx="3771900" cy="2705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343E"/>
          </a:solidFill>
          <a:ln xmlns:a="http://schemas.openxmlformats.org/drawingml/2006/main" w="9525">
            <a:solidFill>
              <a:srgbClr val="CEDBD7"/>
            </a:solidFill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25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250">
                <a:solidFill>
                  <a:srgbClr val="FFFFFF"/>
                </a:solidFill>
                <a:latin typeface="Arial"/>
                <a:ea typeface="Arial"/>
                <a:cs typeface="Arial"/>
              </a:rPr>
              <a:t>Validation Cohort</a:t>
            </a:r>
          </a:p>
          <a:p xmlns:a="http://schemas.openxmlformats.org/drawingml/2006/main">
            <a:pPr algn="ctr">
              <a:defRPr sz="225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250">
                <a:solidFill>
                  <a:srgbClr val="FFFFFF"/>
                </a:solidFill>
                <a:latin typeface="Arial"/>
                <a:ea typeface="Arial"/>
                <a:cs typeface="Arial"/>
              </a:rPr>
              <a:t>345 specimens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ctr">
              <a:defRPr sz="225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250">
                <a:solidFill>
                  <a:srgbClr val="FFFFFF"/>
                </a:solidFill>
                <a:latin typeface="Arial"/>
                <a:ea typeface="Arial"/>
                <a:cs typeface="Arial"/>
              </a:rPr>
              <a:t>Evaluate the selected</a:t>
            </a:r>
          </a:p>
          <a:p xmlns:a="http://schemas.openxmlformats.org/drawingml/2006/main">
            <a:pPr algn="ctr">
              <a:defRPr sz="225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250">
                <a:solidFill>
                  <a:srgbClr val="FFFFFF"/>
                </a:solidFill>
                <a:latin typeface="Arial"/>
                <a:ea typeface="Arial"/>
                <a:cs typeface="Arial"/>
              </a:rPr>
              <a:t>model and threshold</a:t>
            </a:r>
          </a:p>
        </p:txBody>
      </p:sp>
    </p:spTree>
    <p:extLst>
      <p:ext uri="{BB962C8B-B14F-4D97-AF65-F5344CB8AC3E}">
        <p14:creationId xmlns:p14="http://schemas.microsoft.com/office/powerpoint/2010/main" val="1115869935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6FC60F0-700F-496D-B5D0-7547E524A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Models compared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0EC6AC6-3711-4140-8904-652563222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Sources: primary configuration and analysis; Zhang et al., Table S2; CatBoost documentation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FA2B47F-7C60-4817-A669-58B76A36B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2829B63-058D-4FFC-A9D5-1FA344EB7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71625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475" b="0">
                <a:solidFill>
                  <a:srgbClr val="007C78"/>
                </a:solidFill>
                <a:latin typeface="Arial"/>
                <a:ea typeface="Arial"/>
                <a:cs typeface="Arial"/>
              </a:defRPr>
            </a:pPr>
            <a:r>
              <a:rPr sz="2475" b="0">
                <a:solidFill>
                  <a:srgbClr val="007C78"/>
                </a:solidFill>
                <a:latin typeface="Arial"/>
                <a:ea typeface="Arial"/>
                <a:cs typeface="Arial"/>
              </a:rPr>
              <a:t>Each model produces a score for rejection versus no rejection.</a:t>
            </a:r>
          </a:p>
        </p:txBody>
      </p:sp>
      <p:graphicFrame>
        <p:nvGraphicFramePr>
          <p:cNvPr id="10" name=""/>
          <p:cNvGraphicFramePr/>
          <p:nvPr/>
        </p:nvGraphicFramePr>
        <p:xfrm>
          <a:off xmlns:a="http://schemas.openxmlformats.org/drawingml/2006/main" x="609600" y="2381250"/>
          <a:ext xmlns:a="http://schemas.openxmlformats.org/drawingml/2006/main" cx="10972800" cy="36957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371850"/>
                <a:gridCol w="7600950"/>
              </a:tblGrid>
              <a:tr h="476250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Model</a:t>
                      </a:r>
                    </a:p>
                  </a:txBody>
                  <a:tcPr marL="171450" marR="142875" marT="104775" marB="104775" anchor="ctr">
                    <a:solidFill>
                      <a:srgbClr val="16343E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Approach and rationale</a:t>
                      </a:r>
                    </a:p>
                  </a:txBody>
                  <a:tcPr marL="171450" marR="142875" marT="104775" marB="104775" anchor="ctr">
                    <a:solidFill>
                      <a:srgbClr val="16343E"/>
                    </a:solidFill>
                  </a:tcPr>
                </a:tc>
              </a:tr>
              <a:tr h="571500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Constant baseline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One score: the training rejection fraction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</a:tr>
              <a:tr h="819150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IFNG only</a:t>
                      </a:r>
                    </a:p>
                    <a:p>
                      <a:r>
                        <a:rPr sz="21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(Logistic regression)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One immune-related RNA measurement</a:t>
                      </a:r>
                    </a:p>
                    <a:p>
                      <a:r>
                        <a:rPr sz="21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as a simple benchmark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</a:tr>
              <a:tr h="914400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All RNA</a:t>
                      </a:r>
                    </a:p>
                    <a:p>
                      <a:r>
                        <a:rPr sz="21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(Logistic Regression)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A weighted combination of 758 measurements.</a:t>
                      </a:r>
                    </a:p>
                    <a:p>
                      <a:r>
                        <a:rPr sz="21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Regularization limits the size of the weights.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CatBoost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Can capture nonlinear RNA patterns and interactions.</a:t>
                      </a:r>
                    </a:p>
                    <a:p>
                      <a:r>
                        <a:rPr sz="21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Shallow trees help limit overfitting.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73810268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DFD68C6-2833-4DB1-B462-897A2BE8B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Selecting the model and threshold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A3F4A08-A164-43E6-8B99-D21CD762A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Reference: recorded biopsy diagnoses. Source: saved discovery screening results, 15 Sep 2026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FD0C6A7-CD7E-42BC-BF01-62B4378E3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1B48FED-F5B9-4605-98F2-79EE34D33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76375"/>
            <a:ext cx="51816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B55730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B55730"/>
                </a:solidFill>
                <a:latin typeface="Arial"/>
                <a:ea typeface="Arial"/>
                <a:cs typeface="Arial"/>
              </a:rPr>
              <a:t>Recall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5D2DCED-540A-419B-BBD8-AC692D724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43100"/>
            <a:ext cx="51816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0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Correctly flagged rejection cases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5AB7043-CB28-41FB-9141-3CD9A78CD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00300"/>
            <a:ext cx="4953000" cy="0"/>
          </a:xfrm>
          <a:prstGeom xmlns:a="http://schemas.openxmlformats.org/drawingml/2006/main" prst="line">
            <a:avLst/>
          </a:prstGeom>
          <a:ln xmlns:a="http://schemas.openxmlformats.org/drawingml/2006/main" w="11430">
            <a:solidFill>
              <a:srgbClr val="16343E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B919CC4-85F2-4171-9C01-2E0E413D7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86025"/>
            <a:ext cx="51816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0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All cases diagnosed as rejection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6FCD865-F750-42BE-8BD5-2A4531A23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81325"/>
            <a:ext cx="51816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B55730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B55730"/>
                </a:solidFill>
                <a:latin typeface="Arial"/>
                <a:ea typeface="Arial"/>
                <a:cs typeface="Arial"/>
              </a:rPr>
              <a:t>(False negatives are missed cases.)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FE0D82E-6D7F-4410-8838-2074C1075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1476375"/>
            <a:ext cx="48768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007C78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007C78"/>
                </a:solidFill>
                <a:latin typeface="Arial"/>
                <a:ea typeface="Arial"/>
                <a:cs typeface="Arial"/>
              </a:rPr>
              <a:t>Precision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9EDA83C-CF3F-4B4F-8291-CC735229C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1943100"/>
            <a:ext cx="48768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0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Correctly flagged rejection cases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0E13638-A0B0-4884-89FD-590D48A0A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2400300"/>
            <a:ext cx="4648200" cy="0"/>
          </a:xfrm>
          <a:prstGeom xmlns:a="http://schemas.openxmlformats.org/drawingml/2006/main" prst="line">
            <a:avLst/>
          </a:prstGeom>
          <a:ln xmlns:a="http://schemas.openxmlformats.org/drawingml/2006/main" w="11430">
            <a:solidFill>
              <a:srgbClr val="16343E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B893A15-B7FB-40CC-96F3-76B73F5D8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486025"/>
            <a:ext cx="48768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0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All rejection flags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D2FBDFE-CB11-4C35-BB07-DAF602A81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981325"/>
            <a:ext cx="48768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007C78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007C78"/>
                </a:solidFill>
                <a:latin typeface="Arial"/>
                <a:ea typeface="Arial"/>
                <a:cs typeface="Arial"/>
              </a:rPr>
              <a:t>(False positives are incorrect flags.)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3F5AB52-7F41-4F3B-B0B2-7649C9AB5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52825"/>
            <a:ext cx="109728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Screening rule: detect at least 90% of recorded rejection cases,</a:t>
            </a:r>
          </a:p>
          <a:p xmlns:a="http://schemas.openxmlformats.org/drawingml/2006/main">
            <a:pPr algn="l">
              <a:defRPr sz="210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then minimize false positives. ROC-AUC breaks ties.</a:t>
            </a:r>
          </a:p>
        </p:txBody>
      </p:sp>
      <p:graphicFrame>
        <p:nvGraphicFramePr>
          <p:cNvPr id="31" name=""/>
          <p:cNvGraphicFramePr/>
          <p:nvPr/>
        </p:nvGraphicFramePr>
        <p:xfrm>
          <a:off xmlns:a="http://schemas.openxmlformats.org/drawingml/2006/main" x="609600" y="4419600"/>
          <a:ext xmlns:a="http://schemas.openxmlformats.org/drawingml/2006/main" cx="10972800" cy="12001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762500"/>
                <a:gridCol w="3105150"/>
                <a:gridCol w="3105150"/>
              </a:tblGrid>
              <a:tr h="400050">
                <a:tc>
                  <a:txBody>
                    <a:bodyPr>
                      <a:noAutofit/>
                    </a:bodyPr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Screening result</a:t>
                      </a:r>
                    </a:p>
                  </a:txBody>
                  <a:tcPr marL="171450" marR="142875" marT="28575" marB="28575" anchor="ctr">
                    <a:solidFill>
                      <a:srgbClr val="16343E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CatBoost</a:t>
                      </a:r>
                    </a:p>
                  </a:txBody>
                  <a:tcPr marL="171450" marR="142875" marT="28575" marB="28575" anchor="ctr">
                    <a:solidFill>
                      <a:srgbClr val="16343E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All-RNA logistic</a:t>
                      </a:r>
                    </a:p>
                  </a:txBody>
                  <a:tcPr marL="171450" marR="142875" marT="28575" marB="28575" anchor="ctr">
                    <a:solidFill>
                      <a:srgbClr val="16343E"/>
                    </a:solidFill>
                  </a:tcPr>
                </a:tc>
              </a:tr>
              <a:tr h="400050">
                <a:tc>
                  <a:txBody>
                    <a:bodyPr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Rejection detected</a:t>
                      </a:r>
                    </a:p>
                  </a:txBody>
                  <a:tcPr marL="171450" marR="142875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157 / 174</a:t>
                      </a:r>
                    </a:p>
                  </a:txBody>
                  <a:tcPr marL="171450" marR="142875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157 / 174</a:t>
                      </a:r>
                    </a:p>
                  </a:txBody>
                  <a:tcPr marL="171450" marR="142875" marT="28575" marB="28575" anchor="ctr">
                    <a:solidFill>
                      <a:srgbClr val="FFFFFF"/>
                    </a:solidFill>
                  </a:tcPr>
                </a:tc>
              </a:tr>
              <a:tr h="400050">
                <a:tc>
                  <a:txBody>
                    <a:bodyPr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False positives</a:t>
                      </a:r>
                    </a:p>
                  </a:txBody>
                  <a:tcPr marL="171450" marR="142875" marT="28575" marB="28575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5 / 89</a:t>
                      </a:r>
                    </a:p>
                  </a:txBody>
                  <a:tcPr marL="171450" marR="142875" marT="28575" marB="28575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6 / 89</a:t>
                      </a:r>
                    </a:p>
                  </a:txBody>
                  <a:tcPr marL="171450" marR="142875" marT="28575" marB="28575" anchor="ctr">
                    <a:solidFill>
                      <a:srgbClr val="EDF3F0"/>
                    </a:solidFill>
                  </a:tcPr>
                </a:tc>
              </a:tr>
            </a:tbl>
          </a:graphicData>
        </a:graphic>
      </p:graphicFrame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FF4FB92-EBB4-4360-B2AE-62A3E4D87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24525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One fewer false positive selected CatBoost.</a:t>
            </a:r>
          </a:p>
          <a:p xmlns:a="http://schemas.openxmlformats.org/drawingml/2006/main">
            <a:pPr algn="l">
              <a:defRPr sz="187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The model and threshold then stayed fixed for evaluation.</a:t>
            </a:r>
          </a:p>
        </p:txBody>
      </p:sp>
    </p:spTree>
    <p:extLst>
      <p:ext uri="{BB962C8B-B14F-4D97-AF65-F5344CB8AC3E}">
        <p14:creationId xmlns:p14="http://schemas.microsoft.com/office/powerpoint/2010/main" val="1312984157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3270DC5-5AC3-42F8-94DA-0F69DD8F9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Validation results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A96CC09-3819-4C5B-AA7F-9A6B23B53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Sources: primary evaluation (15 Sep) and discovery-only stability follow-up (17 Sep 2026).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4C0DF9D-BFD2-471B-82C8-6025FBE5D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6E901F3-205B-4B68-9314-0B627065A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Same 345 specimens: 169 rejection and 176 no rejection</a:t>
            </a:r>
          </a:p>
        </p:txBody>
      </p:sp>
      <p:graphicFrame>
        <p:nvGraphicFramePr>
          <p:cNvPr id="16" name="Chart"/>
          <p:cNvGraphicFramePr/>
          <p:nvPr/>
        </p:nvGraphicFramePr>
        <p:xfrm>
          <a:off xmlns:a="http://schemas.openxmlformats.org/drawingml/2006/main" x="533400" y="1924050"/>
          <a:ext xmlns:a="http://schemas.openxmlformats.org/drawingml/2006/main" cx="11144250" cy="2762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3da263465cde4fcb"/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7818D9F-C4D2-4F6A-BA72-08CAE5BA6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48101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C78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704AF32-FB84-45A9-81B6-A3F6EB868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4667250"/>
            <a:ext cx="23241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Incorrect flags / 176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0F23125-7B6D-4A3C-B6B8-02D2D2221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8101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5730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38B7DB9-949F-4C2C-9FC5-8DAB905F8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667250"/>
            <a:ext cx="2381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Missed cases / 169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DCF4F92-D749-49EA-A271-7901241AB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00650"/>
            <a:ext cx="10972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marL="279400" indent="-152400" algn="l">
              <a:spcAft>
                <a:spcPts val="1100"/>
              </a:spcAft>
              <a:buChar char="•"/>
              <a:defRPr sz="217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Constant baseline: 0 missed cases, 176 incorrect flags. It flags everyone.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C7E8306-34BF-41A0-B942-707D9A927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48350"/>
            <a:ext cx="109728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007C7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007C78"/>
                </a:solidFill>
                <a:latin typeface="Arial"/>
                <a:ea typeface="Arial"/>
                <a:cs typeface="Arial"/>
              </a:rPr>
              <a:t>Follow-up screening selections across 20 discovery splits: CatBoost 13, logistic 7.</a:t>
            </a:r>
          </a:p>
        </p:txBody>
      </p:sp>
    </p:spTree>
    <p:extLst>
      <p:ext uri="{BB962C8B-B14F-4D97-AF65-F5344CB8AC3E}">
        <p14:creationId xmlns:p14="http://schemas.microsoft.com/office/powerpoint/2010/main" val="305746940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9ED9233-E711-4DE2-8D6F-88A260B19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Project walkthrough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02AD4FA-32F8-4BE7-BD4E-25A7D74E1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E24FAC0-F59E-44AC-B20D-42FABB957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71650"/>
            <a:ext cx="109728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925" b="0">
                <a:solidFill>
                  <a:srgbClr val="007C78"/>
                </a:solidFill>
                <a:latin typeface="Arial"/>
                <a:ea typeface="Arial"/>
                <a:cs typeface="Arial"/>
              </a:defRPr>
            </a:pPr>
            <a:r>
              <a:rPr sz="2925" b="0">
                <a:solidFill>
                  <a:srgbClr val="007C78"/>
                </a:solidFill>
                <a:latin typeface="Arial"/>
                <a:ea typeface="Arial"/>
                <a:cs typeface="Arial"/>
              </a:rPr>
              <a:t>Reports, application and scoring service</a:t>
            </a:r>
          </a:p>
        </p:txBody>
      </p:sp>
    </p:spTree>
    <p:extLst>
      <p:ext uri="{BB962C8B-B14F-4D97-AF65-F5344CB8AC3E}">
        <p14:creationId xmlns:p14="http://schemas.microsoft.com/office/powerpoint/2010/main" val="340105872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16343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2AFC8B9-3661-4B76-8396-F344D0CE0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What this project accomplished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9D194F2-79B6-4474-A94F-50FCA779A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D6E8E5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D6E8E5"/>
                </a:solidFill>
                <a:latin typeface="Arial"/>
                <a:ea typeface="Arial"/>
                <a:cs typeface="Arial"/>
              </a:rPr>
              <a:t>Public data: Zhang et al. (2024), GSE212160. Development and presentation used AI assistance.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CB6C3CB-CFAC-4452-90A8-AC00B62A1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D6E8E5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D6E8E5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036F871-2BB1-44DD-A309-A77C3F85C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14500"/>
            <a:ext cx="10972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7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Model comparison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A27C6C6-B17A-42AC-8EEF-7718CE60C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71725"/>
            <a:ext cx="10972800" cy="962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CatBoost missed 8 fewer rejection cases than logistic, with 8 incorrect flags each.</a:t>
            </a:r>
          </a:p>
          <a:p xmlns:a="http://schemas.openxmlformats.org/drawingml/2006/main">
            <a:pPr algn="l">
              <a:defRPr sz="23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 dependable advantage remains uncertain.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1E7E826-C1D8-467D-9624-8D9E99E30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48075"/>
            <a:ext cx="10972800" cy="0"/>
          </a:xfrm>
          <a:prstGeom xmlns:a="http://schemas.openxmlformats.org/drawingml/2006/main" prst="line">
            <a:avLst/>
          </a:prstGeom>
          <a:ln xmlns:a="http://schemas.openxmlformats.org/drawingml/2006/main" w="11430">
            <a:solidFill>
              <a:srgbClr val="78949B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62B7C18-567D-4EA2-AD49-3276E4044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71925"/>
            <a:ext cx="109728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7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Software engineering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52D35D5-3534-448A-97FE-BA5BCED6A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29150"/>
            <a:ext cx="109728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Reproducible analysis and a tested scoring service,</a:t>
            </a:r>
          </a:p>
          <a:p xmlns:a="http://schemas.openxmlformats.org/drawingml/2006/main">
            <a:pPr algn="l">
              <a:defRPr sz="23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with a prototype application and checks against saved results.</a:t>
            </a:r>
          </a:p>
        </p:txBody>
      </p:sp>
    </p:spTree>
    <p:extLst>
      <p:ext uri="{BB962C8B-B14F-4D97-AF65-F5344CB8AC3E}">
        <p14:creationId xmlns:p14="http://schemas.microsoft.com/office/powerpoint/2010/main" val="40535865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2026-09-23T08:52:02.3440000Z</dcterms:created>
  <dcterms:modified xsi:type="dcterms:W3CDTF">2026-09-23T08:52:02.3440000Z</dcterms:modified>
</coreProperties>
</file>