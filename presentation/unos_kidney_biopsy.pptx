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d23b2b29eb104119" /><Relationship Type="http://schemas.openxmlformats.org/officeDocument/2006/relationships/extended-properties" Target="/docProps/app.xml" Id="Rab27386522834038" /><Relationship Type="http://schemas.openxmlformats.org/officeDocument/2006/relationships/officeDocument" Target="/ppt/presentation.xml" Id="R5ee110ee7e3c4f60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dcac8545d59437c"/>
  </p:sldMasterIdLst>
  <p:sldIdLst>
    <p:sldId id="256" r:id="R781d5cc738c34436"/>
    <p:sldId id="257" r:id="Rec3db5835e1f439a"/>
    <p:sldId id="258" r:id="R51719fcafa0f403e"/>
    <p:sldId id="259" r:id="R00b76af712754641"/>
    <p:sldId id="260" r:id="Re8cd26c337104d9f"/>
    <p:sldId id="261" r:id="Rcfef350d5687436e"/>
    <p:sldId id="262" r:id="R15d2744f03f84fc0"/>
    <p:sldId id="263" r:id="R66384e3f01c94cf4"/>
    <p:sldId id="264" r:id="Rec0215ee7d3a4316"/>
    <p:sldId id="265" r:id="R0332bfbb659f45a8"/>
    <p:sldId id="266" r:id="R440cffbe54994fea"/>
    <p:sldId id="267" r:id="Re07831943fa54d19"/>
    <p:sldId id="268" r:id="Rc2c60499f0df4be4"/>
    <p:sldId id="269" r:id="Rfc31a2a832e042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206a05a631694502" /><Relationship Type="http://schemas.openxmlformats.org/officeDocument/2006/relationships/slideMaster" Target="/ppt/slideMasters/slideMaster1.xml" Id="Radcac8545d59437c" /><Relationship Type="http://schemas.openxmlformats.org/officeDocument/2006/relationships/presProps" Target="/ppt/presProps.xml" Id="R06ce792f18bf48d1" /><Relationship Type="http://schemas.openxmlformats.org/officeDocument/2006/relationships/tableStyles" Target="/ppt/tableStyles.xml" Id="R0af705f5275447e2" /><Relationship Type="http://schemas.openxmlformats.org/officeDocument/2006/relationships/slide" Target="/ppt/slides/slide1.xml" Id="R781d5cc738c34436" /><Relationship Type="http://schemas.openxmlformats.org/officeDocument/2006/relationships/slide" Target="/ppt/slides/slide2.xml" Id="Rec3db5835e1f439a" /><Relationship Type="http://schemas.openxmlformats.org/officeDocument/2006/relationships/slide" Target="/ppt/slides/slide3.xml" Id="R51719fcafa0f403e" /><Relationship Type="http://schemas.openxmlformats.org/officeDocument/2006/relationships/slide" Target="/ppt/slides/slide4.xml" Id="R00b76af712754641" /><Relationship Type="http://schemas.openxmlformats.org/officeDocument/2006/relationships/slide" Target="/ppt/slides/slide5.xml" Id="Re8cd26c337104d9f" /><Relationship Type="http://schemas.openxmlformats.org/officeDocument/2006/relationships/slide" Target="/ppt/slides/slide6.xml" Id="Rcfef350d5687436e" /><Relationship Type="http://schemas.openxmlformats.org/officeDocument/2006/relationships/slide" Target="/ppt/slides/slide7.xml" Id="R15d2744f03f84fc0" /><Relationship Type="http://schemas.openxmlformats.org/officeDocument/2006/relationships/slide" Target="/ppt/slides/slide8.xml" Id="R66384e3f01c94cf4" /><Relationship Type="http://schemas.openxmlformats.org/officeDocument/2006/relationships/slide" Target="/ppt/slides/slide9.xml" Id="Rec0215ee7d3a4316" /><Relationship Type="http://schemas.openxmlformats.org/officeDocument/2006/relationships/slide" Target="/ppt/slides/slide10.xml" Id="R0332bfbb659f45a8" /><Relationship Type="http://schemas.openxmlformats.org/officeDocument/2006/relationships/slide" Target="/ppt/slides/slide11.xml" Id="R440cffbe54994fea" /><Relationship Type="http://schemas.openxmlformats.org/officeDocument/2006/relationships/slide" Target="/ppt/slides/slide12.xml" Id="Re07831943fa54d19" /><Relationship Type="http://schemas.openxmlformats.org/officeDocument/2006/relationships/slide" Target="/ppt/slides/slide13.xml" Id="Rc2c60499f0df4be4" /><Relationship Type="http://schemas.openxmlformats.org/officeDocument/2006/relationships/slide" Target="/ppt/slides/slide14.xml" Id="Rfc31a2a832e0429b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300612efa9d24e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1df4484d49f540e8" /><Relationship Type="http://schemas.openxmlformats.org/officeDocument/2006/relationships/slideLayout" Target="/ppt/slideLayouts/slideLayout1.xml" Id="Re16480a5278443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6480a5278443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7237963dd4f4bc8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1cd28a66ada484f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a492afc4c7b4901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748fb50435f425e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a35b1f884ae418c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b5d9c2ff4cf41fb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87e591886f0408d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d827cba0bf34262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87e731d38f14e9d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c579d73e41e407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abac5bcbc00441c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f3837f76ab649a3" /><Relationship Type="http://schemas.openxmlformats.org/officeDocument/2006/relationships/chart" Target="/ppt/slides/charts/chart1.xml" Id="Rd7f09683c6344652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4def5e371624bf4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a004f16e1074e1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Missed cases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Incorrect flags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A82B52-8CE3-4D48-99D9-33FFE7A9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278996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76857C-FCFC-4198-8D20-06F13949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2937C-5BAB-4401-B4C2-9A5FCDA8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7A776-DE48-4B28-B9C3-B74FB907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B2CCD-BA95-4351-8FF4-7176765E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D9A95-A095-40E5-8059-9DB63F7F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C37699-C424-45B8-9F89-6E33858E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A microscopic examination that reveals injury and inflammation, which can support a rejection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46639D-A9B4-4BEF-AB28-65B490A5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that reflect gene activity in the mix of cells in the tissue.</a:t>
            </a:r>
          </a:p>
        </p:txBody>
      </p:sp>
    </p:spTree>
    <p:extLst>
      <p:ext uri="{BB962C8B-B14F-4D97-AF65-F5344CB8AC3E}">
        <p14:creationId xmlns:p14="http://schemas.microsoft.com/office/powerpoint/2010/main" val="15132833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3CE2B-AA48-4CE5-A97D-932CC259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Purpose of this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7172C-13AA-474E-88FD-389859DF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Clinical rationale: Zhang et al. (2024), Discussion, p. 13; KDIGO (2009).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B3ABC6-AF79-4801-AB10-0BAD1B3F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22432-CF2F-400C-ABA1-8558D96C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Whether rejection is present can affect decisions about further treatment to suppress the immune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B55F9-F91E-4EF5-93C3-2111FC80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B7D56-19AA-4FF2-B342-D5BBB62D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How do logistic regression and CatBoost compare in classifying any recorded rejection versus no rejection from B-HOT biopsy RNA, particularly in missed cases and incorrect flags?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F88333-DAA8-40E4-A282-F970B599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E1E6E-53EF-468B-B466-3F252072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Make preprocessing, training and evaluation reproducible. Build a tested scoring service and prototype application that let a user submit a specimen’s RNA counts and inspect its model score, threshold and rejection flag.</a:t>
            </a:r>
          </a:p>
        </p:txBody>
      </p:sp>
    </p:spTree>
    <p:extLst>
      <p:ext uri="{BB962C8B-B14F-4D97-AF65-F5344CB8AC3E}">
        <p14:creationId xmlns:p14="http://schemas.microsoft.com/office/powerpoint/2010/main" val="14417633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293F1-2271-4BDB-B17C-D5B82D5F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Clinical and research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A66FC-8CD8-4FEF-B025-051E14A2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Banff Reference Guide (2026); Zhang et al. (2024); KDIGO (2009), recommendation 6.1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C4292-573F-4785-986F-09F2D5E8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C47FD-2169-44C9-A15E-16A426E7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diagnostic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framework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9854A-4A33-4A90-AEAA-B900834D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619250"/>
            <a:ext cx="81057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Validated biopsy transcript tests have a defined role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antibody-mediated rejection assessment.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6CC53-1725-4049-AC2F-896332E3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51A83-6FF2-4FF3-A21F-87738FF6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Published 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Zhang, 2024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E159F-C68B-440B-962A-8A4D2A6A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57500"/>
            <a:ext cx="810577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study compared regression and boosting.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LASSO for similar accuracy with fewer features.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A01B1C-517C-42B7-BCA9-7E0F7C4A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AC423-B99D-43E5-B11D-89F9D9BD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and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treatment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3FBC30-1B00-490A-B6EB-5A0B6F16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67200"/>
            <a:ext cx="81057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KDIGO recommends biopsy before treating acute rejection,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unless waiting would substantially delay treatment.</a:t>
            </a:r>
          </a:p>
        </p:txBody>
      </p:sp>
    </p:spTree>
    <p:extLst>
      <p:ext uri="{BB962C8B-B14F-4D97-AF65-F5344CB8AC3E}">
        <p14:creationId xmlns:p14="http://schemas.microsoft.com/office/powerpoint/2010/main" val="16992176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EBAD5A-7AC4-42AC-958A-2B591CCB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6E1D15-BE57-4CDB-A574-51E23AA2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867CA5-B1B4-481C-8FC7-92678305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EDC5C-D4A5-44E1-9A14-4D487B9A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16F40-45D8-4EAE-AC7D-49155562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7ED3A-7D97-4FE6-88F3-5BD5055C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BE7C0-BC1F-4E36-8246-28C193B3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4AB8B-C8D5-44BE-B8AF-2FF66400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A4426-E489-47D0-BDC7-11A774C4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A7A7C0-05F1-4916-9BF2-F4C3A0CA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16802106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03235-E3A0-4F4F-B7EB-EF1D6328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2C2FC-2873-42D7-969E-F9D9D682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EB3D62-F89A-4577-BB45-F20603D0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9C4D6-6BD2-4A4C-AB7C-3384BFB5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64617-E989-4DD4-8A87-03D47171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7014183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596A69-3FF9-4DF3-8926-D69B69A6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FC6155-AA4C-42DC-A2ED-0C42BDBE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consensus; NanoString analysis guidance; shared preprocessing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30EA4-CAE0-41B7-A70A-C0FA37B7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E6217F-7CB8-4753-BE71-448433FD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B4DB6D-2E56-44E8-AF9F-5B0934BB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B56ADA-D9B9-417C-B1F0-4E05B66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152AF-8711-40A0-A848-74F65451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human and viral RNA measurements.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reflect gene activity and the mixture of cells in the biopsy.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values become the model’s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DD812-9C65-4A35-B898-F8C8D459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62225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ACDAAE-B004-4174-A7D0-508A49CA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4327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3917B-75CE-45B5-8E28-4E37EF43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05250"/>
            <a:ext cx="503872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Relatively stable RNAs provide a reference for each specimen.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Help adjust for differences in overall measurable RNA input.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for normalization, then excluded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15794207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D7049-9214-45FF-AC0A-0C033403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0F072-C767-4E58-8A1C-96A48C3B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D6A82-ED39-44DE-8A2E-697A95D9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3080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BDC0A-4E2B-4B15-BB67-D661660D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655F9-C97F-4EB7-9639-44EF32AA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3F083-4BFB-4DB4-BF97-81B0B829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76656-63ED-493E-9EDB-817AF0C6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1D12D-8DAA-4FA7-A856-63CE4476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D677B-532B-44D7-9373-49595D23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B2353-F00E-407F-8EDA-053B4F90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DFE84E-76F6-4DD7-A13D-C0AE3C87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10364921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3B0216-C3F7-4604-905B-288AB821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02DCF9-2C2B-4281-A28A-3E343762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analysis; Zhang et al., Table S2; CatBoost documentation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ABB45B-2395-4206-9F1D-FA213348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F7487-B277-4FED-805A-26C08DA5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 and rationale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Can capture nonlinear RNA patterns and interactions.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Shallow trees help limit overfitting.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5547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39A7F1-8656-4254-9701-296F90B7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Selecting the model and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6855E6-2273-4C73-88F4-055AD4EF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Reference: recorded biopsy diagnoses. Source: saved discovery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9555E-9913-4882-A2B7-07EF127E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5CD311-FDF0-446C-9E3B-95D41E89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005A7-3B01-40F4-A783-AD864030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FE924-BD19-415D-A330-252FDA58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F365D-98EE-4A4A-A9E7-6A7B7F6E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cases diagnosed as rejection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E8CCC5-1AA3-41E8-81BD-FF7036BE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73927-9BB1-4E6C-A3AD-BFA7C7A2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7637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182292-7BC1-40CA-99DC-78DAABB4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C7DC1-9675-45A9-BA6A-2B3A34D1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0030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E41C2D-D195-4D6F-8786-F1461927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860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rejection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B645D9-71EF-44F3-AC34-8EF5AFF4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813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C29816-8B17-4F06-8F31-A2D03385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 rule: detect at least 90% of recorded rejection cases,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then minimize false positives. ROC-AUC breaks ties.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419600"/>
          <a:ext xmlns:a="http://schemas.openxmlformats.org/drawingml/2006/main" cx="10972800" cy="1200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05150"/>
                <a:gridCol w="3105150"/>
              </a:tblGrid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Screening result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All-RNA logistic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 detected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positives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62C9A8-D667-4B8F-84A4-B7FD2A2B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fewer false positive selected CatBoost.</a:t>
            </a:r>
          </a:p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model and threshold then stayed fixed for evaluation.</a:t>
            </a:r>
          </a:p>
        </p:txBody>
      </p:sp>
    </p:spTree>
    <p:extLst>
      <p:ext uri="{BB962C8B-B14F-4D97-AF65-F5344CB8AC3E}">
        <p14:creationId xmlns:p14="http://schemas.microsoft.com/office/powerpoint/2010/main" val="9122304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E6EC2-31F3-4035-9346-B501394F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AD195-AD4B-40A6-B989-1D15AEFE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evaluation (15 Sep) and discovery-only stability follow-up (17 Sep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FA11F-14ED-47AE-83FE-90D12918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42C96A-3CE7-49FC-AFDB-F746BBC5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f09683c634465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BE111-CC24-4F7E-BE86-D30BA340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10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A94A8-E4C8-4D2D-B420-2B072FD3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6725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Incorrect flags / 176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9DE57-5E6E-4250-9F40-24498733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10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573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4EDB17-6B04-42FD-A061-4C267BFC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672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Missed cases / 169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E8268C-4E47-426E-9D81-568A89D3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missed cases, 176 incorrect flags. It flags everyone.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6F0C23-7281-4EFF-9040-535900A9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Across 20 discovery splits: CatBoost selected 13 times, logistic 7.</a:t>
            </a:r>
          </a:p>
        </p:txBody>
      </p:sp>
    </p:spTree>
    <p:extLst>
      <p:ext uri="{BB962C8B-B14F-4D97-AF65-F5344CB8AC3E}">
        <p14:creationId xmlns:p14="http://schemas.microsoft.com/office/powerpoint/2010/main" val="17508770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9A5426-B04F-4300-B53F-51226A6A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Software Engineering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39A17-67EB-486C-9C9C-F4920F3D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F1898-AD1B-4D73-AB61-245DF1B2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Reports, application and scoring service</a:t>
            </a:r>
          </a:p>
        </p:txBody>
      </p:sp>
    </p:spTree>
    <p:extLst>
      <p:ext uri="{BB962C8B-B14F-4D97-AF65-F5344CB8AC3E}">
        <p14:creationId xmlns:p14="http://schemas.microsoft.com/office/powerpoint/2010/main" val="10918449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80FE43-807B-4742-BCCE-854C510A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2B173-B533-4038-B622-B2FB2BC5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Development and presentation used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AAEF5-C09C-4C45-BAEE-29E60923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10BEF-9EEC-45EA-9B8E-D44AAA0A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59A08-0788-4AB3-B4F1-851B990D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 missed 8 fewer rejection cases than logistic, with 8 incorrect flags each.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dependable advantage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E1B5A-2FA5-4AC3-A9D2-C8197DC6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1DC89-53B2-4B91-B60F-B29F4EC4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DF0F0D-D727-49D4-81CA-1EE12BA0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Reproducible analysis and a tested scoring service,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with a prototype application and checks against saved results.</a:t>
            </a:r>
          </a:p>
        </p:txBody>
      </p:sp>
    </p:spTree>
    <p:extLst>
      <p:ext uri="{BB962C8B-B14F-4D97-AF65-F5344CB8AC3E}">
        <p14:creationId xmlns:p14="http://schemas.microsoft.com/office/powerpoint/2010/main" val="16076635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2026-09-23T07:57:59.4900000Z</dcterms:created>
  <dcterms:modified xsi:type="dcterms:W3CDTF">2026-09-23T07:57:59.4900000Z</dcterms:modified>
</coreProperties>
</file>