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4c79c94d04d4aa0" /><Relationship Type="http://schemas.openxmlformats.org/officeDocument/2006/relationships/extended-properties" Target="/docProps/app.xml" Id="Refefbc4ce20d4fb0" /><Relationship Type="http://schemas.openxmlformats.org/officeDocument/2006/relationships/officeDocument" Target="/ppt/presentation.xml" Id="R240965ac629f4093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845463971164515"/>
  </p:sldMasterIdLst>
  <p:sldIdLst>
    <p:sldId id="256" r:id="R4e90baee840b41ee"/>
    <p:sldId id="257" r:id="R65c81b7de87b4cf9"/>
    <p:sldId id="258" r:id="R4c05e04da2f54aef"/>
    <p:sldId id="259" r:id="R1e9b5f93e3a24adb"/>
    <p:sldId id="260" r:id="R1f3696b571be4b0f"/>
    <p:sldId id="261" r:id="R4ad8692bc2744466"/>
    <p:sldId id="262" r:id="R7749e1e1497a4b5f"/>
    <p:sldId id="263" r:id="Ra52915a777714174"/>
    <p:sldId id="264" r:id="R323b1e5566a34829"/>
    <p:sldId id="265" r:id="Rd460bf30c6a3463a"/>
    <p:sldId id="266" r:id="R6dc32cf5db9c41dd"/>
    <p:sldId id="267" r:id="R5bb5e49c1dcc4c6f"/>
    <p:sldId id="268" r:id="R312366014c444447"/>
    <p:sldId id="269" r:id="Re3eb9ffeb7e54ec1"/>
    <p:sldId id="270" r:id="Rbc3b6b132956495a"/>
    <p:sldId id="271" r:id="R23b51e7c216149ca"/>
    <p:sldId id="272" r:id="Rdda2c2ae9dfa4715"/>
    <p:sldId id="273" r:id="Rb1cd993df24f41d2"/>
    <p:sldId id="274" r:id="Ra9334f451c974b86"/>
    <p:sldId id="275" r:id="R007bb12b41df4bf1"/>
    <p:sldId id="276" r:id="Rbc06b0c47f4c4ac4"/>
    <p:sldId id="277" r:id="R94e8a5908abc4913"/>
    <p:sldId id="278" r:id="Rffbf8f250daf408f"/>
    <p:sldId id="279" r:id="R240450829c8c4dee"/>
    <p:sldId id="280" r:id="R8650d434cb3649d5"/>
    <p:sldId id="281" r:id="R0feafac4ac034cea"/>
    <p:sldId id="282" r:id="R0405b76b9f7243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cd656db1218a43e7" /><Relationship Type="http://schemas.openxmlformats.org/officeDocument/2006/relationships/slideMaster" Target="/ppt/slideMasters/slideMaster1.xml" Id="R9845463971164515" /><Relationship Type="http://schemas.openxmlformats.org/officeDocument/2006/relationships/presProps" Target="/ppt/presProps.xml" Id="R3fb7fcd1d61342cf" /><Relationship Type="http://schemas.openxmlformats.org/officeDocument/2006/relationships/tableStyles" Target="/ppt/tableStyles.xml" Id="R3d60a7f1ee2a4c67" /><Relationship Type="http://schemas.openxmlformats.org/officeDocument/2006/relationships/slide" Target="/ppt/slides/slide1.xml" Id="R4e90baee840b41ee" /><Relationship Type="http://schemas.openxmlformats.org/officeDocument/2006/relationships/slide" Target="/ppt/slides/slide2.xml" Id="R65c81b7de87b4cf9" /><Relationship Type="http://schemas.openxmlformats.org/officeDocument/2006/relationships/slide" Target="/ppt/slides/slide3.xml" Id="R4c05e04da2f54aef" /><Relationship Type="http://schemas.openxmlformats.org/officeDocument/2006/relationships/slide" Target="/ppt/slides/slide4.xml" Id="R1e9b5f93e3a24adb" /><Relationship Type="http://schemas.openxmlformats.org/officeDocument/2006/relationships/slide" Target="/ppt/slides/slide5.xml" Id="R1f3696b571be4b0f" /><Relationship Type="http://schemas.openxmlformats.org/officeDocument/2006/relationships/slide" Target="/ppt/slides/slide6.xml" Id="R4ad8692bc2744466" /><Relationship Type="http://schemas.openxmlformats.org/officeDocument/2006/relationships/slide" Target="/ppt/slides/slide7.xml" Id="R7749e1e1497a4b5f" /><Relationship Type="http://schemas.openxmlformats.org/officeDocument/2006/relationships/slide" Target="/ppt/slides/slide8.xml" Id="Ra52915a777714174" /><Relationship Type="http://schemas.openxmlformats.org/officeDocument/2006/relationships/slide" Target="/ppt/slides/slide9.xml" Id="R323b1e5566a34829" /><Relationship Type="http://schemas.openxmlformats.org/officeDocument/2006/relationships/slide" Target="/ppt/slides/slide10.xml" Id="Rd460bf30c6a3463a" /><Relationship Type="http://schemas.openxmlformats.org/officeDocument/2006/relationships/slide" Target="/ppt/slides/slide11.xml" Id="R6dc32cf5db9c41dd" /><Relationship Type="http://schemas.openxmlformats.org/officeDocument/2006/relationships/slide" Target="/ppt/slides/slide12.xml" Id="R5bb5e49c1dcc4c6f" /><Relationship Type="http://schemas.openxmlformats.org/officeDocument/2006/relationships/slide" Target="/ppt/slides/slide13.xml" Id="R312366014c444447" /><Relationship Type="http://schemas.openxmlformats.org/officeDocument/2006/relationships/slide" Target="/ppt/slides/slide14.xml" Id="Re3eb9ffeb7e54ec1" /><Relationship Type="http://schemas.openxmlformats.org/officeDocument/2006/relationships/slide" Target="/ppt/slides/slide15.xml" Id="Rbc3b6b132956495a" /><Relationship Type="http://schemas.openxmlformats.org/officeDocument/2006/relationships/slide" Target="/ppt/slides/slide16.xml" Id="R23b51e7c216149ca" /><Relationship Type="http://schemas.openxmlformats.org/officeDocument/2006/relationships/slide" Target="/ppt/slides/slide17.xml" Id="Rdda2c2ae9dfa4715" /><Relationship Type="http://schemas.openxmlformats.org/officeDocument/2006/relationships/slide" Target="/ppt/slides/slide18.xml" Id="Rb1cd993df24f41d2" /><Relationship Type="http://schemas.openxmlformats.org/officeDocument/2006/relationships/slide" Target="/ppt/slides/slide19.xml" Id="Ra9334f451c974b86" /><Relationship Type="http://schemas.openxmlformats.org/officeDocument/2006/relationships/slide" Target="/ppt/slides/slide20.xml" Id="R007bb12b41df4bf1" /><Relationship Type="http://schemas.openxmlformats.org/officeDocument/2006/relationships/slide" Target="/ppt/slides/slide21.xml" Id="Rbc06b0c47f4c4ac4" /><Relationship Type="http://schemas.openxmlformats.org/officeDocument/2006/relationships/slide" Target="/ppt/slides/slide22.xml" Id="R94e8a5908abc4913" /><Relationship Type="http://schemas.openxmlformats.org/officeDocument/2006/relationships/slide" Target="/ppt/slides/slide23.xml" Id="Rffbf8f250daf408f" /><Relationship Type="http://schemas.openxmlformats.org/officeDocument/2006/relationships/slide" Target="/ppt/slides/slide24.xml" Id="R240450829c8c4dee" /><Relationship Type="http://schemas.openxmlformats.org/officeDocument/2006/relationships/slide" Target="/ppt/slides/slide25.xml" Id="R8650d434cb3649d5" /><Relationship Type="http://schemas.openxmlformats.org/officeDocument/2006/relationships/slide" Target="/ppt/slides/slide26.xml" Id="R0feafac4ac034cea" /><Relationship Type="http://schemas.openxmlformats.org/officeDocument/2006/relationships/slide" Target="/ppt/slides/slide27.xml" Id="R0405b76b9f724372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1b9c60542e5b4a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b45da89c6c6749d5" /><Relationship Type="http://schemas.openxmlformats.org/officeDocument/2006/relationships/slideLayout" Target="/ppt/slideLayouts/slideLayout1.xml" Id="R3d63c0b820c54b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63c0b820c54b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ab8d5731cd74b0e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5b649c0a30743d0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3bc3f897b844245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f248e949ab741c8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7be713fad884ad5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7040e2a04af4ba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e3633bf8425427e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28d4583a80e4cf2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a90689590a74ed6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2ff85e2f59847c0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56f0a5f7bb34909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aa5248680064087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12a5d7816514dcd" /><Relationship Type="http://schemas.openxmlformats.org/officeDocument/2006/relationships/chart" Target="/ppt/slides/charts/chart1.xml" Id="Re3ddf8c1ab944281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9b4be4fbf60452f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dc44e005ad74168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5a603da89c54821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4a23db175824fa3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f5febe710fa4af2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fb9689e38954cda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afbb6f2bb004cfd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7909d3d6d854f05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deb066a4cb04ccc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cf49a5ef84f4288" /><Relationship Type="http://schemas.openxmlformats.org/officeDocument/2006/relationships/chart" Target="/ppt/slides/charts/chart2.xml" Id="R7fcfa294420b44be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e51e28aa9634ba0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a0d47a511904f89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df742440c5d4d84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9e9fb1e3c1e43b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Missed rejection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flags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Agreement</c:v>
          </c:tx>
          <c:spPr>
            <a:ln xmlns:a="http://schemas.openxmlformats.org/drawingml/2006/main" w="13335">
              <a:solidFill>
                <a:srgbClr val="52656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bins</c:v>
          </c:tx>
          <c:spPr>
            <a:solidFill xmlns:a="http://schemas.openxmlformats.org/drawingml/2006/main">
              <a:srgbClr val="007C78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Ref>
              <c:f>'Chart Data'!$C$2:$C$11</c:f>
              <c:numCache>
                <c:formatCode>General</c:formatCode>
                <c:ptCount val="10"/>
                <c:pt idx="0">
                  <c:v>0.02236</c:v>
                </c:pt>
                <c:pt idx="1">
                  <c:v>0.150831</c:v>
                </c:pt>
                <c:pt idx="2">
                  <c:v>0.256868</c:v>
                </c:pt>
                <c:pt idx="3">
                  <c:v>0.33529</c:v>
                </c:pt>
                <c:pt idx="4">
                  <c:v>0.462784</c:v>
                </c:pt>
                <c:pt idx="5">
                  <c:v>0.535663</c:v>
                </c:pt>
                <c:pt idx="6">
                  <c:v>0.66592</c:v>
                </c:pt>
                <c:pt idx="7">
                  <c:v>0.764537</c:v>
                </c:pt>
                <c:pt idx="8">
                  <c:v>0.847196</c:v>
                </c:pt>
                <c:pt idx="9">
                  <c:v>0.983569</c:v>
                </c:pt>
              </c:numCache>
            </c:numRef>
          </c:xVal>
          <c:yVal>
            <c:numRef>
              <c:f>'Chart Data'!$D$2:$D$11</c:f>
              <c:numCache>
                <c:formatCode>0.0</c:formatCode>
                <c:ptCount val="10"/>
                <c:pt idx="0">
                  <c:v>0.02963</c:v>
                </c:pt>
                <c:pt idx="1">
                  <c:v>0.25</c:v>
                </c:pt>
                <c:pt idx="2">
                  <c:v>0.333333</c:v>
                </c:pt>
                <c:pt idx="3">
                  <c:v>0.222222</c:v>
                </c:pt>
                <c:pt idx="4">
                  <c:v>0.5</c:v>
                </c:pt>
                <c:pt idx="5">
                  <c:v>0.5</c:v>
                </c:pt>
                <c:pt idx="6">
                  <c:v>0.375</c:v>
                </c:pt>
                <c:pt idx="7">
                  <c:v>0.5</c:v>
                </c:pt>
                <c:pt idx="8">
                  <c:v>0.4375</c:v>
                </c:pt>
                <c:pt idx="9">
                  <c:v>0.959459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Recorded rejection fraction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Mean model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3AF8A-DA25-4003-9881-BB4ADF3E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5C01F-2491-4BE1-9E73-0E56B45A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204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rejection</a:t>
            </a:r>
          </a:p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kidney biopsy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34203-9E2A-48DC-B350-B8F7E27C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104775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Can molecular measurements classify</a:t>
            </a:r>
          </a:p>
          <a:p xmlns:a="http://schemas.openxmlformats.org/drawingml/2006/main">
            <a:pPr algn="l">
              <a:defRPr sz="3150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the recorded biopsy diagnosis?</a:t>
            </a:r>
          </a:p>
        </p:txBody>
      </p:sp>
    </p:spTree>
    <p:extLst>
      <p:ext uri="{BB962C8B-B14F-4D97-AF65-F5344CB8AC3E}">
        <p14:creationId xmlns:p14="http://schemas.microsoft.com/office/powerpoint/2010/main" val="17270472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D8FD8-37C7-44D2-85BF-1B80DC43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Kidney biopsy and transplant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78CBC-3135-4EB3-A860-6BEFD1FB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045C1-748B-4519-B98D-0A3FD32F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C8024-98FC-448B-9228-3A6304B3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Rejection: 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996AD-2B9B-4924-B7CF-9FF65E57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200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C52C89-230C-457D-BE76-CAACBAE6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76575"/>
            <a:ext cx="2895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tissue: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DC435-433B-4B4F-9881-2323860F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95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small sample</a:t>
            </a:r>
          </a:p>
          <a:p xmlns:a="http://schemas.openxmlformats.org/drawingml/2006/main">
            <a:pPr algn="ctr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from the kidney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B0C6D3-EB87-4808-92EB-32E3502D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428875"/>
            <a:ext cx="64865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A948B-30DE-41B8-A766-B4DD136F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90800"/>
            <a:ext cx="6162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Microscopic examination (histology)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84563-7D96-4212-AFBC-78BD26B3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48000"/>
            <a:ext cx="6162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192978-EEB8-402E-AEB0-62E80FBE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019550"/>
            <a:ext cx="648652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514B6-65F6-4346-8257-227E8DBD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71950"/>
            <a:ext cx="6162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Molecular measurements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4B1099-5139-418F-81DF-2F4FB5B3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619625"/>
            <a:ext cx="61626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Inputs to the model</a:t>
            </a:r>
          </a:p>
        </p:txBody>
      </p: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3810000" y="3033713"/>
            <a:ext cx="1285875" cy="5762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5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810000" y="3609975"/>
            <a:ext cx="1285875" cy="10144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CFE34-F0B0-4402-A536-66CAF83D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Two kinds of evidence from tissue already collected</a:t>
            </a:r>
          </a:p>
        </p:txBody>
      </p:sp>
    </p:spTree>
    <p:extLst>
      <p:ext uri="{BB962C8B-B14F-4D97-AF65-F5344CB8AC3E}">
        <p14:creationId xmlns:p14="http://schemas.microsoft.com/office/powerpoint/2010/main" val="17252043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CE2F0-4433-47C4-A3B2-21F905CE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Molecular support for uncertain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53DAC-620E-466D-BFA2-BE1206E3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Banff reference guide (updated Apr 2026). Proposed use requires a validated test.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7BAE0-7AC1-4512-8446-98C379FF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4E937-FA0A-4EC1-94DC-9DB4D449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Possible use: a molecular second opinion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B9DFC-8275-4C5F-9E15-59B5FDB0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Borderline findings or disagreement with clinical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44589-D5BE-4AFC-8B91-8DCACE33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286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Histology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Tissue appearance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979BBB-5EB1-4A76-8BEF-30D6E3E1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4286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measurements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Gene activity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AA384-A05A-4626-8579-9630020F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76625"/>
            <a:ext cx="417195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Specialist review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Additional molecular evidence</a:t>
            </a:r>
          </a:p>
        </p:txBody>
      </p:sp>
      <p:cxnSp>
        <p:nvCxnSpPr>
          <p:cNvPr id="2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895850" y="3581400"/>
            <a:ext cx="2514600" cy="6524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4895850" y="4233863"/>
            <a:ext cx="2514600" cy="6143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5FA1C-664E-4F7B-B52B-F3A7E882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project: learn rejection patterns from recorded diagnoses.</a:t>
            </a:r>
          </a:p>
        </p:txBody>
      </p:sp>
    </p:spTree>
    <p:extLst>
      <p:ext uri="{BB962C8B-B14F-4D97-AF65-F5344CB8AC3E}">
        <p14:creationId xmlns:p14="http://schemas.microsoft.com/office/powerpoint/2010/main" val="12815917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6838C-A0DF-4A50-806B-9C2447D1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C43C88-99A8-47D3-B1DF-4BA01C0C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Banff reference guide (2026); Rosales et al., JASN (2022), NanoString B-HOT study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EFC71-4D73-48FE-BB37-5ADCF3E4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961B0D-8AF0-4D88-926B-04F767BE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2609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Banff guidance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30653E-44EA-4DF5-84BF-2902B35E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0401D-3443-4304-9B0D-97505079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7BA78-1632-46F5-8CA6-1FBCD9C4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3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0E6A25-F8D3-4521-9DAC-322E1929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62275"/>
            <a:ext cx="81057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later developed chronic active antibody-mediated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rejection, despite no initial diagnosis of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EB759-01FC-4066-85AD-F8FEFD68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BF927-9C84-439A-B9BA-115B397E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RNA can add information beyond the initial tissue diagnosis.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35DC4-4A3D-4807-AB66-A9EAE5D0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tests recorded diagnoses.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Added value in uncertain cases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3627720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13A73-F954-42F5-92AF-9CA99270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diagnoses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FE04F-5354-47A5-A398-33BA4D9B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Zhang et al. (2024), GSE212160;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24EEF-397C-4AF5-B90C-84212034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495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1151B-7E60-49B6-94CB-B1CBBE6C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main question combines all three forms of rejection.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B78C45-6C60-4582-9F16-15D5D37E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“No rejection” does not mean an otherwise healthy biopsy.</a:t>
            </a:r>
          </a:p>
        </p:txBody>
      </p:sp>
    </p:spTree>
    <p:extLst>
      <p:ext uri="{BB962C8B-B14F-4D97-AF65-F5344CB8AC3E}">
        <p14:creationId xmlns:p14="http://schemas.microsoft.com/office/powerpoint/2010/main" val="5790269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66383-3A29-46D6-92EC-699B3E86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Measuring RNA in biopsy tissue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B2ACF-B9ED-4D80-ABD0-338980EC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Bruker nCounter documentation; GSE212160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9D2DC-C2FF-4D20-ABD0-EE0C729C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9879CB-5E57-496F-B8AA-66E6FB7A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includes messages cells make when genes are active.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770D83-7C70-4C7F-8EC4-F358229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Assay: a laboratory test     Panel: a fixed list of molecules to measure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B3F14-5962-4AB5-AF2F-18593C45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29051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from</a:t>
            </a:r>
          </a:p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tissue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13A18-3745-4A2F-A0AC-1B7689CA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152775"/>
            <a:ext cx="29051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Probes recognize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specific RNA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6B23A-8818-4995-B164-05C44BE1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52775"/>
            <a:ext cx="29051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Barcodes identify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to count</a:t>
            </a:r>
          </a:p>
        </p:txBody>
      </p: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514725" y="3752850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543800" y="3752850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CF68AD-A111-44C6-8EDA-CA099726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NanoString nCounter, using the B-HOT panel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C5269E-9275-4D2D-94E3-12CD24F7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Example output: IFNG count = 4 in one public specimen</a:t>
            </a:r>
          </a:p>
        </p:txBody>
      </p:sp>
    </p:spTree>
    <p:extLst>
      <p:ext uri="{BB962C8B-B14F-4D97-AF65-F5344CB8AC3E}">
        <p14:creationId xmlns:p14="http://schemas.microsoft.com/office/powerpoint/2010/main" val="483306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4E9BD-0619-4D11-B13C-F20F7BEE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by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1B3D7-8C9A-4FEC-8D50-01F297A4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66E71-3273-4345-A08E-CB194B35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0E27B-5D2A-440A-849E-DA081811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measurements per specimen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B42F4-7F8B-4DC0-9B36-444DF5BC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476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6EAD5-2327-40B8-B00B-B219270F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6172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Measurements used as model inputs</a:t>
            </a:r>
          </a:p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some viral RNA signals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92CE86-97C0-4158-8AF6-052E8AE8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81250"/>
            <a:ext cx="38957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5186D-2FBE-4916-A872-794857FC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324225"/>
            <a:ext cx="38957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Prepare the other counts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48F370-D6A2-4D87-B866-61BB475F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F8E70-917B-4686-9F85-3BFB2F92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Assay “target”: a molecule a probe recognizes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530284-F360-4A02-A234-8A22A5D4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Counts reflect gene activity and the mixture of cells in the tissue.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1EA903-E715-441C-A092-9C46326A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12 reference measurements are removed after normalization.</a:t>
            </a:r>
          </a:p>
        </p:txBody>
      </p:sp>
    </p:spTree>
    <p:extLst>
      <p:ext uri="{BB962C8B-B14F-4D97-AF65-F5344CB8AC3E}">
        <p14:creationId xmlns:p14="http://schemas.microsoft.com/office/powerpoint/2010/main" val="14407078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3E049-E22B-4F3C-BC76-F4F6CC7D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row describes one biopsy specimen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59BD9-4355-4780-BBFE-A5B07154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project data audit,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C1B799-7707-466A-9E1C-762C0A0B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E32DC-11D1-4FAD-B04C-7E0EA6E2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specimens included. No exclusions.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58F5D-9DD4-49AB-BF80-68973E67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1457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ID: GSM6510425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8E475F-3588-4219-8800-C2FAFF5C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3143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 record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IFNG = 4, 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B93E8-A433-4080-96F0-AAE9E5D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162300"/>
            <a:ext cx="29146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Match the same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25107-39CF-41CE-85E5-9C7458DE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62300"/>
            <a:ext cx="3143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Diagnosis record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No rejection</a:t>
            </a:r>
          </a:p>
        </p:txBody>
      </p: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752850" y="3757613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553325" y="3757613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577B7-1804-4993-9A76-EDC2B058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Only the prepared RNA measurements enter the model.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BD4E3F-EF6A-47B0-8B4E-63EAD3E3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IDs, diagnosis and cohort stay separate. No duplicate normalized profiles.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7E1523-84B2-4236-9A3E-A8EAF669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counts do not establish the number of independent patients.</a:t>
            </a:r>
          </a:p>
        </p:txBody>
      </p:sp>
    </p:spTree>
    <p:extLst>
      <p:ext uri="{BB962C8B-B14F-4D97-AF65-F5344CB8AC3E}">
        <p14:creationId xmlns:p14="http://schemas.microsoft.com/office/powerpoint/2010/main" val="13690831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B0D43-8ADF-4CD3-91EF-C2D24C85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F7CD8-D2A6-4D25-ACE5-698B172B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F7055-51CE-4172-92BD-25BCC56F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93085-F6A7-4B02-8DAF-38A06AAF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Add 1 to allow zero counts. Take log₂ to compress the range.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2352675"/>
          <a:ext xmlns:a="http://schemas.openxmlformats.org/drawingml/2006/main" cx="10972800" cy="2733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486775"/>
                <a:gridCol w="2486025"/>
              </a:tblGrid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in this specimen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Raw count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log₂(count + 1)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Mean of 12 housekeeping log counts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5467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Normalized input: 2.322 − 7.900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−5.578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2B21B-5832-4819-976B-EFF5FE12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specimen supplies its own reference. Keep 758 prepared inputs.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A9F92-E180-47B9-B804-A9D30043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any later learned scaling on training specimens only.</a:t>
            </a:r>
          </a:p>
        </p:txBody>
      </p:sp>
    </p:spTree>
    <p:extLst>
      <p:ext uri="{BB962C8B-B14F-4D97-AF65-F5344CB8AC3E}">
        <p14:creationId xmlns:p14="http://schemas.microsoft.com/office/powerpoint/2010/main" val="1666475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10879-212F-408F-BDAB-A47F8B4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63AFF-11D3-4546-B130-C627DF12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authors’ cohorts and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C0D07-532A-4623-852A-2B685553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C983AD-75BA-400E-A3C6-DD4895EF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6657975" cy="1019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Development: 1,050 specimens</a:t>
            </a:r>
          </a:p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Authors’ discovery cohort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CAD03-3A04-450E-A55C-C360D325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0099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20C86-3ACD-4E79-A477-AE2732AC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24250"/>
            <a:ext cx="3171825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2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+ threshold</a:t>
            </a:r>
          </a:p>
        </p:txBody>
      </p:sp>
      <p:cxnSp>
        <p:nvCxnSpPr>
          <p:cNvPr id="18" name="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2114550" y="2714625"/>
            <a:ext cx="1824038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3938588" y="2714625"/>
            <a:ext cx="1743075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22076-B2D0-4F50-A6A0-DE271D0A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377190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Evaluation: 345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Authors’ technical validation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 frozen choices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883A9-486A-4950-93CF-10E2A54A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saved split keeps the original diagnosis proportions similar.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764E1-C439-40D1-8080-0F43E82A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Patient and center independence are unverified.</a:t>
            </a:r>
          </a:p>
        </p:txBody>
      </p:sp>
    </p:spTree>
    <p:extLst>
      <p:ext uri="{BB962C8B-B14F-4D97-AF65-F5344CB8AC3E}">
        <p14:creationId xmlns:p14="http://schemas.microsoft.com/office/powerpoint/2010/main" val="3220885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4E7BD-1254-4033-9E53-8A444673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 model comparisons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EAE6F-5538-4618-94BB-08D8A98E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frozen primary configuration and analysis,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343D2-ACD9-45A4-879A-11EE2AF9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343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relationship using one RNA measurement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6865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A2B58A-A7F7-41AF-82E6-9C612F6D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Logistic regularization limits how large the weights can become.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35E09-145B-437D-AC26-2378726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Same specimen preparation. Same evaluation specimens.</a:t>
            </a:r>
          </a:p>
        </p:txBody>
      </p:sp>
    </p:spTree>
    <p:extLst>
      <p:ext uri="{BB962C8B-B14F-4D97-AF65-F5344CB8AC3E}">
        <p14:creationId xmlns:p14="http://schemas.microsoft.com/office/powerpoint/2010/main" val="15446949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DC2B6-02ED-494B-B14B-53B8E767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Turning a score into a rejection flag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FD8A2-552A-4BA1-A305-B052CB64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frozen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CF4FB-8BA4-4FB2-A49F-66D7E0D9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63EC0-CF7B-4D53-AB18-E3DD812D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score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79494-34A4-4D9E-ABB3-BE9966E3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628775"/>
            <a:ext cx="35814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Compare with threshold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8C1A1-AC51-4077-937B-F5456CF0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28775"/>
            <a:ext cx="2571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 flag</a:t>
            </a:r>
          </a:p>
        </p:txBody>
      </p: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52850" y="2009775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172450" y="2009775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E0F4E1-EFC4-4C0F-B978-6A905019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Missed rejection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1005F-241B-4AE7-892B-2E2895F4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5095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rejection, score below threshold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04B7B-CA6F-4327-8A49-FB33CDC2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813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False flag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F4123-D2D1-4100-932F-C544E933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76600"/>
            <a:ext cx="5048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no rejection, score at or above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45390F-7858-4997-B7ED-BA089AE8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8534B-28B1-4525-A48A-1EC14BBE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detect at least 90% of rejection, then minimize false flags.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42AC42-91F4-4145-8E0B-A79A774F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Freeze the model and threshold together. CatBoost cutoff: 0.876588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621A83-7B71-4366-A407-211736D1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90% is an experiment choice. A score is not a calibrated probability.</a:t>
            </a:r>
          </a:p>
        </p:txBody>
      </p:sp>
    </p:spTree>
    <p:extLst>
      <p:ext uri="{BB962C8B-B14F-4D97-AF65-F5344CB8AC3E}">
        <p14:creationId xmlns:p14="http://schemas.microsoft.com/office/powerpoint/2010/main" val="6713200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F6F3F-BEAA-4E22-8B41-0D10B134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Several measurements reduced false flags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6B769E-0AC2-459B-8833-6F47277B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frozen primary evaluation, 15 Sep 2026. Each model keeps its chosen threshold.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19060-3F1D-4CBE-BF5A-E84D49D5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298D8-EB3C-4D5B-9490-6FFD2BEC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ddf8c1ab94428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8516B-E1E5-4260-B93B-478CAAA8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Constant: 0 / 169 missed, 176 / 176 false flags. It flags everyone.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5FC45-2DCD-4418-9820-6E93501D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CatBoost versus IFNG: 67 fewer false flags, 11 more misses.</a:t>
            </a:r>
          </a:p>
        </p:txBody>
      </p:sp>
    </p:spTree>
    <p:extLst>
      <p:ext uri="{BB962C8B-B14F-4D97-AF65-F5344CB8AC3E}">
        <p14:creationId xmlns:p14="http://schemas.microsoft.com/office/powerpoint/2010/main" val="3765892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FEA52-C379-46BA-9FDC-054130DC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Most CatBoost misses were T-cell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116F2-15C4-434A-BB37-63F32FA2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frozen primary evaluation and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1F702-B43A-48D1-BA41-CADA8B81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BB485-F551-40A9-87FF-A9852132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4286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144 / 169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41858-B1A2-40AC-BF05-7FF9CD3F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4476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 cases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C4CB2-1C36-4B9C-92D3-B3509D36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47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85.2% sensitivity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96436-272B-4D53-8CAC-D243A34D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4476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157 / 174 (90.2%)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Evaluation falls below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90% selection target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5314950" y="1743075"/>
          <a:ext xmlns:a="http://schemas.openxmlformats.org/drawingml/2006/main" cx="6267450" cy="3400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266950"/>
              </a:tblGrid>
              <a:tr h="8501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rejection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Missed / total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8501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56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8501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18 / 95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8501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 / 18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0F62C-6879-44FC-8048-0B26E153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Errors describe disagreements with recorded diagnoses.</a:t>
            </a:r>
          </a:p>
        </p:txBody>
      </p:sp>
    </p:spTree>
    <p:extLst>
      <p:ext uri="{BB962C8B-B14F-4D97-AF65-F5344CB8AC3E}">
        <p14:creationId xmlns:p14="http://schemas.microsoft.com/office/powerpoint/2010/main" val="2130450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105AE5-11D4-4016-A28A-666DA944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advantage over logistic regression is uncertain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74B7D4-CF9E-4D75-9DB9-2C397B4A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paired bootstrap analysis; discovery stability follow-up,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CEC19-27AB-4CF3-BB99-EF1DF0D5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4087A-D4BD-41DA-B8A3-8EAC4C73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Fixed models, same evaluation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8E4561-CC2C-46F1-8915-BEEC4029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8 fewer misses among 169 rejection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7F7F6-099C-49C1-A204-D7D9445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Both make 8 / 176 false flags. The 95% interval for the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detection advantage includes zero (2,000 specimen resamples).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350E95-F041-4F63-99EC-03BD8AA3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09B2BD-AE30-47E7-A2BC-15465601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Model choice across 20 development splits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4429125"/>
          <a:ext xmlns:a="http://schemas.openxmlformats.org/drawingml/2006/main" cx="10972800" cy="1219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13 selections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 selections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1682F1-8305-4744-8145-3685F1D9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repetitions overlap. Logistic regression remains a simpler alternative.</a:t>
            </a:r>
          </a:p>
        </p:txBody>
      </p:sp>
    </p:spTree>
    <p:extLst>
      <p:ext uri="{BB962C8B-B14F-4D97-AF65-F5344CB8AC3E}">
        <p14:creationId xmlns:p14="http://schemas.microsoft.com/office/powerpoint/2010/main" val="59375781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0951E-3E80-41A6-B4F8-A2183094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 and serving share the same preprocessing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F00C3-75D5-4717-BBAC-8691EB77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 and Predictor;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3FFC4-05BF-452F-8CBA-43103824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17CE95-F988-49BA-B302-7925A098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CSV through the command line or web application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AE928-69E2-42E2-86FF-0074A5E2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Read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FA97B-FCDB-4ECD-9D15-0BA42305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names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numbers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2DE7EF-6134-4222-8DBD-616CF692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758 inputs</a:t>
            </a:r>
          </a:p>
        </p:txBody>
      </p:sp>
      <p:cxnSp>
        <p:nvCxnSpPr>
          <p:cNvPr id="2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8645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7015A-0029-459D-A672-1853DFBF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with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frozen model</a:t>
            </a:r>
          </a:p>
        </p:txBody>
      </p:sp>
      <p:cxnSp>
        <p:nvCxnSpPr>
          <p:cNvPr id="2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249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DD979F-1712-42DB-8660-F0AF45C8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Response: specimen ID, score, threshold, flag and model version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E96627-7F3A-45DE-BE0D-2D6273D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Missing or duplicate names, negative or non-finite counts: stop scoring.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EB0FB0-31F5-486F-B85A-7B06470B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Only the configured model can load. Scores remain research scores.</a:t>
            </a:r>
          </a:p>
        </p:txBody>
      </p:sp>
    </p:spTree>
    <p:extLst>
      <p:ext uri="{BB962C8B-B14F-4D97-AF65-F5344CB8AC3E}">
        <p14:creationId xmlns:p14="http://schemas.microsoft.com/office/powerpoint/2010/main" val="1689083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6F6427-8DF0-4510-88FB-0A1FD308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4652DB-8C20-4BF5-9E41-97B2241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9AC60D-B1BD-4C46-A2FB-7C560A95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E0D0E-49D3-4F55-AD46-61255B70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GSM6510425: recorded no rejection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10972800" cy="1266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334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Frozen threshold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334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ED6436-7D34-4554-983D-45789A12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IFNG: log₂(4 + 1) = 2.322. Housekeeping reference: 7.900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9DEAB-10BB-4E8A-AE1E-B70653D4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Normalized input = −5.578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3F1704-7385-4532-8CB6-B1777094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Remove IFNG: “Missing required assay targets: IFNG”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B52D3-99C0-464D-BD76-0F8C4282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Previous result clears. No new score returns.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4A067-B934-4862-948C-4589BB20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</p:spTree>
    <p:extLst>
      <p:ext uri="{BB962C8B-B14F-4D97-AF65-F5344CB8AC3E}">
        <p14:creationId xmlns:p14="http://schemas.microsoft.com/office/powerpoint/2010/main" val="6285498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47FCD-9F3F-4E2F-BDF3-233AD3E7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service reproduces all 345 saved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640747-933D-44D5-B145-7D529623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local verification, 17 Sep 2026. Software consistency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47952-7EB1-4FC4-924C-887BE6A7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913BB-4E26-49C8-9220-FD973F13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345 / 345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734B4-07F5-40F5-A66D-DFC63113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API, command line and saved evaluation agree within 10⁻¹².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CF3DB-A4A5-4B37-BBFC-47B52CA4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C9563-DF60-4425-8B0D-17CF9EBC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94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14944-5EC9-4B8C-A84E-8B97D66C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Reordered columns: same score. Invalid counts: no score.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Incompatible model metadata: model does not load.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1E965-6E26-4B82-88D6-BA98D782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Local research container checked. Cloud deployment remains deferred.</a:t>
            </a:r>
          </a:p>
        </p:txBody>
      </p:sp>
    </p:spTree>
    <p:extLst>
      <p:ext uri="{BB962C8B-B14F-4D97-AF65-F5344CB8AC3E}">
        <p14:creationId xmlns:p14="http://schemas.microsoft.com/office/powerpoint/2010/main" val="156892337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C7D835-8E3B-48AE-8060-4BE1CEFC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Next 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ADE80-715C-45E2-A874-387EDAC1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project research context and primary analysis; Banff work plan (2024). Proposed evaluation.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324980-AC49-47F5-B88C-ABD5C25E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BD473-0CF5-4820-B0B6-098BD7B1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Established: classification in one deposited study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6912F-B9E0-49A4-84B8-09659707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Independence unverified. Assay groups track cohorts.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File checks do not establish laboratory quality.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A5F14-F8E0-4F84-8327-B3E08ADE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DC0A0F-1176-4D17-8CF9-6864C5A5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2886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New cohort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66FDC-07C8-4F92-81C7-7141F3F0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267075"/>
            <a:ext cx="78962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Patient and center IDs, laboratory quality records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Fixed models and thresholds, including logistic regression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26496-DF5F-4FC1-AD0A-4CBC186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28860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Uncertain biopsies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CAA29B-C4F1-46D9-B0FB-5496072D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410075"/>
            <a:ext cx="78962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Usual assessment versus assessment plus molecular score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Independent expert review and follow-up outcomes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738D2-9DE7-4995-9806-8C54A129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Test whether the added evidence improves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77402180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AF0CD-6C63-480C-8F5C-574A7799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Molecular counts can classify recorded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2044B-49BF-442A-871C-595563B3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Presentation prepared with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B9AB3-60D0-4FC6-92D9-10563F6B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81134-143D-4711-BD1F-A438516D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CatBoost, 345 evaluation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07AB1-04D9-41B3-89A6-2A58B847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25 / 169 misses. 8 / 176 false flags.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8C1F4-409C-4974-826F-0F5232CD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Logistic regression remains a credible simpler alternative.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EAA7E-DABD-4FC4-871D-07BE2601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A tested research prototype for molecular support</a:t>
            </a:r>
          </a:p>
          <a:p xmlns:a="http://schemas.openxmlformats.org/drawingml/2006/main">
            <a:pPr algn="l">
              <a:defRPr sz="277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of biopsy interpretation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02ABF-6448-44DA-98DA-67BA8EF8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CDE6DF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CDE6DF"/>
                </a:solidFill>
                <a:latin typeface="Arial"/>
                <a:ea typeface="Arial"/>
                <a:cs typeface="Arial"/>
              </a:rPr>
              <a:t>Next: test added value in uncertain biopsies on a new cohort.</a:t>
            </a:r>
          </a:p>
        </p:txBody>
      </p:sp>
    </p:spTree>
    <p:extLst>
      <p:ext uri="{BB962C8B-B14F-4D97-AF65-F5344CB8AC3E}">
        <p14:creationId xmlns:p14="http://schemas.microsoft.com/office/powerpoint/2010/main" val="65479671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2DCC69-8235-43C6-99C2-9740DA3C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complete primary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DA58B-4587-41C4-A7C3-13A90D8D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frozen primary evaluation, 15 Sep 2026. Same 345 specimens.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6B4D0-D2CD-4713-9844-ADBBFC22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24100"/>
                <a:gridCol w="1295400"/>
                <a:gridCol w="1600200"/>
                <a:gridCol w="1914525"/>
                <a:gridCol w="1952625"/>
                <a:gridCol w="1885950"/>
              </a:tblGrid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85.2%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80.5%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91.7%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57.4%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176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100.0%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0.0%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01734-F983-46FF-A45C-050CFFEC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Denominators: 169 rejection; 176 no rejection. Fixed thresholds per model.</a:t>
            </a:r>
          </a:p>
        </p:txBody>
      </p:sp>
    </p:spTree>
    <p:extLst>
      <p:ext uri="{BB962C8B-B14F-4D97-AF65-F5344CB8AC3E}">
        <p14:creationId xmlns:p14="http://schemas.microsoft.com/office/powerpoint/2010/main" val="7755776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BBE2A-CFB1-46FB-A19A-FEE257F3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normalization and threshold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F447E-7B86-4E24-A9E9-81615002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preprocessing.py; saved configuration and screening results in results/reproduction/baseline.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F5CA6-1899-4F81-AB10-584F8743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9B253-BF4A-4E7C-9AFC-1EFC875F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Normalized measurement = log₂(raw count + 1)</a:t>
            </a:r>
          </a:p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− mean of the 12 housekeeping log₂(count + 1)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C0336-4A04-468A-BE09-0AE831DD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585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Logistic: scaling fitted on training rows; regularization C = 0.1.</a:t>
            </a:r>
          </a:p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CatBoost: 300 trees, depth 4, learning rate 0.04.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F7A11-4D24-44A9-84AB-3396B40A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Both detected 157 / 174 screening rejection cases.</a:t>
            </a:r>
          </a:p>
          <a:p xmlns:a="http://schemas.openxmlformats.org/drawingml/2006/main">
            <a:pPr algn="l"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False flags: CatBoost 5 / 89, logistic 6 / 89.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555A8-4FB2-4E23-8DA6-54560BD0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85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Flag when score ≥ 0.8765880870219778 for the frozen service.</a:t>
            </a:r>
          </a:p>
        </p:txBody>
      </p:sp>
    </p:spTree>
    <p:extLst>
      <p:ext uri="{BB962C8B-B14F-4D97-AF65-F5344CB8AC3E}">
        <p14:creationId xmlns:p14="http://schemas.microsoft.com/office/powerpoint/2010/main" val="929751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4B965-E185-41B7-B024-B9D3B1D2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ranking does not guarantee calibrated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F2872A-05CD-4204-BB5A-EA152077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reliability_bins.csv. Fixed bins; Wilson interval shown for the highlighted descriptive example. No recalibration fitted.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0C41F-21DB-425E-A2C9-E5252F32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61975" y="1571625"/>
          <a:ext xmlns:a="http://schemas.openxmlformats.org/drawingml/2006/main" cx="69151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cfa294420b44b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7562B-007E-4098-9E8F-22CCC6A5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62125"/>
            <a:ext cx="3771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Score bin 0.8–0.9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82D73-622B-4A6E-B365-7248DB84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57450"/>
            <a:ext cx="37719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0.847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747368-C7E6-402F-B773-850EED1F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52775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mean score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C3201-0B04-42A3-B715-07A9F68F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86200"/>
            <a:ext cx="3771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7 / 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2DCE4-3A90-4B25-9437-4C6E983E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95825"/>
            <a:ext cx="37719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had recorded rejection</a:t>
            </a:r>
          </a:p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43.8% (95% CI 23.1–66.8%)</a:t>
            </a:r>
          </a:p>
        </p:txBody>
      </p:sp>
    </p:spTree>
    <p:extLst>
      <p:ext uri="{BB962C8B-B14F-4D97-AF65-F5344CB8AC3E}">
        <p14:creationId xmlns:p14="http://schemas.microsoft.com/office/powerpoint/2010/main" val="205421021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427C9-37FE-43A5-89A3-42C84C28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subtype follow-up retained the binary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6EC98-F501-41BD-A496-C048586D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subtype follow-up, 15 Sep 2026. Reuses an already examined validation cohort; independent confirmation remains needed.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F97FC-D986-4484-B371-DA082F06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67300"/>
                <a:gridCol w="3257550"/>
                <a:gridCol w="264795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Any-rejection misses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Binary CatBoost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 / 169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CatBoost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29 / 169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logistic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28 / 169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 / 176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Separate component models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24 / 169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 / 176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6247CA-06C8-48F2-A979-B864BE34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logistic recognized 10 / 18 mixed diagnoses,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with 5 false mixed calls among 327 non-mixed specimens.</a:t>
            </a:r>
          </a:p>
        </p:txBody>
      </p:sp>
    </p:spTree>
    <p:extLst>
      <p:ext uri="{BB962C8B-B14F-4D97-AF65-F5344CB8AC3E}">
        <p14:creationId xmlns:p14="http://schemas.microsoft.com/office/powerpoint/2010/main" val="189108815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E7076A-82C6-421D-9ECA-591D2B85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study, assay and deployment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CF2D2E-D27D-489A-949E-488B6869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analysis, research context, and current verification guide.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4C1EF-A83B-413B-81E5-CAF66504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43400"/>
                <a:gridCol w="6629400"/>
              </a:tblGrid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project establishes</a:t>
                      </a:r>
                    </a:p>
                  </a:txBody>
                  <a:tcPr marL="171450" marR="142875" marT="114300" marB="95250" anchor="ctr">
                    <a:solidFill>
                      <a:srgbClr val="16343E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Patient / center independence?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Independence not verified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Laboratory assay quality?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File checks only; lab quality unverified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Individual probabilities?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Calibration remains limited</a:t>
                      </a:r>
                    </a:p>
                  </a:txBody>
                  <a:tcPr marL="171450" marR="142875" marT="114300" marB="9525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Cloud deployment?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Local container tested; cloud work deferred</a:t>
                      </a:r>
                    </a:p>
                  </a:txBody>
                  <a:tcPr marL="171450" marR="142875" marT="114300" marB="952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65C38-3168-410A-A7C2-9C28F0C9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Biopsy-level resampling may understate uncertainty if specimens are related.</a:t>
            </a:r>
          </a:p>
        </p:txBody>
      </p:sp>
    </p:spTree>
    <p:extLst>
      <p:ext uri="{BB962C8B-B14F-4D97-AF65-F5344CB8AC3E}">
        <p14:creationId xmlns:p14="http://schemas.microsoft.com/office/powerpoint/2010/main" val="212494231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D0AD59-AAD5-4017-93E7-DA89481E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sources and contributions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CB840-D881-40D4-9FA6-E6734A1D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7F0A92-AEDB-4FD1-95A9-1DB807CD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Public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1EC43D-40F6-4E64-96CF-55BB3B4C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 et al., Laboratory Investigation (2024)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GSE212160 raw NanoString B-HOT measurements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E8BDB-3024-40F6-A279-B71951E8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76684B-BF32-4B12-83A8-0027FE0A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Binary comparison and runs produced in this repository,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shared software and a tested local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B96BE-39B5-49AA-ADF4-46C9CF89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4572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Presentation approach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08F6D-49F2-4EEF-B71A-82EEBBCF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Bourne (2007); Kosslyn et al. (2012); Garner &amp; Alley (2013); Rougier et al. (2014)</a:t>
            </a:r>
          </a:p>
        </p:txBody>
      </p:sp>
    </p:spTree>
    <p:extLst>
      <p:ext uri="{BB962C8B-B14F-4D97-AF65-F5344CB8AC3E}">
        <p14:creationId xmlns:p14="http://schemas.microsoft.com/office/powerpoint/2010/main" val="85734258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C56489-BE8D-4E5B-920C-48A54B9E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UNOS research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CB9FF-5309-4856-BAF9-B06C53C3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UNOS, Using AI to identify kidney anatomy issues (2 Jun 2026)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9BD626-FC2A-4968-B404-4FB7E0E5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5D01D-416A-4FC3-969F-0733A47E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UNOS: anatomical issues in donor kidney photographs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F32AAD-B6D7-4365-9786-76B8C080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Historical labels: both kidneys transplanted,</a:t>
            </a:r>
          </a:p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or an organ refused because of anatomy concerns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60E7A-5C6E-448C-AF7B-AD5013E7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Intended use: support clinical assessment</a:t>
            </a:r>
          </a:p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and improve consistency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00667-3699-49D6-88F6-93B234B4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FEF85-5C7D-4C15-9B77-21664C92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Connection: learn from recorded assessments</a:t>
            </a:r>
          </a:p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to develop additional evidence for specialists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307D5-94DF-41B1-8238-DB2694BD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Different clinical task. This is not UNOS validation of our classifier.</a:t>
            </a:r>
          </a:p>
        </p:txBody>
      </p:sp>
    </p:spTree>
    <p:extLst>
      <p:ext uri="{BB962C8B-B14F-4D97-AF65-F5344CB8AC3E}">
        <p14:creationId xmlns:p14="http://schemas.microsoft.com/office/powerpoint/2010/main" val="19157884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2026-09-19T03:59:46.6870000Z</dcterms:created>
  <dcterms:modified xsi:type="dcterms:W3CDTF">2026-09-19T03:59:46.6870000Z</dcterms:modified>
</coreProperties>
</file>