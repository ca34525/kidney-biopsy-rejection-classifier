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charts/chart2.xml" ContentType="application/vnd.openxmlformats-officedocument.drawingml.chart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e864792513114a4a" /><Relationship Type="http://schemas.openxmlformats.org/officeDocument/2006/relationships/extended-properties" Target="/docProps/app.xml" Id="R3becd30849124e60" /><Relationship Type="http://schemas.openxmlformats.org/officeDocument/2006/relationships/officeDocument" Target="/ppt/presentation.xml" Id="R50666fb9fdfd4b3e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774073c01bb411c"/>
  </p:sldMasterIdLst>
  <p:sldIdLst>
    <p:sldId id="256" r:id="Rfd8531a0aec54c3f"/>
    <p:sldId id="257" r:id="R74bb408217b5440d"/>
    <p:sldId id="258" r:id="R1cf8721bd4194095"/>
    <p:sldId id="259" r:id="R35cda89b91ba4f51"/>
    <p:sldId id="260" r:id="R1fbdc952ff884d3a"/>
    <p:sldId id="261" r:id="R7fe7089d49234dda"/>
    <p:sldId id="262" r:id="R52f7fed439054593"/>
    <p:sldId id="263" r:id="R2c8067f3d5b34a05"/>
    <p:sldId id="264" r:id="Rb3b5e4264c254af8"/>
    <p:sldId id="265" r:id="R887e41daa2754bc7"/>
    <p:sldId id="266" r:id="Rc7c6314caafa4ae5"/>
    <p:sldId id="267" r:id="R9207c263edb14e95"/>
    <p:sldId id="268" r:id="R768de5ec83f5410d"/>
    <p:sldId id="269" r:id="R91f7a4618cd84434"/>
    <p:sldId id="270" r:id="R94ff88df8e614afa"/>
    <p:sldId id="271" r:id="Rcfeb2795a64b4df7"/>
    <p:sldId id="272" r:id="Rfaf8ae27affc4a77"/>
    <p:sldId id="273" r:id="R0fc17d1099794fd3"/>
    <p:sldId id="274" r:id="R1b07c50167c94d32"/>
    <p:sldId id="275" r:id="Rcbb6821efe0d4a65"/>
    <p:sldId id="276" r:id="R30e803465e1b4d4a"/>
    <p:sldId id="277" r:id="R534315b83c4c490d"/>
    <p:sldId id="278" r:id="R881ed418b3804c6b"/>
    <p:sldId id="279" r:id="Rd512c2c93ab64101"/>
    <p:sldId id="280" r:id="R97bcf03cee7e473c"/>
    <p:sldId id="281" r:id="R67135188b8204a6c"/>
    <p:sldId id="282" r:id="Rdc5326e1ba9d4c41"/>
    <p:sldId id="283" r:id="R82c812a3451e4b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f720f7286d074fc9" /><Relationship Type="http://schemas.openxmlformats.org/officeDocument/2006/relationships/slideMaster" Target="/ppt/slideMasters/slideMaster1.xml" Id="R7774073c01bb411c" /><Relationship Type="http://schemas.openxmlformats.org/officeDocument/2006/relationships/presProps" Target="/ppt/presProps.xml" Id="R43189c63566a44e0" /><Relationship Type="http://schemas.openxmlformats.org/officeDocument/2006/relationships/tableStyles" Target="/ppt/tableStyles.xml" Id="Rae21261125cf4cb2" /><Relationship Type="http://schemas.openxmlformats.org/officeDocument/2006/relationships/slide" Target="/ppt/slides/slide1.xml" Id="Rfd8531a0aec54c3f" /><Relationship Type="http://schemas.openxmlformats.org/officeDocument/2006/relationships/slide" Target="/ppt/slides/slide2.xml" Id="R74bb408217b5440d" /><Relationship Type="http://schemas.openxmlformats.org/officeDocument/2006/relationships/slide" Target="/ppt/slides/slide3.xml" Id="R1cf8721bd4194095" /><Relationship Type="http://schemas.openxmlformats.org/officeDocument/2006/relationships/slide" Target="/ppt/slides/slide4.xml" Id="R35cda89b91ba4f51" /><Relationship Type="http://schemas.openxmlformats.org/officeDocument/2006/relationships/slide" Target="/ppt/slides/slide5.xml" Id="R1fbdc952ff884d3a" /><Relationship Type="http://schemas.openxmlformats.org/officeDocument/2006/relationships/slide" Target="/ppt/slides/slide6.xml" Id="R7fe7089d49234dda" /><Relationship Type="http://schemas.openxmlformats.org/officeDocument/2006/relationships/slide" Target="/ppt/slides/slide7.xml" Id="R52f7fed439054593" /><Relationship Type="http://schemas.openxmlformats.org/officeDocument/2006/relationships/slide" Target="/ppt/slides/slide8.xml" Id="R2c8067f3d5b34a05" /><Relationship Type="http://schemas.openxmlformats.org/officeDocument/2006/relationships/slide" Target="/ppt/slides/slide9.xml" Id="Rb3b5e4264c254af8" /><Relationship Type="http://schemas.openxmlformats.org/officeDocument/2006/relationships/slide" Target="/ppt/slides/slide10.xml" Id="R887e41daa2754bc7" /><Relationship Type="http://schemas.openxmlformats.org/officeDocument/2006/relationships/slide" Target="/ppt/slides/slide11.xml" Id="Rc7c6314caafa4ae5" /><Relationship Type="http://schemas.openxmlformats.org/officeDocument/2006/relationships/slide" Target="/ppt/slides/slide12.xml" Id="R9207c263edb14e95" /><Relationship Type="http://schemas.openxmlformats.org/officeDocument/2006/relationships/slide" Target="/ppt/slides/slide13.xml" Id="R768de5ec83f5410d" /><Relationship Type="http://schemas.openxmlformats.org/officeDocument/2006/relationships/slide" Target="/ppt/slides/slide14.xml" Id="R91f7a4618cd84434" /><Relationship Type="http://schemas.openxmlformats.org/officeDocument/2006/relationships/slide" Target="/ppt/slides/slide15.xml" Id="R94ff88df8e614afa" /><Relationship Type="http://schemas.openxmlformats.org/officeDocument/2006/relationships/slide" Target="/ppt/slides/slide16.xml" Id="Rcfeb2795a64b4df7" /><Relationship Type="http://schemas.openxmlformats.org/officeDocument/2006/relationships/slide" Target="/ppt/slides/slide17.xml" Id="Rfaf8ae27affc4a77" /><Relationship Type="http://schemas.openxmlformats.org/officeDocument/2006/relationships/slide" Target="/ppt/slides/slide18.xml" Id="R0fc17d1099794fd3" /><Relationship Type="http://schemas.openxmlformats.org/officeDocument/2006/relationships/slide" Target="/ppt/slides/slide19.xml" Id="R1b07c50167c94d32" /><Relationship Type="http://schemas.openxmlformats.org/officeDocument/2006/relationships/slide" Target="/ppt/slides/slide20.xml" Id="Rcbb6821efe0d4a65" /><Relationship Type="http://schemas.openxmlformats.org/officeDocument/2006/relationships/slide" Target="/ppt/slides/slide21.xml" Id="R30e803465e1b4d4a" /><Relationship Type="http://schemas.openxmlformats.org/officeDocument/2006/relationships/slide" Target="/ppt/slides/slide22.xml" Id="R534315b83c4c490d" /><Relationship Type="http://schemas.openxmlformats.org/officeDocument/2006/relationships/slide" Target="/ppt/slides/slide23.xml" Id="R881ed418b3804c6b" /><Relationship Type="http://schemas.openxmlformats.org/officeDocument/2006/relationships/slide" Target="/ppt/slides/slide24.xml" Id="Rd512c2c93ab64101" /><Relationship Type="http://schemas.openxmlformats.org/officeDocument/2006/relationships/slide" Target="/ppt/slides/slide25.xml" Id="R97bcf03cee7e473c" /><Relationship Type="http://schemas.openxmlformats.org/officeDocument/2006/relationships/slide" Target="/ppt/slides/slide26.xml" Id="R67135188b8204a6c" /><Relationship Type="http://schemas.openxmlformats.org/officeDocument/2006/relationships/slide" Target="/ppt/slides/slide27.xml" Id="Rdc5326e1ba9d4c41" /><Relationship Type="http://schemas.openxmlformats.org/officeDocument/2006/relationships/slide" Target="/ppt/slides/slide28.xml" Id="R82c812a3451e4bee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e970cdb299142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964f569c489b47a1" /><Relationship Type="http://schemas.openxmlformats.org/officeDocument/2006/relationships/slideLayout" Target="/ppt/slideLayouts/slideLayout1.xml" Id="R779a5abcae4148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9a5abcae4148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e9986b5f6a74d9d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2cffa338f4e4dcc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e38e40b287f48c3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5b9078b4f824a47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3a0eb13500646e1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50387702b2143c3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069750297994224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e103e8171da4a1f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51c849facb1445e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bbde236857b4a3b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4d7b0f835514f6d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1290fbb0d82492e" /><Relationship Type="http://schemas.openxmlformats.org/officeDocument/2006/relationships/chart" Target="/ppt/slides/charts/chart1.xml" Id="Rf33c028e63ef4b5b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b949d9aad0a421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788637be6624ed6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72480939f1e441c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4fc4571da9a409e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1cf2560ce424a09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229eb7a80e44504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783afd008eb4758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790ceeae29c44b1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440d06cf35041db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3e1e10c21c8405d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5725189743e45fd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2adc10001c547eb" /><Relationship Type="http://schemas.openxmlformats.org/officeDocument/2006/relationships/chart" Target="/ppt/slides/charts/chart2.xml" Id="R619cde001f45431e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c99c3287c244897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f4c265c8d3847fa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ed0eec2686948da" /></Relationships>
</file>

<file path=ppt/slides/_rels/slide2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4b19727dd6e403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
(Logistic regression)</c:v>
                </c:pt>
                <c:pt idx="1">
                  <c:v>All RNA
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
(Logistic regression)</c:v>
                </c:pt>
                <c:pt idx="1">
                  <c:v>All RNA
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7B5AB-E997-4182-8808-DC8405BE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6807373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09877-C2F3-47F0-B001-ABABDE00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9DE7A4-6A0A-4B1D-825D-FC3AC8B4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59A6E2-A894-4712-B2F2-F6D01D28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514B2-FE6C-446F-9028-9578D959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7152C6-5915-4C5A-AB18-E823F551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05D8E-E9F4-44CF-A983-31186E97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and supports the recorded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2F19BE-FFEF-4029-9A6C-BC7955BC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provide the model’s inputs.</a:t>
            </a:r>
          </a:p>
        </p:txBody>
      </p:sp>
    </p:spTree>
    <p:extLst>
      <p:ext uri="{BB962C8B-B14F-4D97-AF65-F5344CB8AC3E}">
        <p14:creationId xmlns:p14="http://schemas.microsoft.com/office/powerpoint/2010/main" val="14126341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0094FF-D06F-482B-9242-7BDFB4A9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8DF2E-2A67-43E8-BC68-500678AB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24CB2D-7365-45BB-AA6B-73B32B7F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DB8C7-25C3-468D-A25F-3F3D7025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microscopic findings are borderline or conflict with other clinical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14467-ED1A-4400-BFB3-F808AE21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DD97A-7F99-4356-B33D-F8D13829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57475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159D8-DA08-4A07-B0FA-265373FA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28950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biopsy shows mild inflammation, but the microscopic findings do not clearly establish rejection.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0DEF9-6650-415E-A398-6A114C24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RNA to classify recorded diagnoses in this personal project.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412A2E-02DE-4CDB-8073-565EB9E2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9175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D79409-DA12-44E8-83E1-C08C83F6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14900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Example, continued: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1B7A7-BB82-47E5-8297-BF3AA2D2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286375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high rejection score could add evidence for specialist review of this biopsy.</a:t>
            </a:r>
          </a:p>
        </p:txBody>
      </p:sp>
    </p:spTree>
    <p:extLst>
      <p:ext uri="{BB962C8B-B14F-4D97-AF65-F5344CB8AC3E}">
        <p14:creationId xmlns:p14="http://schemas.microsoft.com/office/powerpoint/2010/main" val="20454455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89941-81D0-410F-AB8B-57AEB8C1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45F7D-7B7F-4154-A019-8A4A3F06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2ECA23-295A-4957-AC18-5B29EA19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609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761E7-060B-4CB7-8B23-7F6B7394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E4EAB0-2B96-415C-8E28-3E5472EF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079C7-066D-4961-8B00-31F9984F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6098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47D30-8F26-450B-94A3-A2CB3435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66975"/>
            <a:ext cx="81057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 later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developed chronic active antibody-mediated rejection,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30726-4AE7-4CD9-8F36-9D17DF0A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A3927-01C7-41B2-B761-26D0D432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incorrect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calls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54D21-E6AA-4F3E-9FEB-400BA331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81425"/>
            <a:ext cx="810577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Unnecessary rejection treatment can weaken the body’s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defenses and worsen an infection.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6C99F6-69E2-4508-AAA7-26E93EE8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829175"/>
            <a:ext cx="8105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KDIGO (2009); BK polyomavirus consensus (2024)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F1F5A-E7F9-4CF4-8BFD-8214ED0B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personal project measured agreement with recorded diagnoses.</a:t>
            </a:r>
          </a:p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Its value in ambiguous biopsies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3454861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F5194-FEEA-46CA-9010-6186471E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A6468-B3F1-4DF1-B4F4-6A1FF615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63668-78B2-4682-BB2F-AFA4E855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E6615-AD9A-40EC-9790-0BC1330F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081A9-CE04-43AB-9B8B-0C639994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92AA4-A78A-4874-875D-38D1F4ED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DE46CB-2CD0-4D27-863F-9A1A8B98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C19ECA-71B8-4971-A0FC-6CE595A5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5C413-DEE7-4861-B17D-65154019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A44A5-B590-4499-8EB0-CC8D4249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15846669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8CF2A-A2DF-44D8-8CA8-42E4DC88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E3E09-CAFB-424A-85C7-EA6F0C85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350866-03CB-4344-AB3C-3DBC517D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1FCA2-D629-4D78-BC9F-555A136B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7393C-BA82-49A6-B44A-BAB803BC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2227731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5E277B-C1D1-4483-B2FD-04AE3472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7485B-5955-4C35-9F57-27CCEEC9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A25CC-357A-4C47-98DD-EB022F22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56A68A-A1FA-4DA6-A32C-B5F890D7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2896D0-D3E7-47F2-ADD4-A1F464B7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95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7A967-7F02-4CD1-B6AC-06500951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3B97A8-9E57-4588-963E-2D4EB585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 human and viral RNA.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depend on gene activity and the cell mixture.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55B4A-41A5-4F73-B508-6488529D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146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981A0-8D2C-4969-854D-068B6AEF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51472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EB0AB1-71A1-45B0-BB16-B29FED61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95750"/>
            <a:ext cx="50387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12 different reference RNAs.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to adjust for differences in how much RNA each specimen supplies.</a:t>
            </a:r>
          </a:p>
        </p:txBody>
      </p:sp>
    </p:spTree>
    <p:extLst>
      <p:ext uri="{BB962C8B-B14F-4D97-AF65-F5344CB8AC3E}">
        <p14:creationId xmlns:p14="http://schemas.microsoft.com/office/powerpoint/2010/main" val="509372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8FD5C5-8EE8-44B4-8DC3-9E93C2F9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62D48-0548-41BA-B291-C48F3D32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DD4C0-7D48-428B-801A-FDD94C7B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88229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4CA52-274F-433E-ABB8-2D911D3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4C38D-2772-4F26-9BDD-91678CE9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F66B1-62F2-4C2F-8214-8687C898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143AD-1642-4ECF-BE05-422AA427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90A919-B82E-4E39-B417-4CC35FE8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6D6D9-1315-4F93-9F88-ADA149EB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A6D13-C9EE-425B-88E6-6D74673A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31F0C-BFF1-4203-8771-33B8E31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3741049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695A3-119B-4C4A-AB88-617B9E9C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D4573-32F9-425A-AB2E-798DC8CD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analysis, 15 Sep 2026; Zhang et al., Supplementary Table S2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E306D-2D8F-4340-A7BF-3DC53B4E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407CE-690B-4408-BC39-065275C6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504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1047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1198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559558-3735-4E4C-9CF2-7CC11AF1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FE6F22-14A2-4EBA-91D1-A16752AC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selected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C86D0-3906-45EA-82D5-1E29C5E1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4763F-C5D2-4CD4-AC0B-2C10C854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18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BF9D3-3AAC-400B-92A5-DB88559C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 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45AC7-1434-4985-B17A-ED880AEF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427BF2-A5D0-49D6-8A1A-5C950E3A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recorded rejection cases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C0FA8-24CC-48E7-9D39-E860CB4D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5181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D1C4A9-FBE7-4DED-AB05-FCEEA9FB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90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C31CA-676F-4EDC-A78B-3B1BBDDB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Flags with recorded rejection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09645C-9DEA-4EA6-AB36-DEF8AAA9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0687A-C4D7-473B-936F-7DB6BAA0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05100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positive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91675A-35A7-43C7-AF9D-73D9F7F4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DC9333-CF2F-4963-B1C0-3B9A17DC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Selection using screening specimens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505325"/>
          <a:ext xmlns:a="http://schemas.openxmlformats.org/drawingml/2006/main" cx="10972800" cy="1438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3524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recorded rejection cases.*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positives.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A8C3C3-A62A-46DC-920A-5914995B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*90% is an experimental target.</a:t>
            </a:r>
          </a:p>
        </p:txBody>
      </p:sp>
    </p:spTree>
    <p:extLst>
      <p:ext uri="{BB962C8B-B14F-4D97-AF65-F5344CB8AC3E}">
        <p14:creationId xmlns:p14="http://schemas.microsoft.com/office/powerpoint/2010/main" val="20320643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7ADB7-EA64-4629-B855-31E299FC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65C40-548B-430A-848F-17C7B4BA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Errors are against recorded diagnoses.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15E61-FC08-4301-8593-B56A8AD0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517B1-9B5C-495F-8843-E18CF270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3c028e63ef4b5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7EEC6-575E-4773-82FB-46FCF4FD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IFNG: 67 fewer false positives, 11 more false negatives.</a:t>
            </a:r>
          </a:p>
        </p:txBody>
      </p:sp>
    </p:spTree>
    <p:extLst>
      <p:ext uri="{BB962C8B-B14F-4D97-AF65-F5344CB8AC3E}">
        <p14:creationId xmlns:p14="http://schemas.microsoft.com/office/powerpoint/2010/main" val="10347497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B17974-0F56-4F3E-9D4B-904C715C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AF3D8-E96D-4C69-9FB0-4D083957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ACB15-D590-409E-9185-2A239A32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00A8E-5AC8-4BED-B542-86E8FE6D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144 / 169 detected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DDDB7-DF63-4199-9BB3-9AE2A85B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85.2% recall (sensitivity)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B5FEC-80B6-4668-B1FF-7CAB43F9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514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detected (90.2%).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 the 90% selection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70AFB-99D7-4942-8B4A-DA82EEBD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66875"/>
            <a:ext cx="5915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Misses by recorded diagnosis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667375" y="2381250"/>
          <a:ext xmlns:a="http://schemas.openxmlformats.org/drawingml/2006/main" cx="5915025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81425"/>
                <a:gridCol w="2133600"/>
              </a:tblGrid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26784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6C0583-17D9-4DAB-BA79-BD16DA8D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22BAD-8038-439E-B13F-81D5A459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41EC8-B0E5-4D7E-BC81-C7F41DB2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A7751-98E4-43AC-9B2C-845039DB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All RNA (Logistic Regression)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2CE75-4962-403F-BEE9-232337F7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Observed recall difference: +4.73 percentage points (8 / 169 specimens).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EAB8F-47F5-4B4D-A58C-47262D40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How I calculated the 95% confidence interval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81B74-E217-4D90-B481-876DA972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1. I drew 2,000 resamples of the 345 validation specimens, with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9C9990-E373-41C9-B861-807FC8E1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2. I kept both models and thresholds fixed and compared recall on each draw.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59F4F-9C21-415D-8CFE-FDC99EE4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3. The middle 95% ran from −0.01 to +9.74 percentage points, including zero.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EF60B-9892-4F52-A509-8F6580E0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I also repeated model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DFAB3-2CD7-448E-AC96-667D69E6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training / screening split might favor CatBoost.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checked whether changing those assignments changed the selected model.</a:t>
            </a:r>
          </a:p>
        </p:txBody>
      </p:sp>
    </p:spTree>
    <p:extLst>
      <p:ext uri="{BB962C8B-B14F-4D97-AF65-F5344CB8AC3E}">
        <p14:creationId xmlns:p14="http://schemas.microsoft.com/office/powerpoint/2010/main" val="14459583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00CBF-9C93-467E-8039-A0305FD5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choice depended on the development split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0A18DA-E78F-4B5D-828D-18D0631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stability follow-up, 17 Sep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3846E-65C0-45DB-9908-B68EFAE4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93A83-EEE6-4C35-B0ED-CBFF3EB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repeated development with 20 splits of the 1,050 discovery specimens.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0D1B00-E797-4293-BF10-FA3438FD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random split kept the four diagnosis proportions similar.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same rows for both model families.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61367-C0D1-4606-BBC5-26100304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90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630 fitting</a:t>
            </a:r>
          </a:p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 both model families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F9EFE-F0EA-42C6-8358-D0F69D15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62275"/>
            <a:ext cx="3390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6343E"/>
                </a:solidFill>
                <a:latin typeface="Arial"/>
                <a:ea typeface="Arial"/>
                <a:cs typeface="Arial"/>
              </a:rPr>
              <a:t>210 screening</a:t>
            </a:r>
          </a:p>
          <a:p xmlns:a="http://schemas.openxmlformats.org/drawingml/2006/main">
            <a:pPr algn="ctr">
              <a:defRPr sz="19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74A53-08FD-4F25-8C75-7F0000D9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62275"/>
            <a:ext cx="3390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210 assessment</a:t>
            </a:r>
          </a:p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Measure held-out errors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026311-537A-4EAE-964D-7EED1467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at least 90% recall, then fewest false flags.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ROC-AUC to break ties.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4886325"/>
          <a:ext xmlns:a="http://schemas.openxmlformats.org/drawingml/2006/main" cx="10972800" cy="876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38100" marB="381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 RNA (Logistic Regression)</a:t>
                      </a:r>
                    </a:p>
                  </a:txBody>
                  <a:tcPr marL="171450" marR="142875" marT="38100" marB="38100" anchor="ctr">
                    <a:solidFill>
                      <a:srgbClr val="16343E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/ 20 selections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/ 20 selections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1C12E7-963B-42C3-92A2-D6B5F7AE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splits shared specimens; the 20 selections were not independent trials.</a:t>
            </a:r>
          </a:p>
        </p:txBody>
      </p:sp>
    </p:spTree>
    <p:extLst>
      <p:ext uri="{BB962C8B-B14F-4D97-AF65-F5344CB8AC3E}">
        <p14:creationId xmlns:p14="http://schemas.microsoft.com/office/powerpoint/2010/main" val="12862572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C08364-F238-47F7-A63A-50EE5745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Prediction service and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C4790-0A83-4E7E-A91A-20932EE3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35A88-8BC4-4190-A989-0132FAF5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68E4C-223A-453F-98BB-55DE1695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6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CSV input through the command line or web application.</a:t>
            </a:r>
          </a:p>
          <a:p xmlns:a="http://schemas.openxmlformats.org/drawingml/2006/main">
            <a:pPr marL="279400" indent="-152400" algn="l">
              <a:spcAft>
                <a:spcPts val="6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prediction share the preparation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E6EC05-94C6-44C0-985A-F3888168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47A84F-059B-42C9-A461-2A342EC1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1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2F07F-3264-4524-9048-FF56DC06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A0861-73E2-4AEF-9664-C79BDD8B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</a:t>
            </a:r>
          </a:p>
        </p:txBody>
      </p:sp>
      <p:cxnSp>
        <p:nvCxnSpPr>
          <p:cNvPr id="2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6AC334-BC79-4E65-BB95-FC5F3F62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valid request returns the specimen ID, model score, threshold, flag and model version.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measurements, negative counts or non-finite values stop scoring.</a:t>
            </a:r>
          </a:p>
        </p:txBody>
      </p:sp>
    </p:spTree>
    <p:extLst>
      <p:ext uri="{BB962C8B-B14F-4D97-AF65-F5344CB8AC3E}">
        <p14:creationId xmlns:p14="http://schemas.microsoft.com/office/powerpoint/2010/main" val="130090103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15E8D-8808-4AE6-AF8C-27C5E873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0C7DD-143D-41C1-B29F-095147E0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B5326-CA99-4824-9557-98B49634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F8ECB-F20A-4EEB-9A1A-198999CA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9A60AB-0597-410A-AE64-807464AE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061017-FA0E-4E7A-AA75-46350E45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A52406-7684-428F-99B1-848F1E20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14279175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D152C-D34C-4382-938D-B1228406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9F084D-26B3-40D5-A787-9FC4DE2C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EB0D2B-AAEE-4AFA-A5E1-2A8D7A8A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AFF45-49C1-4C6F-BA57-74C9DCE0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47925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5495925"/>
              </a:tblGrid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behavior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Reordered columns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Same model score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Invalid or incomplete counts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1FF3F-8747-4424-AF92-BED79FAB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passed, including these failure cases.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local container was checked. Cloud deployment is deferred.</a:t>
            </a:r>
          </a:p>
        </p:txBody>
      </p:sp>
    </p:spTree>
    <p:extLst>
      <p:ext uri="{BB962C8B-B14F-4D97-AF65-F5344CB8AC3E}">
        <p14:creationId xmlns:p14="http://schemas.microsoft.com/office/powerpoint/2010/main" val="9304364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BB26CF-9DC5-4B83-836E-DE228C26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F5AB7-DA6A-4FB8-85FA-C9EDF8B8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project results and research context. Hypothetical extensions.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11FC6-CE83-410D-816C-956FB6B0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6FA2A-5C70-47FE-86AA-57345160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Ideas for extending this personal project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8602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67175"/>
                <a:gridCol w="6905625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Possible approach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409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Would the results hold in another dataset?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Test the saved models and thresholds on new transplant biopsies.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 patient, center and lab quality information.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1409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Would RNA help with uncertain biopsies?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With clinical collaborators, compare assessment with and without the RNA score.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Review decisions and follow-up outcomes.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3551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46058B-331B-4A9B-8DE8-4AE81985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56F79-6A35-4649-B7DF-F65DF40A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084E5F-528E-478A-96DF-A6ABF262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A7C96B-61B6-471A-B46E-8695B7B7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490A8-EB35-4927-BC35-A866A037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08409-35FB-4A37-BA95-D0BB5D57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516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14.8% missed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D1E70-E201-436E-B46E-F07CB08E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90775"/>
            <a:ext cx="523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4.5% false flags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5847D-9EC4-4929-84AE-428D00A6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16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of 169 recorded rejection specimens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EF4E99-A094-4512-B6D4-F3858A8D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 of 176 recorded no-rejection specimens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9750C4-E106-4DB3-A111-30EFCED8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Fewer false flags than IFNG, but more misses.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Advantage over logistic regression remains uncertain.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9EF88-31DE-4A12-9E57-F545DAA1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0D0A6-F588-4F2A-8E13-9998CCA1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Prediction service and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19639-9A27-4F2E-A551-AC654E24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preparation code reproduced all 345 saved scores.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demo with valid input and clear error messages.</a:t>
            </a:r>
          </a:p>
        </p:txBody>
      </p:sp>
    </p:spTree>
    <p:extLst>
      <p:ext uri="{BB962C8B-B14F-4D97-AF65-F5344CB8AC3E}">
        <p14:creationId xmlns:p14="http://schemas.microsoft.com/office/powerpoint/2010/main" val="16833742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E9DC4B-4EFD-4587-891E-D088592D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measuring biopsy RNA with NanoString nCounter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5521F-A98F-4C38-B28A-BE1EFD2B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C3BEE-D9C6-4505-8C5F-7B317C9F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24727-BC96-4095-AADE-B10875EE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 assay is a laboratory test. B-HOT is the fixed panel of RNA types measured in the public dataset.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laboratory extracts RNA from preserved tissue. Probes recognize selected RNAs, and NanoString nCounter counts their identifying barcodes.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F0C37-B1B6-4BA4-B7E9-4E6B9556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10687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195187845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59465-7F9F-4D7B-B8FF-4AEAF9E0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7557F-66A9-4BB2-A26C-C821505D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45670-FD3C-4661-9339-E6A278D7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3581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1333500"/>
                <a:gridCol w="1390650"/>
                <a:gridCol w="1685925"/>
                <a:gridCol w="1752600"/>
                <a:gridCol w="1762125"/>
              </a:tblGrid>
              <a:tr h="762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929227-29A6-4967-BB18-16F160E1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5226371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9ADE2-4D0B-412F-89C9-737F2AD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model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B2D2DB-5685-48C3-B467-BA737B4E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shared preprocessing; primary model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790DE-C94B-4CE6-AE7F-5A2CC33D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414A4-092F-4C18-9D73-741E3D54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9051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Additional preparation and settings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52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Subtract each feature’s training mean, then divide by its training standard deviation. Reuse these values for later specimens.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Regularization: C = 0.1.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extra feature scaling.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300 trees, depth 4, learning rate 0.04.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98386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7543AD-C6F5-40BE-9DE2-619718B3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interpreting model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5CCC0-1271-425F-A124-15C07C70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The highlighted bin has a Wilson 95% interval.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42124-549C-4D7F-9C48-202E0DF4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4E816-D788-4751-AFE5-0AF7FFA6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on 345 validation specimens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2047875"/>
          <a:ext xmlns:a="http://schemas.openxmlformats.org/drawingml/2006/main" cx="6915150" cy="3743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9cde001f45431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CD67C-E81B-4374-BA9B-79912B8A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52650"/>
            <a:ext cx="3609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380D1-84D2-43EC-BBFD-C6B6CA86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886075"/>
            <a:ext cx="36099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score: 0.847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rejection: 7 / 16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Observed fraction: 43.8%
95% interval: 23.1–66.8%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77D99-A50E-4936-B1B4-C85CDB2A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95975"/>
            <a:ext cx="10687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Diagonal: score equals observed rejection fraction</a:t>
            </a:r>
          </a:p>
        </p:txBody>
      </p:sp>
    </p:spTree>
    <p:extLst>
      <p:ext uri="{BB962C8B-B14F-4D97-AF65-F5344CB8AC3E}">
        <p14:creationId xmlns:p14="http://schemas.microsoft.com/office/powerpoint/2010/main" val="118872846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2AB50-136A-46CC-BBF0-C02403D4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rejection subtype follow-up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49CAA-5FC2-40E9-87A7-2B13D251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the examined validation cohort; needs independent confirmation.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1929E-A4B3-459C-8C05-6FB92E57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C79E3C-79F9-4E29-A9D5-8628D0D2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 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43990621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8A43C7-957D-45FB-95B7-1827737F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dataset,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C8645-EAF6-4FA4-AF0F-0A95CF36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 and Tables 5–6; primary analysis;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B6D4F-59A8-4AF6-816A-5E297944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4314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67125"/>
                <a:gridCol w="7305675"/>
              </a:tblGrid>
              <a:tr h="4667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and remaining limits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separation?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Not documented. All specimens were processed at one laboratory.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population?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Includes 202 native-kidney controls.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Selected ambiguous diagnoses were excluded.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962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were tested. Laboratory quality was not independently reassessed.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Score calibration remains limited.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tested. Cloud work deferred.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42839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DA9B7-F60F-489B-B241-98FE5043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6F405-8D85-4974-A273-480B849B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7FE2A1-8BE3-474B-B3A2-5ADEA6FE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AEE9C-0C6E-43C5-9419-069AFA5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(2024): GSE212160 raw NanoString B-HOT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231EE-69CD-4445-8A6D-B74F76BE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personal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77BF9-4BD8-4AA7-85A3-9D9E44EE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model comparisons and runs produced here, shared preparation code, and a tested local prediction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8A194-1C87-47D8-B7FB-0CA03706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Presentation guidance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AE9056-C0AD-445C-94B7-41527272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(2007), Kosslyn et al. (2012), Garner and Alley (2013),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69416049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56BC6-E61F-4BE5-9C9C-0B9D419F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UNOS research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CF35F-CE2E-42F1-BCAF-D691BAF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UNOS, Using AI to identify kidney anatomy issues (2 Jun 2026)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16137-55C9-4DFB-8A00-E94F8C7F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420-AB25-4E8B-B4CE-4CA59E91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90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UNOS researchers studied anatomical issues in donor kidney photographs.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Labels came from records of transplantation or refusal because of anatomy concerns.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intended use is to support clinical assessment and improve consistency.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connection: use recorded assessments to develop additional evidence for specialists.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16745-8C7A-48E8-8997-163E3B0D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9750"/>
            <a:ext cx="1068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is a different clinical task and does not validate my classifier.</a:t>
            </a:r>
          </a:p>
        </p:txBody>
      </p:sp>
    </p:spTree>
    <p:extLst>
      <p:ext uri="{BB962C8B-B14F-4D97-AF65-F5344CB8AC3E}">
        <p14:creationId xmlns:p14="http://schemas.microsoft.com/office/powerpoint/2010/main" val="6015567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2026-09-21T17:24:04.6070000Z</dcterms:created>
  <dcterms:modified xsi:type="dcterms:W3CDTF">2026-09-21T17:24:04.6070000Z</dcterms:modified>
</coreProperties>
</file>