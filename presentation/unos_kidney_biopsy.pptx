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charts/chart2.xml" ContentType="application/vnd.openxmlformats-officedocument.drawingml.chart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1e8d2456a461435b" /><Relationship Type="http://schemas.openxmlformats.org/officeDocument/2006/relationships/extended-properties" Target="/docProps/app.xml" Id="R5ce213b150a24bb2" /><Relationship Type="http://schemas.openxmlformats.org/officeDocument/2006/relationships/officeDocument" Target="/ppt/presentation.xml" Id="Rbeba9eb36ea24091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aa170a24b4340e0"/>
  </p:sldMasterIdLst>
  <p:sldIdLst>
    <p:sldId id="256" r:id="Rb8a9d4ff5c114b4d"/>
    <p:sldId id="257" r:id="Rd1cfa362c39a4d0f"/>
    <p:sldId id="258" r:id="R669a1701949b43ab"/>
    <p:sldId id="259" r:id="R114cb4a482b94705"/>
    <p:sldId id="260" r:id="R02264290dfaf4008"/>
    <p:sldId id="261" r:id="Rab168b01868a44fc"/>
    <p:sldId id="262" r:id="R2a4b077876e94aef"/>
    <p:sldId id="263" r:id="R377b62088b7d4a89"/>
    <p:sldId id="264" r:id="Rb3e8736392ac4b5d"/>
    <p:sldId id="265" r:id="R49d4573d94844bd8"/>
    <p:sldId id="266" r:id="Re4f2fdd002a449fb"/>
    <p:sldId id="267" r:id="R40b860add8c0490d"/>
    <p:sldId id="268" r:id="Ra4cca81810b24d3a"/>
    <p:sldId id="269" r:id="R46a20048d58a4a19"/>
    <p:sldId id="270" r:id="Rd22a3041bc5d4a22"/>
    <p:sldId id="271" r:id="R747708837d23423a"/>
    <p:sldId id="272" r:id="R0d3e2cc92efd428f"/>
    <p:sldId id="273" r:id="R694ad4f27212493b"/>
    <p:sldId id="274" r:id="Rec6cf7b1574e4a8d"/>
    <p:sldId id="275" r:id="R4227d634ef9b4500"/>
    <p:sldId id="276" r:id="R3d4454a4d0564758"/>
    <p:sldId id="277" r:id="R30410cdb453144eb"/>
    <p:sldId id="278" r:id="Rddc5eb51e4324ef8"/>
    <p:sldId id="279" r:id="Rec7c7b38083e4cd0"/>
    <p:sldId id="280" r:id="R6944550b5df94736"/>
    <p:sldId id="281" r:id="R2f319dd0935548f9"/>
    <p:sldId id="282" r:id="Ra867be7762d84d2c"/>
    <p:sldId id="283" r:id="R7c1174a5d7c848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e5e8633720794bcc" /><Relationship Type="http://schemas.openxmlformats.org/officeDocument/2006/relationships/slideMaster" Target="/ppt/slideMasters/slideMaster1.xml" Id="R6aa170a24b4340e0" /><Relationship Type="http://schemas.openxmlformats.org/officeDocument/2006/relationships/presProps" Target="/ppt/presProps.xml" Id="Re4cd4edba17b45d3" /><Relationship Type="http://schemas.openxmlformats.org/officeDocument/2006/relationships/tableStyles" Target="/ppt/tableStyles.xml" Id="R8fa661390eee48ff" /><Relationship Type="http://schemas.openxmlformats.org/officeDocument/2006/relationships/slide" Target="/ppt/slides/slide1.xml" Id="Rb8a9d4ff5c114b4d" /><Relationship Type="http://schemas.openxmlformats.org/officeDocument/2006/relationships/slide" Target="/ppt/slides/slide2.xml" Id="Rd1cfa362c39a4d0f" /><Relationship Type="http://schemas.openxmlformats.org/officeDocument/2006/relationships/slide" Target="/ppt/slides/slide3.xml" Id="R669a1701949b43ab" /><Relationship Type="http://schemas.openxmlformats.org/officeDocument/2006/relationships/slide" Target="/ppt/slides/slide4.xml" Id="R114cb4a482b94705" /><Relationship Type="http://schemas.openxmlformats.org/officeDocument/2006/relationships/slide" Target="/ppt/slides/slide5.xml" Id="R02264290dfaf4008" /><Relationship Type="http://schemas.openxmlformats.org/officeDocument/2006/relationships/slide" Target="/ppt/slides/slide6.xml" Id="Rab168b01868a44fc" /><Relationship Type="http://schemas.openxmlformats.org/officeDocument/2006/relationships/slide" Target="/ppt/slides/slide7.xml" Id="R2a4b077876e94aef" /><Relationship Type="http://schemas.openxmlformats.org/officeDocument/2006/relationships/slide" Target="/ppt/slides/slide8.xml" Id="R377b62088b7d4a89" /><Relationship Type="http://schemas.openxmlformats.org/officeDocument/2006/relationships/slide" Target="/ppt/slides/slide9.xml" Id="Rb3e8736392ac4b5d" /><Relationship Type="http://schemas.openxmlformats.org/officeDocument/2006/relationships/slide" Target="/ppt/slides/slide10.xml" Id="R49d4573d94844bd8" /><Relationship Type="http://schemas.openxmlformats.org/officeDocument/2006/relationships/slide" Target="/ppt/slides/slide11.xml" Id="Re4f2fdd002a449fb" /><Relationship Type="http://schemas.openxmlformats.org/officeDocument/2006/relationships/slide" Target="/ppt/slides/slide12.xml" Id="R40b860add8c0490d" /><Relationship Type="http://schemas.openxmlformats.org/officeDocument/2006/relationships/slide" Target="/ppt/slides/slide13.xml" Id="Ra4cca81810b24d3a" /><Relationship Type="http://schemas.openxmlformats.org/officeDocument/2006/relationships/slide" Target="/ppt/slides/slide14.xml" Id="R46a20048d58a4a19" /><Relationship Type="http://schemas.openxmlformats.org/officeDocument/2006/relationships/slide" Target="/ppt/slides/slide15.xml" Id="Rd22a3041bc5d4a22" /><Relationship Type="http://schemas.openxmlformats.org/officeDocument/2006/relationships/slide" Target="/ppt/slides/slide16.xml" Id="R747708837d23423a" /><Relationship Type="http://schemas.openxmlformats.org/officeDocument/2006/relationships/slide" Target="/ppt/slides/slide17.xml" Id="R0d3e2cc92efd428f" /><Relationship Type="http://schemas.openxmlformats.org/officeDocument/2006/relationships/slide" Target="/ppt/slides/slide18.xml" Id="R694ad4f27212493b" /><Relationship Type="http://schemas.openxmlformats.org/officeDocument/2006/relationships/slide" Target="/ppt/slides/slide19.xml" Id="Rec6cf7b1574e4a8d" /><Relationship Type="http://schemas.openxmlformats.org/officeDocument/2006/relationships/slide" Target="/ppt/slides/slide20.xml" Id="R4227d634ef9b4500" /><Relationship Type="http://schemas.openxmlformats.org/officeDocument/2006/relationships/slide" Target="/ppt/slides/slide21.xml" Id="R3d4454a4d0564758" /><Relationship Type="http://schemas.openxmlformats.org/officeDocument/2006/relationships/slide" Target="/ppt/slides/slide22.xml" Id="R30410cdb453144eb" /><Relationship Type="http://schemas.openxmlformats.org/officeDocument/2006/relationships/slide" Target="/ppt/slides/slide23.xml" Id="Rddc5eb51e4324ef8" /><Relationship Type="http://schemas.openxmlformats.org/officeDocument/2006/relationships/slide" Target="/ppt/slides/slide24.xml" Id="Rec7c7b38083e4cd0" /><Relationship Type="http://schemas.openxmlformats.org/officeDocument/2006/relationships/slide" Target="/ppt/slides/slide25.xml" Id="R6944550b5df94736" /><Relationship Type="http://schemas.openxmlformats.org/officeDocument/2006/relationships/slide" Target="/ppt/slides/slide26.xml" Id="R2f319dd0935548f9" /><Relationship Type="http://schemas.openxmlformats.org/officeDocument/2006/relationships/slide" Target="/ppt/slides/slide27.xml" Id="Ra867be7762d84d2c" /><Relationship Type="http://schemas.openxmlformats.org/officeDocument/2006/relationships/slide" Target="/ppt/slides/slide28.xml" Id="R7c1174a5d7c848d2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6ddb6116ad1b47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52c8d9e74dd84d0c" /><Relationship Type="http://schemas.openxmlformats.org/officeDocument/2006/relationships/slideLayout" Target="/ppt/slideLayouts/slideLayout1.xml" Id="R0f1890886f2f4f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1890886f2f4f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aeb9154b6d64834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a74a4a916e14647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c12ba470e9a4533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7689f105b7044cf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b944fec25af4520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77198867c3b4cf8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6bf239656954ae3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0c91a795c2b4c66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dddc95231164508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4b3e5d20c9040a8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627a83a86c249bb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ff949fad7004fec" /><Relationship Type="http://schemas.openxmlformats.org/officeDocument/2006/relationships/chart" Target="/ppt/slides/charts/chart1.xml" Id="Rf0701bf17ef54bbf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6dfb5b2f80c46f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fec289052d24729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2a217503600448f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46b0f8ca9d54e2b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dd6fbcc2044304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0b3403a7b824c95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c871bcf5956469d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ed2c875423f4f55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874dd32234c4b9e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be0a804cd514e61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9fc8bbbe8234f31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6de8e9d80984204" /><Relationship Type="http://schemas.openxmlformats.org/officeDocument/2006/relationships/chart" Target="/ppt/slides/charts/chart2.xml" Id="Rdb5be6f53d784fec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832e8a636de418a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ce4d9b7da084930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361c636a07c4985" /></Relationships>
</file>

<file path=ppt/slides/_rels/slide2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51c2f5459de4f3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
(Logistic regression)</c:v>
                </c:pt>
                <c:pt idx="1">
                  <c:v>All RNA
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
(Logistic regression)</c:v>
                </c:pt>
                <c:pt idx="1">
                  <c:v>All RNA
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830A3-EEC7-4B0E-81E9-471F4525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6721140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789894-4C24-4FD9-BB48-5299E26D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C3BD8-CF10-4A07-87FF-68F3C9CC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1269E-94EF-468A-BDE3-6B6F85C5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7BAB9-6742-4446-B4A0-9E8CD294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AA65C-2BCA-43F8-B27C-87CA40A3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52F35-5091-474A-9E55-E50579C9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and supports the recorded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A3038-C760-4BD1-B92C-34FD98EC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provide the model’s inputs.</a:t>
            </a:r>
          </a:p>
        </p:txBody>
      </p:sp>
    </p:spTree>
    <p:extLst>
      <p:ext uri="{BB962C8B-B14F-4D97-AF65-F5344CB8AC3E}">
        <p14:creationId xmlns:p14="http://schemas.microsoft.com/office/powerpoint/2010/main" val="17450225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D853AF-C761-4DA2-8765-B68C043E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DCD1E-C6DE-45A0-A022-222066D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C894F-656A-41C3-9B2E-F66B0B88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695B3-CF66-46F7-8B21-BFFC0DF8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16AB5-4208-418F-B1A0-54A23D6A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485C7-E960-4EAC-B4C5-0C35F420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D0D37-BC50-4B47-A78B-32D6F434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the microscopic findings do not clearly establish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710FB-0765-402D-8454-E83CE206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RNA to classify recorded diagnoses in this personal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AB028-1A71-4941-BDD5-67B75AAF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92C3B-F69B-4268-91FA-5B410355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14900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Example, continued: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0B7907-02BB-42C8-B8B8-20C34DEC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86375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high rejection score could add evidence for specialist review of this biopsy.</a:t>
            </a:r>
          </a:p>
        </p:txBody>
      </p:sp>
    </p:spTree>
    <p:extLst>
      <p:ext uri="{BB962C8B-B14F-4D97-AF65-F5344CB8AC3E}">
        <p14:creationId xmlns:p14="http://schemas.microsoft.com/office/powerpoint/2010/main" val="17810902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A6802-60E1-4F71-841B-0B9DB7E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35806-55B6-48E9-AE77-0ACD56DF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4B4CD-157D-43D5-AB9A-EBAFDC5F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609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A1483-CD9B-4E66-AF79-9DBED3DA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8B105-69D3-43C6-9F16-DD65D2CB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044F7-8F33-4C18-835A-A0522F10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6098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AAEA2-2CBB-4743-AF46-592AFF36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66975"/>
            <a:ext cx="81057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 later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developed chronic active antibody-mediated rejection,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DC1EA-A84A-4DA6-BEBA-0703FC17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4A76E9-C457-4A65-B468-59A7F1A5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incorrect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calls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773EF-9F56-4DA7-AC34-9CB4C9F5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81425"/>
            <a:ext cx="810577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rejection treatment can weaken the body’s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defenses and worsen an infection.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9A97AD-B028-4ADC-9E5F-3348E01F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29175"/>
            <a:ext cx="8105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KDIGO (2009); BK polyomavirus consensus (2024)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DC6CA-C3C7-4715-878B-406D312C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personal project measured agreement with recorded diagnoses.</a:t>
            </a:r>
          </a:p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Its value in ambiguous biopsies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3865848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E0D6C-C4B9-44FD-95A3-7FE38B89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FE6E9-E7AD-43A1-B79F-DB52D31F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12727-FDB6-4C8A-B214-8BFAC369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8C12FC-B961-47E0-BE82-C3E202D1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13D47-B39E-46CF-89EC-DB045E97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F3E37F-F324-439D-BA90-5BB03D5B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F9059B-0022-469F-BD4A-D19A69E2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07EE9-05BA-499C-BCFB-78E3A41B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8663F-7049-4618-BD05-FBF01927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CCB7D-5496-4790-95E7-488540F0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1565939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0203F8-063A-41FF-BE49-026824C9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C3BB2-2CA0-4BDD-A69D-C55F9CE9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7EA671-C37B-4538-8E20-4E11F85D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FD193-D912-427E-B74A-BC9F5845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310EB-7759-43E9-A078-3D6C3FD8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9211238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EC766-77A7-4389-B5FF-64FC1971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67666-AAC0-4B7C-96AB-85D15D3A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3A5A9-B1E6-4060-8032-B6E24410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5ECE2-89D5-4EF4-85A0-160E9018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AB28F-A9CA-4536-AC0F-68BD5C74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9D8F6-2B95-4C71-B7BF-897685A9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2126E8-305D-488B-A1EC-3AB53A4C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70DA0-29A3-4EFF-B02F-E3787091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D5B74-29E0-4123-AE44-CF7D9DEF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970738-5308-405F-8E5B-B2D49158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adjust for differences in how much RNA each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9546635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022C3-8492-4A1A-9115-541B3434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1B70B-B1A7-44B0-AD75-8A440A85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81209-53D4-4F98-919E-464A3816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9214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9C133-CC44-41D0-800A-FD32AA27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C3C13-2C92-44B5-B27A-7F26B0BF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DD1C5-7E8E-492D-8AE3-6F7C8217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59537-BB7A-4813-9A5F-0C2846AC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BE008-643D-4571-85B4-8431E0C8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6C67-B448-4F6A-B7F3-0E872F91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FDBE0-7ABB-4EFE-96F8-F6982A7C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1867D-68D4-4E9E-B71F-7D292EF9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4063536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92CDD-B1C2-42E2-8D2D-729A3E04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17380-117D-4BC6-84F3-D0ABE464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analysis, 15 Sep 2026; Zhang et al., Supplementary Table S2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AAB18C-E75F-48B0-878C-895804BF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C03AB-72D9-45B5-B02C-5C0F85DB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504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1047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63894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47A27-521D-4B78-8FC2-5DB69725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71F09-B754-4F30-A2F0-1874F535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AF733-B116-436E-8183-79B26D24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76B88-3497-4DB9-A1A4-4DB1E0B1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11A0B-3A24-467B-9617-1CBFBCD6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 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8327A-1CF4-4312-88F6-2844F3B3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7ED30-2F9C-4923-9233-935D615D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recorded rejection cases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E2A1F-3BB6-4A2F-91B0-9AFF8DF9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5181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9857B-17F0-4303-990C-5DEB49A8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8350F-6227-4593-AE11-F819BCBB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Flags with recorded rejection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EEAB5-477C-428B-B725-0F6EDDCF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6BBEA-BA7B-47A3-884E-FBD44357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05100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positive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4EFDD-090B-4BAB-B508-17BF1A4A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684D0-AAA4-499C-A989-9F0CA5DC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cases.*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2A9AA0-6C13-4E79-B75B-F59A9853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*90% is an experimental target.</a:t>
            </a:r>
          </a:p>
        </p:txBody>
      </p:sp>
    </p:spTree>
    <p:extLst>
      <p:ext uri="{BB962C8B-B14F-4D97-AF65-F5344CB8AC3E}">
        <p14:creationId xmlns:p14="http://schemas.microsoft.com/office/powerpoint/2010/main" val="8572075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40AE1-DE54-4835-BA29-F594E62C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12C9E-2FBD-4120-8065-FD1C86AE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31855-5B35-4B6C-B76C-7D42F809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39108-C94E-494C-827F-1A6206C8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701bf17ef54bb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C8D1F-C68C-46C0-9DC8-7B36346A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positives, 11 more false negatives.</a:t>
            </a:r>
          </a:p>
        </p:txBody>
      </p:sp>
    </p:spTree>
    <p:extLst>
      <p:ext uri="{BB962C8B-B14F-4D97-AF65-F5344CB8AC3E}">
        <p14:creationId xmlns:p14="http://schemas.microsoft.com/office/powerpoint/2010/main" val="5914726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AAE4C-886B-45B5-B2E7-DCE15F7F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55AE2-4864-4421-8D05-43695D13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D32ADD-A1A9-4F9D-951C-D8534A56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1A7CC-4E01-45D4-8E4E-61D356BC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144 / 169 detected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7FF17-72DD-46AB-A181-1D224E92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85.2% recall (sensitivity)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779BF-972D-4A71-AA95-7FB7A52B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514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detected (90.2%).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 the 90% selection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2E209-0072-47FF-BFF8-0426E02F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5915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Misses by recorded diagnosis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667375" y="2381250"/>
          <a:ext xmlns:a="http://schemas.openxmlformats.org/drawingml/2006/main" cx="5915025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1425"/>
                <a:gridCol w="2133600"/>
              </a:tblGrid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27367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D6C23-0A98-48FF-9285-76E57325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2FE3B-D308-4693-A8C5-E74228D3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06FD0-E5D5-4CA4-B826-4FB0CA4E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D0915-1FB8-4A26-AC5A-897C5325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All RNA (Logistic Regression)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5978B-3413-4654-AC74-94384431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Observed recall difference: +4.73 percentage points (8 / 169 specimens).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05947-A7EF-4D70-B214-7EC2377C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I calculated the 95% confidence interval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1CF54-1415-4BAB-AB84-FB23602D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1. I drew 2,000 resamples of the 345 validation specimens, with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264EF-6FA0-4F41-B23D-4F0C1341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2. I kept both models and thresholds fixed and compared recall on each draw.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EB486E-27AD-4958-8F41-92FC6630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3. The middle 95% ran from −0.01 to +9.74 percentage points, including zero.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02C108-A99F-46B4-9E1E-FB0A944A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I also repeated model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5B065E-FB84-4B02-BF40-2F4B95F9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training / screening split might favor CatBoost.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checked whether changing those assignments changed the selected model.</a:t>
            </a:r>
          </a:p>
        </p:txBody>
      </p:sp>
    </p:spTree>
    <p:extLst>
      <p:ext uri="{BB962C8B-B14F-4D97-AF65-F5344CB8AC3E}">
        <p14:creationId xmlns:p14="http://schemas.microsoft.com/office/powerpoint/2010/main" val="6766865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AE3E8-437F-4D9B-BE80-9ABEC257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choice depended on the development split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3A630-B308-4CAA-8349-1C8718F8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stability follow-up, 17 Sep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D7058-245A-4B6F-B38A-6CCE0862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FD909-6B8F-459F-8A90-02028EB2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repeated development with 20 splits of the 1,050 discovery specimens.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2B2F2-E6B3-4C88-9158-3D2776DB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random split kept the four diagnosis proportions similar.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same rows for both model families.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B892BA-8FA4-4079-80DE-F1A2F0AF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90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630 fitting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 both model families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B2564-BFFB-4EF7-B3BC-940AADD9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62275"/>
            <a:ext cx="3390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6343E"/>
                </a:solidFill>
                <a:latin typeface="Arial"/>
                <a:ea typeface="Arial"/>
                <a:cs typeface="Arial"/>
              </a:rPr>
              <a:t>210 screening</a:t>
            </a:r>
          </a:p>
          <a:p xmlns:a="http://schemas.openxmlformats.org/drawingml/2006/main">
            <a:pPr algn="ctr">
              <a:defRPr sz="19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C8B61-AA71-4305-9159-D4828242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62275"/>
            <a:ext cx="3390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210 assessment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Measure held-out errors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21444-79CC-4FCF-8046-026E6A42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at least 90% recall, then fewest false flags.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ROC-AUC to break ties.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4886325"/>
          <a:ext xmlns:a="http://schemas.openxmlformats.org/drawingml/2006/main" cx="10972800" cy="876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38100" marB="381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 RNA (Logistic Regression)</a:t>
                      </a:r>
                    </a:p>
                  </a:txBody>
                  <a:tcPr marL="171450" marR="142875" marT="38100" marB="38100" anchor="ctr">
                    <a:solidFill>
                      <a:srgbClr val="16343E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/ 20 selections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/ 20 selections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148CA-0417-4B89-92F8-1602D958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splits shared specimens; the 20 selections were not independent trials.</a:t>
            </a:r>
          </a:p>
        </p:txBody>
      </p:sp>
    </p:spTree>
    <p:extLst>
      <p:ext uri="{BB962C8B-B14F-4D97-AF65-F5344CB8AC3E}">
        <p14:creationId xmlns:p14="http://schemas.microsoft.com/office/powerpoint/2010/main" val="18141310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92D5E-7AA5-45F5-A5CA-5AE5AAEB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Prediction service and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BA2EE-6300-4B92-8F27-D1AEFE76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9EC9F-53B6-4C63-A61E-3715B16C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77B5D-6E8C-42AF-8D35-27F15C48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6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CSV input through the command line or web application.</a:t>
            </a:r>
          </a:p>
          <a:p xmlns:a="http://schemas.openxmlformats.org/drawingml/2006/main">
            <a:pPr marL="279400" indent="-152400" algn="l">
              <a:spcAft>
                <a:spcPts val="6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prediction share the preparation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9555C-D18F-4F96-80B0-0C8E3A81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F87C8-A90D-4150-9F0C-0983F8BA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3BCC8-1C38-45BC-8918-C392945E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11F743-97D6-4CF7-A206-63AD5B98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</a:t>
            </a:r>
          </a:p>
        </p:txBody>
      </p:sp>
      <p:cxnSp>
        <p:nvCxnSpPr>
          <p:cNvPr id="2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CE142C-28AE-44A3-8CDD-550231EB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valid request returns the specimen ID, model score, threshold, flag and model version.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measurements, negative counts or non-finite values stop scoring.</a:t>
            </a:r>
          </a:p>
        </p:txBody>
      </p:sp>
    </p:spTree>
    <p:extLst>
      <p:ext uri="{BB962C8B-B14F-4D97-AF65-F5344CB8AC3E}">
        <p14:creationId xmlns:p14="http://schemas.microsoft.com/office/powerpoint/2010/main" val="170285644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2AB1B2-D2F9-406C-B3ED-0C1BF0C5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3292F-9668-4270-B136-DACC03BC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8E0C8-325F-40DE-82F3-39D40D38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82799-C50F-4A6F-9C8C-53BCD74E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504DE-FDF3-4B5E-AAF5-FEDF54EF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C1509C-A401-4C9C-ADD1-BC18C90E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9217C-350B-4766-AC16-2692BAAB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3148698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91DE8-A369-4EEA-ACB9-6056FB9A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02F9E-6FD3-42F9-81C9-45792AA7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C9C47-2163-4BF2-8970-163DE9D2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01AA3-2579-44D2-A5C7-8F6CF2D1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47925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495925"/>
              </a:tblGrid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Reordered columns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Same model score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Invalid or incomplete counts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9A4B5-599E-4CE2-BC07-4ABD16DA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passed, including these failure cases.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local container was checked. Cloud deployment is deferred.</a:t>
            </a:r>
          </a:p>
        </p:txBody>
      </p:sp>
    </p:spTree>
    <p:extLst>
      <p:ext uri="{BB962C8B-B14F-4D97-AF65-F5344CB8AC3E}">
        <p14:creationId xmlns:p14="http://schemas.microsoft.com/office/powerpoint/2010/main" val="5606509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680F7-9713-4E13-8A9D-16D5A9D6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958C0-4594-442D-82D9-F50D420A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results and research context. Hypothetical extensions.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C8A97-3922-49D9-8062-63D2955D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9DF67-969A-4C7F-A79C-830876A2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Ideas for extending this personal project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8602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67175"/>
                <a:gridCol w="6905625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Possible approach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409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Would the results hold in another dataset?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Test the saved models and thresholds on new transplant biopsies.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 patient, center and lab quality information.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1409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Would RNA help with uncertain biopsies?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With clinical collaborators, compare assessment with and without the RNA score.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Review decisions and follow-up outcomes.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6898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B9D23E-F3CB-4D74-8288-CEB3D998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B61FB-2B88-4E97-9013-3274CD82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4BC9-4379-43C0-9E3E-A8709C8D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B0BB0-F3C7-45D3-90F8-BC66A60F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FBF3C-8411-4336-91F1-620DAC2A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792A48-028C-42F7-AD59-D4B7821A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516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14.8% missed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8D622-67F7-4992-BF5A-2C0A776F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90775"/>
            <a:ext cx="523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4.5% false flags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86D8A-4D82-41B2-8E30-A9ECF8F2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16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of 169 recorded rejection specimens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6EC2A-DD3F-4404-A4F8-F0293E51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 of 176 recorded no-rejection specimens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D939B-7CFE-420C-9AD9-532AC7A4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Fewer false flags than IFNG, but more misses.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Advantage over logistic regression remains uncertain.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C8520-16FA-460E-AD7A-F0DD36A6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5AE0D7-0797-47C9-9F8E-8C23B64B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Prediction service and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4C290-35D1-4AC8-A4FF-9CEA024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preparation code reproduced all 345 saved scores.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demo with valid input and clear error messages.</a:t>
            </a:r>
          </a:p>
        </p:txBody>
      </p:sp>
    </p:spTree>
    <p:extLst>
      <p:ext uri="{BB962C8B-B14F-4D97-AF65-F5344CB8AC3E}">
        <p14:creationId xmlns:p14="http://schemas.microsoft.com/office/powerpoint/2010/main" val="65584145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9C9F2C-355D-41B4-A4DB-4F034399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measuring biopsy RNA with NanoString nCounter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1092B-9DB2-4124-87CD-E1FE142F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1CD939-E608-4287-B439-8C3FEDEE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29AE9-F394-45E9-8837-AF904B09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 assay is a laboratory test. B-HOT is the fixed panel of RNA types measured in the public dataset.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laboratory extracts RNA from preserved tissue. Probes recognize selected RNAs, and NanoString nCounter counts their identifying barcodes.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7C926-D581-4717-9CAD-59658267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687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3272957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49734-689B-48E3-89AA-022DFF03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EB1E3-5A98-4D21-BF17-7414DC69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BBF0E-B263-47C5-916C-31E5D4F6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581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1333500"/>
                <a:gridCol w="1390650"/>
                <a:gridCol w="1685925"/>
                <a:gridCol w="1752600"/>
                <a:gridCol w="1762125"/>
              </a:tblGrid>
              <a:tr h="7620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7E0400-2B1B-4BA7-8933-B4ECC74F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201831724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A99D4-B806-4884-8E2F-4AEB5613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model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FDE31-204C-4CB9-98F1-495FB4F4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shared preprocessing; primary model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575E8-28AC-47FA-805A-2FD94692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88CD7-0CA2-4AB4-AB92-8212291D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9051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Additional preparation and settings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52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Subtract each feature’s training mean, then divide by its training standard deviation. Reuse these values for later specimens.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Regularization: C = 0.1.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extra feature scaling.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300 trees, depth 4, learning rate 0.04.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2550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2D8E0-FF44-4BE2-9CFB-986A8B0D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interpreting model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33213-B83B-4721-96ED-76442E42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The highlighted bin has a Wilson 95% interval.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ACBFF-05B7-4B3D-940E-B6FD3159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AF52B-247E-4943-8B8E-540AADEA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on 345 validation specimens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2047875"/>
          <a:ext xmlns:a="http://schemas.openxmlformats.org/drawingml/2006/main" cx="6915150" cy="3743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5be6f53d784fe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2B0D4-E884-4620-B1B0-921155D8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52650"/>
            <a:ext cx="3609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90DE9-2EAD-454D-ABE5-2D1A2939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886075"/>
            <a:ext cx="36099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score: 0.847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rejection: 7 / 16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Observed fraction: 43.8%
95% interval: 23.1–66.8%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E79CB4-9A24-4FE6-A128-BEC205DE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95975"/>
            <a:ext cx="10687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Diagonal: score equals observed rejection fraction</a:t>
            </a:r>
          </a:p>
        </p:txBody>
      </p:sp>
    </p:spTree>
    <p:extLst>
      <p:ext uri="{BB962C8B-B14F-4D97-AF65-F5344CB8AC3E}">
        <p14:creationId xmlns:p14="http://schemas.microsoft.com/office/powerpoint/2010/main" val="112846502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148CA-A3EC-4BF9-8EAE-08483ABB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rejection subtype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451FE-5834-485B-B4AE-ED3A7364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the examined validation cohort; needs independent confirmation.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CE6B3-499E-4A3E-B00C-0F2C60CA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5D0DE-361B-4A61-AF76-638BE0EF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 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17487126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CABA4-0B91-44F2-887D-AED6C7DC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dataset,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5FDBC-741E-43C6-BE5B-3128796B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 and Tables 5–6; primary analysis;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C57C8-88F3-45D0-BEBF-3143468E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4314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67125"/>
                <a:gridCol w="7305675"/>
              </a:tblGrid>
              <a:tr h="4667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and remaining limits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separation?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Not documented. All specimens were processed at one laboratory.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population?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Includes 202 native-kidney controls.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Selected ambiguous diagnoses were excluded.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962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were tested. Laboratory quality was not independently reassessed.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Score calibration remains limited.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tested. Cloud work deferred.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70229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F1A53-D048-4571-A82A-77FA85F8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5A7F3-CBD2-43F4-B9A2-34ABFF0B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82A0E-893D-4517-8617-69B38F41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77937-E98E-43C0-AB32-2B5875CD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(2024): GSE212160 raw NanoString B-HOT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71C1F-17EF-4710-8AB3-BA339834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personal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0B206-7506-4C74-B0FF-6547D1C3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model comparisons and runs produced here, shared preparation code, and a tested local prediction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FF0A2-78F3-4229-A6EA-65361DF6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Presentation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3BB0A-BFA3-4717-8BBD-1C31B0E5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(2007), Kosslyn et al. (2012), Garner and Alley (2013),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17026870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F73D4-7FC3-4CF0-8799-946D4DDE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272BD-AC75-41B0-859F-7DE3E75C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F8FD4-DB0D-4106-ADAB-B21335ED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9CAD9-3C27-4250-AAB4-93235A36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90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UNOS researchers studied anatomical issues in donor kidney photographs.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Labels came from records of transplantation or refusal because of anatomy concerns.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intended use is to support clinical assessment and improve consistency.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connection: use recorded assessments to develop additional evidence for specialists.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2BA0A-ECED-4DEE-95B3-D6FFF1E2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1068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is a different clinical task and does not validate my classifier.</a:t>
            </a:r>
          </a:p>
        </p:txBody>
      </p:sp>
    </p:spTree>
    <p:extLst>
      <p:ext uri="{BB962C8B-B14F-4D97-AF65-F5344CB8AC3E}">
        <p14:creationId xmlns:p14="http://schemas.microsoft.com/office/powerpoint/2010/main" val="17852831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2026-09-21T03:07:51.6320000Z</dcterms:created>
  <dcterms:modified xsi:type="dcterms:W3CDTF">2026-09-21T03:07:51.6320000Z</dcterms:modified>
</coreProperties>
</file>