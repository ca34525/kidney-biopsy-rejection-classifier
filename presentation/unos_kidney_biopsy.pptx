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charts/chart1.xml" ContentType="application/vnd.openxmlformats-officedocument.drawingml.chart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Default Extension="xlsx" ContentType="application/vnd.openxmlformats-officedocument.spreadsheetml.sheet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984ea1cc44554bf5" /><Relationship Type="http://schemas.openxmlformats.org/officeDocument/2006/relationships/extended-properties" Target="/docProps/app.xml" Id="R5b89a06f584f4e86" /><Relationship Type="http://schemas.openxmlformats.org/officeDocument/2006/relationships/officeDocument" Target="/ppt/presentation.xml" Id="R4a45a058d7eb4b67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2f5593aa621b4e14"/>
  </p:sldMasterIdLst>
  <p:sldIdLst>
    <p:sldId id="256" r:id="R6af083f13c514270"/>
    <p:sldId id="257" r:id="Rd2005c56bab44848"/>
    <p:sldId id="258" r:id="R575f649317514e6d"/>
    <p:sldId id="259" r:id="R5c78b9f69e99416c"/>
    <p:sldId id="260" r:id="R3396020e0e3b4607"/>
    <p:sldId id="261" r:id="Rde80d4debbc44634"/>
    <p:sldId id="262" r:id="R28bc347e9b5f45d1"/>
    <p:sldId id="263" r:id="Raf5f8eb1951f48d4"/>
    <p:sldId id="264" r:id="R559de7d27ecd4ee4"/>
    <p:sldId id="265" r:id="R462996b1044b4b66"/>
    <p:sldId id="266" r:id="R6d1caee9d2924780"/>
    <p:sldId id="267" r:id="R333a4931b4c04fd4"/>
    <p:sldId id="268" r:id="R1deb519cb37446a0"/>
    <p:sldId id="269" r:id="R8982a2c4a3254457"/>
    <p:sldId id="270" r:id="R9e1c7f4126a94010"/>
    <p:sldId id="271" r:id="Rcb9a468b62614145"/>
    <p:sldId id="272" r:id="Re28cc3ae880c4886"/>
    <p:sldId id="273" r:id="Rd0ffb4a6e6384feb"/>
    <p:sldId id="274" r:id="R27da1c5114c646c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4916c6c20f06435b" /><Relationship Type="http://schemas.openxmlformats.org/officeDocument/2006/relationships/slideMaster" Target="/ppt/slideMasters/slideMaster1.xml" Id="R2f5593aa621b4e14" /><Relationship Type="http://schemas.openxmlformats.org/officeDocument/2006/relationships/presProps" Target="/ppt/presProps.xml" Id="Rbdfd59d3ffe940d1" /><Relationship Type="http://schemas.openxmlformats.org/officeDocument/2006/relationships/tableStyles" Target="/ppt/tableStyles.xml" Id="R7a16eb7aa47e43dc" /><Relationship Type="http://schemas.openxmlformats.org/officeDocument/2006/relationships/slide" Target="/ppt/slides/slide1.xml" Id="R6af083f13c514270" /><Relationship Type="http://schemas.openxmlformats.org/officeDocument/2006/relationships/slide" Target="/ppt/slides/slide2.xml" Id="Rd2005c56bab44848" /><Relationship Type="http://schemas.openxmlformats.org/officeDocument/2006/relationships/slide" Target="/ppt/slides/slide3.xml" Id="R575f649317514e6d" /><Relationship Type="http://schemas.openxmlformats.org/officeDocument/2006/relationships/slide" Target="/ppt/slides/slide4.xml" Id="R5c78b9f69e99416c" /><Relationship Type="http://schemas.openxmlformats.org/officeDocument/2006/relationships/slide" Target="/ppt/slides/slide5.xml" Id="R3396020e0e3b4607" /><Relationship Type="http://schemas.openxmlformats.org/officeDocument/2006/relationships/slide" Target="/ppt/slides/slide6.xml" Id="Rde80d4debbc44634" /><Relationship Type="http://schemas.openxmlformats.org/officeDocument/2006/relationships/slide" Target="/ppt/slides/slide7.xml" Id="R28bc347e9b5f45d1" /><Relationship Type="http://schemas.openxmlformats.org/officeDocument/2006/relationships/slide" Target="/ppt/slides/slide8.xml" Id="Raf5f8eb1951f48d4" /><Relationship Type="http://schemas.openxmlformats.org/officeDocument/2006/relationships/slide" Target="/ppt/slides/slide9.xml" Id="R559de7d27ecd4ee4" /><Relationship Type="http://schemas.openxmlformats.org/officeDocument/2006/relationships/slide" Target="/ppt/slides/slide10.xml" Id="R462996b1044b4b66" /><Relationship Type="http://schemas.openxmlformats.org/officeDocument/2006/relationships/slide" Target="/ppt/slides/slide11.xml" Id="R6d1caee9d2924780" /><Relationship Type="http://schemas.openxmlformats.org/officeDocument/2006/relationships/slide" Target="/ppt/slides/slide12.xml" Id="R333a4931b4c04fd4" /><Relationship Type="http://schemas.openxmlformats.org/officeDocument/2006/relationships/slide" Target="/ppt/slides/slide13.xml" Id="R1deb519cb37446a0" /><Relationship Type="http://schemas.openxmlformats.org/officeDocument/2006/relationships/slide" Target="/ppt/slides/slide14.xml" Id="R8982a2c4a3254457" /><Relationship Type="http://schemas.openxmlformats.org/officeDocument/2006/relationships/slide" Target="/ppt/slides/slide15.xml" Id="R9e1c7f4126a94010" /><Relationship Type="http://schemas.openxmlformats.org/officeDocument/2006/relationships/slide" Target="/ppt/slides/slide16.xml" Id="Rcb9a468b62614145" /><Relationship Type="http://schemas.openxmlformats.org/officeDocument/2006/relationships/slide" Target="/ppt/slides/slide17.xml" Id="Re28cc3ae880c4886" /><Relationship Type="http://schemas.openxmlformats.org/officeDocument/2006/relationships/slide" Target="/ppt/slides/slide18.xml" Id="Rd0ffb4a6e6384feb" /><Relationship Type="http://schemas.openxmlformats.org/officeDocument/2006/relationships/slide" Target="/ppt/slides/slide19.xml" Id="R27da1c5114c646c2" 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7e9092b4126f40b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b1e621f495c74662" /><Relationship Type="http://schemas.openxmlformats.org/officeDocument/2006/relationships/slideLayout" Target="/ppt/slideLayouts/slideLayout1.xml" Id="R810f935cb2bb4b0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0f935cb2bb4b0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dd224759b734d2a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14fa2075ae584803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6dbb2552b32c4070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23229777b194e2a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1b4a91ce8b4d42f4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9a3f5a10d35842c5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d305d47a1a504c5c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9a4485b5ac744f8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101926e399b94871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582b7ce65c064714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1b2954ca41d142cc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6b3808324e5f4829" /><Relationship Type="http://schemas.openxmlformats.org/officeDocument/2006/relationships/chart" Target="/ppt/slides/charts/chart1.xml" Id="Rbc11e9ec15ec4666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1453aafc81874a0b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e28a61937e74260" 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f5abe0242bff48ca" 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ce317d76409495c" 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4370b7737474cfa" 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2843877b4ecb4a13" /></Relationships>
</file>

<file path=ppt/slides/_rels/slide1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d7721026b325486a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False negatives / 169</c:v>
          </c:tx>
          <c:spPr>
            <a:solidFill xmlns:a="http://schemas.openxmlformats.org/drawingml/2006/main">
              <a:srgbClr val="B55730"/>
            </a:solidFill>
          </c:spPr>
          <c:cat>
            <c:strRef>
              <c:f>'Chart Data'!$A$2:$A$4</c:f>
              <c:strCache>
                <c:ptCount val="3"/>
                <c:pt idx="0">
                  <c:v>IFNG only (Logistic regression)</c:v>
                </c:pt>
                <c:pt idx="1">
                  <c:v>All RNA (Logistic Regression)</c:v>
                </c:pt>
                <c:pt idx="2">
                  <c:v>CatBoost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14</c:v>
                </c:pt>
                <c:pt idx="1">
                  <c:v>33</c:v>
                </c:pt>
                <c:pt idx="2">
                  <c:v>25</c:v>
                </c:pt>
              </c:numCache>
            </c:numRef>
          </c:val>
        </c:ser>
        <c:ser>
          <c:idx val="1"/>
          <c:order val="1"/>
          <c:tx>
            <c:v>False positives / 176</c:v>
          </c:tx>
          <c:spPr>
            <a:solidFill xmlns:a="http://schemas.openxmlformats.org/drawingml/2006/main">
              <a:srgbClr val="007C78"/>
            </a:solidFill>
          </c:spPr>
          <c:cat>
            <c:strRef>
              <c:f>'Chart Data'!$C$2:$C$4</c:f>
              <c:strCache>
                <c:ptCount val="3"/>
                <c:pt idx="0">
                  <c:v>IFNG only (Logistic regression)</c:v>
                </c:pt>
                <c:pt idx="1">
                  <c:v>All RNA (Logistic Regression)</c:v>
                </c:pt>
                <c:pt idx="2">
                  <c:v>CatBoost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75</c:v>
                </c:pt>
                <c:pt idx="1">
                  <c:v>8</c:v>
                </c:pt>
                <c:pt idx="2">
                  <c:v>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 b="1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8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CEDBD7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7F8F5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75">
              <a:solidFill>
                <a:srgbClr val="16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7F8F5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FC2154-D641-48E7-BA1B-E292A3CFF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097280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Classifying Kidney</a:t>
            </a:r>
          </a:p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Transplant Rejection</a:t>
            </a:r>
          </a:p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from Biopsy RNA</a:t>
            </a:r>
          </a:p>
        </p:txBody>
      </p:sp>
    </p:spTree>
    <p:extLst>
      <p:ext uri="{BB962C8B-B14F-4D97-AF65-F5344CB8AC3E}">
        <p14:creationId xmlns:p14="http://schemas.microsoft.com/office/powerpoint/2010/main" val="10312837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04ADFA-06F0-4E8B-8403-CD04B6313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Transplant rejection and kidney biopsy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F56291-845F-41C0-9717-365516CE9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NIDDK, Kidney Transplant and Kidney Biopsy; Zhang et al. (2024)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3A5581-2430-49C5-822F-F3ECC2FF2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B488D8-8CAA-45B7-B3CB-EDB02CB44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Rejection: </a:t>
            </a:r>
            <a:r>
              <a:t>The recipient’s immune system attacks the donated kidney.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DBE9F1-32FA-47ED-B77F-396AA223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109728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Kidney biopsy: </a:t>
            </a:r>
            <a:r>
              <a:t>A small tissue sample collected from the kidney for examination.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697DF7-C04E-4293-B67B-8A5D5CFD2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590925"/>
            <a:ext cx="1052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Histology: </a:t>
            </a:r>
            <a:r>
              <a:t>Microscopic examination reveals injury and inflammation that can support a rejection diagnosis.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004F19-B81B-4144-A52C-A96B85BE0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695825"/>
            <a:ext cx="105251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Molecular measurements: </a:t>
            </a:r>
            <a:r>
              <a:t>Counts of selected RNA types reflect gene activity and the mix of cells in the tissue.</a:t>
            </a:r>
          </a:p>
        </p:txBody>
      </p:sp>
    </p:spTree>
    <p:extLst>
      <p:ext uri="{BB962C8B-B14F-4D97-AF65-F5344CB8AC3E}">
        <p14:creationId xmlns:p14="http://schemas.microsoft.com/office/powerpoint/2010/main" val="107946321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12B356-626B-4EBE-9F7C-DF1023FCE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Possible Use: Molecular Second Opinion for Ambiguous Biopsies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7235CB-D6B6-418B-A12A-CCDF7A1DA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Banff reference guide (Apr 2026); Nankivell et al. (2019)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FAC02F-E279-4894-BF27-B54496482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527E65-8B05-4B23-84C6-3DE165EBE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Sometimes the histology findings are ambiguous.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B91C20-C85D-46EF-B4EC-D04314A79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068705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AF72B7-FE80-4E57-BE62-DF50050F3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657475"/>
            <a:ext cx="103251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Example: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30F6FF-CBBB-4749-B0E8-D4E904172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028950"/>
            <a:ext cx="103251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 biopsy shows mild inflammation, but not enough to diagnose rejection. In a study of 146 borderline diagnoses, inflammation disappeared in some patients. Others later developed acute rejection.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07F9B3-3274-4031-BCF6-3B8C633E3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9728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As a step towards potentially helping resolve ambiguous biopsies, I used RNA counts to classify recorded diagnoses. A high rejection score could add evidence for specialist review.</a:t>
            </a:r>
          </a:p>
        </p:txBody>
      </p:sp>
    </p:spTree>
    <p:extLst>
      <p:ext uri="{BB962C8B-B14F-4D97-AF65-F5344CB8AC3E}">
        <p14:creationId xmlns:p14="http://schemas.microsoft.com/office/powerpoint/2010/main" val="20007964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58B68E-C5D6-4586-9592-6D86E2C0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Evidence for a molecular second opinion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C4918A-3C06-4D7F-A2CC-196F88328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C3EF6B-9E35-493D-BD80-E77D068A4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2609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Banff guidance</a:t>
            </a:r>
          </a:p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3F0052-4C25-4AE0-B94E-DC78DBDA9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533525"/>
            <a:ext cx="81057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Considers validated molecular tests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for difficult biopsy interpretations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18EF41-B71E-4372-BCCE-8D1C5DCD2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7172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B1D88E-C98E-4C9B-A3D5-D63E1D8F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260985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B-HOT study</a:t>
            </a:r>
          </a:p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Rosales, 2022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4C97DE-0B13-4B9E-8166-7676B38F5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466975"/>
            <a:ext cx="81057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Higher initial molecular scores in patients who later</a:t>
            </a:r>
          </a:p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developed chronic active antibody-mediated rejection,</a:t>
            </a:r>
          </a:p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despite no initial diagnosis of 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1AF1B1-7A51-4C7D-98BA-61A51F2D8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9040A1-8FA9-4D8C-8586-990F483A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26098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Why both kinds</a:t>
            </a:r>
          </a:p>
          <a:p xmlns:a="http://schemas.openxmlformats.org/drawingml/2006/main">
            <a:pPr algn="l">
              <a:defRPr sz="21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of error matter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56AC8A-13B1-418A-8974-ADBC80B59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62375"/>
            <a:ext cx="81057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Missed rejection can leave kidney injury untreated.</a:t>
            </a:r>
          </a:p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Unnecessary treatment can weaken the body’s defenses</a:t>
            </a:r>
          </a:p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and worsen an infection.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BFA0D1-CE29-4B8B-929F-BA8180744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5010150"/>
            <a:ext cx="81057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KDIGO (2009); Nankivell (2019); BK polyomavirus consensus (2024)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8B6620-3B99-43A7-8E35-E89F674B1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This project has not established usefulness in ambiguous biopsies.</a:t>
            </a:r>
          </a:p>
          <a:p xmlns:a="http://schemas.openxmlformats.org/drawingml/2006/main">
            <a:pPr algn="l">
              <a:defRPr sz="22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That requires comparing specialist assessment with and without RNA scores.</a:t>
            </a:r>
          </a:p>
        </p:txBody>
      </p:sp>
    </p:spTree>
    <p:extLst>
      <p:ext uri="{BB962C8B-B14F-4D97-AF65-F5344CB8AC3E}">
        <p14:creationId xmlns:p14="http://schemas.microsoft.com/office/powerpoint/2010/main" val="5972208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431C76-8A11-4C9E-AB61-4923052F2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What the dataset contains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1AF8D3-3742-4D71-ADB4-7BE697D1F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GSE212160; Zhang et al. (2024), Methods and Tables 5–6; project data reader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059A5E-51C6-4123-A0E9-B031B3410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70DC7B-E58F-45EB-BB17-897DF86B5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1,395 biopsy specimens, with one row per specimen in each 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F96DC9-0A9F-4F83-B308-ACE7C9821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7815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RNA counts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6FAE34-481D-4D80-9908-EA81E533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43150"/>
            <a:ext cx="4762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Specimen information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609600" y="2990850"/>
          <a:ext xmlns:a="http://schemas.openxmlformats.org/drawingml/2006/main" cx="478155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2257425"/>
              </a:tblGrid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Specimen ID (key)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GUSB (reference)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260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Other RNA counts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…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"/>
          <p:cNvGraphicFramePr/>
          <p:nvPr/>
        </p:nvGraphicFramePr>
        <p:xfrm>
          <a:off xmlns:a="http://schemas.openxmlformats.org/drawingml/2006/main" x="6819900" y="2990850"/>
          <a:ext xmlns:a="http://schemas.openxmlformats.org/drawingml/2006/main" cx="476250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2190750"/>
              </a:tblGrid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Specimen ID (key)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Recorded diagnosis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Study group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Discovery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Other details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…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247CCD-3FD6-4514-ABFC-3E7DD361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676650"/>
            <a:ext cx="142875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52656B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8C77B8-DAE0-4583-9567-AF24558B5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2766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 :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D963E6-BC59-409C-9061-477D39C23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752850"/>
            <a:ext cx="1276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FB3691-4916-414D-AAF9-D83054556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800"/>
              </a:spcAft>
              <a:buChar char="•"/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Includes 1,193 transplant biopsies and 202 native-kidney controls.</a:t>
            </a:r>
          </a:p>
          <a:p xmlns:a="http://schemas.openxmlformats.org/drawingml/2006/main">
            <a:pPr marL="279400" indent="-152400" algn="l">
              <a:spcAft>
                <a:spcPts val="800"/>
              </a:spcAft>
              <a:buChar char="•"/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study does not document separation by patient or referring center between study groups.</a:t>
            </a:r>
          </a:p>
        </p:txBody>
      </p:sp>
    </p:spTree>
    <p:extLst>
      <p:ext uri="{BB962C8B-B14F-4D97-AF65-F5344CB8AC3E}">
        <p14:creationId xmlns:p14="http://schemas.microsoft.com/office/powerpoint/2010/main" val="164130205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C2A62F-124A-4982-9177-1729C336E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Outcome: rejection versus no rejection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A69403-A1D0-4BF0-ABA2-D1696C0A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Tables 5–6 and Discussion, p. 11; project diagnosis mapping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1D45C2-3D26-4395-AE54-89D96C46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197FEF-73A5-4912-94C9-5B0E4E45B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The model combines the three rejection categories in the public dataset.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2428875"/>
          <a:ext xmlns:a="http://schemas.openxmlformats.org/drawingml/2006/main" cx="109728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19625"/>
                <a:gridCol w="3876675"/>
                <a:gridCol w="24765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Recorded diagnosis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Meaning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 label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Antibody-mediated 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Antibodies: immune proteins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T-cell-mediated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 cells: immune cells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Mixed 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Both rejection processes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recorded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4EFF55-FEDB-4D1B-B62A-E618A5B2F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The authors excluded some diagnostic categories from the dataset.</a:t>
            </a:r>
          </a:p>
        </p:txBody>
      </p:sp>
    </p:spTree>
    <p:extLst>
      <p:ext uri="{BB962C8B-B14F-4D97-AF65-F5344CB8AC3E}">
        <p14:creationId xmlns:p14="http://schemas.microsoft.com/office/powerpoint/2010/main" val="210720364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5F2407-C5EC-4FDE-9192-8528F447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measurements used to build the features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42B5D8-9BF7-4502-BD14-B7BD12F57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GSE212160; B-HOT panel consensus; NanoString analysis guidance; shared preprocessing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28A0B1-74B1-4E4E-B941-6A8A871CD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97DC9E-6EFA-4C3F-AE85-FE11B47A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770 RNA counts per specimen, one for each RNA type measured.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8CCC6C-7B57-4EAE-AC99-98A2DBD1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5095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758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906B19-AFE7-46C8-AF9F-A577961D6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50958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 measurements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8A6DA1-9F2D-4608-8FC1-A9A643A7D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5143500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Selected human and viral RNA measurements.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Signals reflect gene activity and the mixture of cells in the biopsy.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Normalized values become the model’s inputs.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2AC095-E167-4DE8-A1DB-489C1506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562225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B963A7-5719-49A6-BEBB-CCD1A19DC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343275"/>
            <a:ext cx="50387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Housekeeping references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6DAC70-0981-4B06-8437-61A4F5BB7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905250"/>
            <a:ext cx="5038725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Relatively stable RNAs provide a reference for each specimen.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Help adjust for differences in overall measurable RNA input.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Used for normalization, then excluded from the model.</a:t>
            </a:r>
          </a:p>
        </p:txBody>
      </p:sp>
    </p:spTree>
    <p:extLst>
      <p:ext uri="{BB962C8B-B14F-4D97-AF65-F5344CB8AC3E}">
        <p14:creationId xmlns:p14="http://schemas.microsoft.com/office/powerpoint/2010/main" val="103304838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8295D8-984F-4704-A828-A9D3DD060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Preparing counts for the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B20259-434D-4901-981A-C74AB6ACC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shared preprocessing; public specimen GSM6510425. Values rounded for display.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210E71-392A-4528-B030-FF235C1F4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743075"/>
          <a:ext xmlns:a="http://schemas.openxmlformats.org/drawingml/2006/main" cx="10972800" cy="3171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677150"/>
                <a:gridCol w="3295650"/>
              </a:tblGrid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For each of the 758 RNA counts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IFNG example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1. Start with the raw count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 Calculate log₂(count + 1)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2.322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3. Average log₂(count + 1) for the 12 reference RNAs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7.900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4. Subtract that reference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2.322 − 7.900 = −5.578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290442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62AE36-99C5-4042-88B7-E358FE895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Development and evaluation specimens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5CCE2E-DF3C-4B0E-BA7C-1F1360B5A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Methods; saved project split, seed 20260915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FB976A-EA03-4A73-A040-CDB5117AB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6D0B42-0555-48BB-AFE8-454F72AC7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 used the authors’ two study groups: discovery and validation cohorts.</a:t>
            </a:r>
          </a:p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My training / screening split kept diagnosis proportions similar.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2B869A-26A4-4246-AB7C-7F3462ED3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665797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Discovery Cohort</a:t>
            </a:r>
          </a:p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1,050 specimens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DA0ABD-77D3-4B29-880B-73EA4818E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30099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Training: 787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Fit the models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225C69-C1FD-4B90-AA82-BD514B8D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724400"/>
            <a:ext cx="31718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Screening: 263</a:t>
            </a:r>
          </a:p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Choose model and threshold</a:t>
            </a:r>
          </a:p>
        </p:txBody>
      </p:sp>
      <p:cxnSp>
        <p:nvCxnSpPr>
          <p:cNvPr id="18" name=""/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2114550" y="4048125"/>
            <a:ext cx="1824038" cy="6762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19" name=""/>
          <p:cNvCxnSpPr>
            <a:stCxn xmlns:a="http://schemas.openxmlformats.org/drawingml/2006/main" id="5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3938588" y="4048125"/>
            <a:ext cx="1743075" cy="6762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8EF9B9-ACE8-43D8-9CE2-C3F289262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67050"/>
            <a:ext cx="37719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43E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Validation Cohort</a:t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345 specimens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Evaluate the selected</a:t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 and threshold</a:t>
            </a:r>
          </a:p>
        </p:txBody>
      </p:sp>
    </p:spTree>
    <p:extLst>
      <p:ext uri="{BB962C8B-B14F-4D97-AF65-F5344CB8AC3E}">
        <p14:creationId xmlns:p14="http://schemas.microsoft.com/office/powerpoint/2010/main" val="175760071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85FF4D-AFA1-41AC-8672-6378914C5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Models compared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BE201A-DE25-4482-8E99-A5EE8FF5B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primary configuration and analysis; Zhang et al., Table S2; CatBoost documentation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BCBFE4-EFF9-4C14-999F-39D0DD82A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C3F490-88C3-4E43-BDC9-80FAF95A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Each model produces a score for rejection versus no rejection.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2381250"/>
          <a:ext xmlns:a="http://schemas.openxmlformats.org/drawingml/2006/main" cx="10972800" cy="3695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71850"/>
                <a:gridCol w="7600950"/>
              </a:tblGrid>
              <a:tr h="4762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Approach and rationale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5715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Constant baseline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One score: the training rejection fraction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 only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(Logistic regression)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One immune-related RNA measurement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as a simple benchmark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914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All RNA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(Logistic Regression)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 weighted combination of 758 measurements.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Regularization limits the size of the weights.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Can capture nonlinear RNA patterns and interactions.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Shallow trees help limit overfitting.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76931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F86D79-7813-4009-BDA3-25DB380A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Choosing a rejection threshold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5F21AB-DD30-4803-9712-EE0EE8404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Reference: recorded biopsy diagnoses. Source: discovery screening rule and model metadata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D801E5-241B-4470-889C-7874FD170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2DD8D2-FF57-44AE-884E-85C2C8810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90675"/>
            <a:ext cx="5181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B5573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9D5E13-637C-48B6-85BD-A0EEB579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24075"/>
            <a:ext cx="5181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Correctly flagged rejection cases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D4EE50-7DFA-4261-A6DA-B261A8A9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49530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16343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0FFA52-364F-4537-A107-951CE7D2B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5181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All cases diagnosed as rejection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161C76-98E1-4335-BF82-CF35C9E35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5181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B55730"/>
                </a:solidFill>
                <a:latin typeface="Arial"/>
                <a:ea typeface="Arial"/>
                <a:cs typeface="Arial"/>
              </a:rPr>
              <a:t>(False negatives are missed cases.)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60FA24-84CD-4B0E-A326-A837FFB6E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590675"/>
            <a:ext cx="487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FCE23D-6425-45BB-999F-4B8D1FD69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24075"/>
            <a:ext cx="4876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Correctly flagged rejection cases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A5B813-FB01-4742-85BC-A7BAFED9D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647950"/>
            <a:ext cx="46482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16343E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B68387-D58F-45F8-A27A-4E205405F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05100"/>
            <a:ext cx="4876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All rejection flags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FC4EC-3D67-4901-84AC-FDCA80B99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57550"/>
            <a:ext cx="4876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(False positives are incorrect flags.)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4E11BE-55FB-4615-BADB-618CE9E22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My selection rule for screening specimens</a:t>
            </a:r>
          </a:p>
        </p:txBody>
      </p:sp>
      <p:graphicFrame>
        <p:nvGraphicFramePr>
          <p:cNvPr id="30" name=""/>
          <p:cNvGraphicFramePr/>
          <p:nvPr/>
        </p:nvGraphicFramePr>
        <p:xfrm>
          <a:off xmlns:a="http://schemas.openxmlformats.org/drawingml/2006/main" x="609600" y="4505325"/>
          <a:ext xmlns:a="http://schemas.openxmlformats.org/drawingml/2006/main" cx="10972800" cy="14382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66800"/>
                <a:gridCol w="9906000"/>
              </a:tblGrid>
              <a:tr h="3524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Step</a:t>
                      </a:r>
                    </a:p>
                  </a:txBody>
                  <a:tcPr marL="171450" marR="142875" marT="19050" marB="190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Rule</a:t>
                      </a:r>
                    </a:p>
                  </a:txBody>
                  <a:tcPr marL="171450" marR="142875" marT="19050" marB="19050" anchor="ctr">
                    <a:solidFill>
                      <a:srgbClr val="16343E"/>
                    </a:solidFill>
                  </a:tcPr>
                </a:tc>
              </a:tr>
              <a:tr h="361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171450" marR="1428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Detect at least 90% of cases diagnosed as rejection.</a:t>
                      </a:r>
                    </a:p>
                  </a:txBody>
                  <a:tcPr marL="171450" marR="142875" marT="19050" marB="19050"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171450" marR="142875" marT="19050" marB="190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Among qualifying choices, minimize false positives.</a:t>
                      </a:r>
                    </a:p>
                  </a:txBody>
                  <a:tcPr marL="171450" marR="142875" marT="19050" marB="19050" anchor="ctr">
                    <a:solidFill>
                      <a:srgbClr val="EDF3F0"/>
                    </a:solidFill>
                  </a:tcPr>
                </a:tc>
              </a:tr>
              <a:tr h="361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171450" marR="1428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Keep the chosen model and threshold for evaluation.</a:t>
                      </a:r>
                    </a:p>
                  </a:txBody>
                  <a:tcPr marL="171450" marR="142875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8865437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8462B6-458A-4D0C-B5DA-72C8F146C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Validation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51F71F-2BDA-45BA-9BB4-DEE2ED37B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primary evaluation, 15 Sep 2026. Errors are against recorded diagnoses.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968B99-8C9A-443D-BE88-8B83AC469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642893-29E5-4A62-A6B9-C450C10DA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345 specimens: 169 rejection and 176 no rejection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533400" y="1924050"/>
          <a:ext xmlns:a="http://schemas.openxmlformats.org/drawingml/2006/main" cx="11144250" cy="3114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c11e9ec15ec4666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4CF800-19FE-4252-9FBE-658FE8A09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1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Constant baseline: 0 false negatives, 176 false positives. It flags everyone.</a:t>
            </a:r>
          </a:p>
        </p:txBody>
      </p:sp>
    </p:spTree>
    <p:extLst>
      <p:ext uri="{BB962C8B-B14F-4D97-AF65-F5344CB8AC3E}">
        <p14:creationId xmlns:p14="http://schemas.microsoft.com/office/powerpoint/2010/main" val="206751436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460867-16E5-480B-972B-36886CCC5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Inspecting the analysis report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C0C062-5B8C-416D-9600-33C511359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saved primary analysis, 15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E57419-E14E-4D26-9BF9-0CD871680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5083F0-A870-4400-9A2B-ACE944747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811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Saved analysis for another analyst to inspect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12FA76-504C-4592-9056-DB06B0048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109728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500"/>
              </a:spcAft>
              <a:buChar char="•"/>
              <a:defRPr sz="26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Full model comparisons</a:t>
            </a:r>
          </a:p>
          <a:p xmlns:a="http://schemas.openxmlformats.org/drawingml/2006/main">
            <a:pPr marL="279400" indent="-152400" algn="l">
              <a:spcAft>
                <a:spcPts val="2500"/>
              </a:spcAft>
              <a:buChar char="•"/>
              <a:defRPr sz="26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Errors by recorded diagnosis</a:t>
            </a:r>
          </a:p>
          <a:p xmlns:a="http://schemas.openxmlformats.org/drawingml/2006/main">
            <a:pPr marL="279400" indent="-152400" algn="l">
              <a:spcAft>
                <a:spcPts val="2500"/>
              </a:spcAft>
              <a:buChar char="•"/>
              <a:defRPr sz="26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Score reliability and uncertainty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31ABC1-FE3F-41BA-B69B-1948FF867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91150"/>
            <a:ext cx="10687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Live walkthrough of the preserved report</a:t>
            </a:r>
          </a:p>
        </p:txBody>
      </p:sp>
    </p:spTree>
    <p:extLst>
      <p:ext uri="{BB962C8B-B14F-4D97-AF65-F5344CB8AC3E}">
        <p14:creationId xmlns:p14="http://schemas.microsoft.com/office/powerpoint/2010/main" val="191443096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B4AE4A-EE10-4992-8728-DD2B651A5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One public specimen through the service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BF6D9F-2F19-44E5-A5CA-FA38396AA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public discovery-screen example and saved application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5CD016-1329-4634-B6A3-9A0F8FEA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D36C0A-1095-444B-9010-F2FE53569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GSM6510425: recorded no rejection.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2371725"/>
          <a:ext xmlns:a="http://schemas.openxmlformats.org/drawingml/2006/main" cx="10972800" cy="1314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95650"/>
                <a:gridCol w="3486150"/>
                <a:gridCol w="4191000"/>
              </a:tblGrid>
              <a:tr h="6572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 score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Selected threshold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Rejection flag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572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0.274934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0.876588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False (below cutoff)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CA0C52-1056-44CB-B073-3BF9256E7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Model: 20260915_shared:any_rejection:catboost_all_depth4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CADE64-A7AF-408D-A893-692A78376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1975"/>
            <a:ext cx="1097280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8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complete input produces a flag that agrees with the recorded diagnosis.</a:t>
            </a:r>
          </a:p>
          <a:p xmlns:a="http://schemas.openxmlformats.org/drawingml/2006/main">
            <a:pPr marL="279400" indent="-152400" algn="l">
              <a:spcAft>
                <a:spcPts val="18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Removing IFNG clears the previous result and returns no new score.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1420BF-7358-4627-94D4-DC9893EF3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38800"/>
            <a:ext cx="10687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“Missing required assay targets: IFNG”</a:t>
            </a:r>
          </a:p>
        </p:txBody>
      </p:sp>
    </p:spTree>
    <p:extLst>
      <p:ext uri="{BB962C8B-B14F-4D97-AF65-F5344CB8AC3E}">
        <p14:creationId xmlns:p14="http://schemas.microsoft.com/office/powerpoint/2010/main" val="43752989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0EB888-929C-4FFB-89C1-CCBA85810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Shared preparation and scoring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56D12A-1A32-48B8-944A-99179BAF1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prediction.py, Predictor.predict; shared preprocessing; training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B5D65C-C070-4980-B19F-8620F1567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792544-C408-47F5-A436-304425A23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analysis and application use the same preparation code.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28850B-9593-44D6-8113-E618162F5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3143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Raw RNA counts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400725-9640-43EC-8EC6-870EE511A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400300"/>
            <a:ext cx="31813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Check and normalize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CC17C4-62F1-4C13-A4FA-BCBFBD677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00300"/>
            <a:ext cx="3143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6343E"/>
                </a:solidFill>
                <a:latin typeface="Arial"/>
                <a:ea typeface="Arial"/>
                <a:cs typeface="Arial"/>
              </a:rPr>
              <a:t>Saved model and threshold</a:t>
            </a:r>
          </a:p>
        </p:txBody>
      </p:sp>
      <p:cxnSp>
        <p:nvCxnSpPr>
          <p:cNvPr id="2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2771775"/>
            <a:ext cx="7524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2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686675" y="2771775"/>
            <a:ext cx="7524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965C22-73E6-4B66-BCB0-304E3B404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Application entry point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76F767-C521-470B-8199-7A77793C1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728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6343E"/>
                </a:solidFill>
                <a:latin typeface="Consolas"/>
                <a:ea typeface="Consolas"/>
                <a:cs typeface="Consolas"/>
              </a:rPr>
              <a:t>def predict(self, counts: pd.DataFrame) -&gt; pd.DataFrame:</a:t>
            </a:r>
          </a:p>
          <a:p xmlns:a="http://schemas.openxmlformats.org/drawingml/2006/main">
            <a:pPr algn="l">
              <a:defRPr sz="1800" b="0">
                <a:solidFill>
                  <a:srgbClr val="1634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6343E"/>
                </a:solidFill>
                <a:latin typeface="Consolas"/>
                <a:ea typeface="Consolas"/>
                <a:cs typeface="Consolas"/>
              </a:rPr>
              <a:t>    """Validate an entire raw batch before returning any specimen results."""</a:t>
            </a:r>
          </a:p>
          <a:p xmlns:a="http://schemas.openxmlformats.org/drawingml/2006/main">
            <a:pPr algn="l">
              <a:defRPr sz="1800" b="0">
                <a:solidFill>
                  <a:srgbClr val="1634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6343E"/>
                </a:solidFill>
                <a:latin typeface="Consolas"/>
                <a:ea typeface="Consolas"/>
                <a:cs typeface="Consolas"/>
              </a:rPr>
              <a:t>    normalized = normalize_counts(counts, self.schema)</a:t>
            </a:r>
          </a:p>
          <a:p xmlns:a="http://schemas.openxmlformats.org/drawingml/2006/main">
            <a:pPr algn="l">
              <a:defRPr sz="1800" b="0">
                <a:solidFill>
                  <a:srgbClr val="1634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6343E"/>
                </a:solidFill>
                <a:latin typeface="Consolas"/>
                <a:ea typeface="Consolas"/>
                <a:cs typeface="Consolas"/>
              </a:rPr>
              <a:t>    return self.predict_normalized(normalized)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67ABF5-C377-4E3D-BDC2-FE0D16841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web page and command line both use this prediction path.</a:t>
            </a:r>
          </a:p>
        </p:txBody>
      </p:sp>
    </p:spTree>
    <p:extLst>
      <p:ext uri="{BB962C8B-B14F-4D97-AF65-F5344CB8AC3E}">
        <p14:creationId xmlns:p14="http://schemas.microsoft.com/office/powerpoint/2010/main" val="208724483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B03CEB-2895-484A-B249-A17BF341E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An interface other software can call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3657BD-BD0C-452C-9793-DC55D713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implemented POST /predict contract and public demonstration response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EEB2E8-B802-415F-AEF0-2E1A089AA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3F8304-6F68-4D37-A964-2878A120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109728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API: a documented way for software to send data and receive results.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C353DE-BE50-4E72-B03B-C5BD502D8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4171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CSV</a:t>
            </a:r>
          </a:p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Specimen ID + 770 counts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422DB6-A5C1-4357-A9AA-75DBA2428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638425"/>
            <a:ext cx="25908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POST /predict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8CA3F0-E39C-4676-BE70-CC6AF989F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524125"/>
            <a:ext cx="2381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6343E"/>
                </a:solidFill>
                <a:latin typeface="Arial"/>
                <a:ea typeface="Arial"/>
                <a:cs typeface="Arial"/>
              </a:rPr>
              <a:t>JSON</a:t>
            </a:r>
          </a:p>
          <a:p xmlns:a="http://schemas.openxmlformats.org/drawingml/2006/main">
            <a:pPr algn="ctr">
              <a:defRPr sz="20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6343E"/>
                </a:solidFill>
                <a:latin typeface="Arial"/>
                <a:ea typeface="Arial"/>
                <a:cs typeface="Arial"/>
              </a:rPr>
              <a:t>Prediction results</a:t>
            </a:r>
          </a:p>
        </p:txBody>
      </p:sp>
      <p:cxnSp>
        <p:nvCxnSpPr>
          <p:cNvPr id="2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4781550" y="3057525"/>
            <a:ext cx="9144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2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8286750" y="3057525"/>
            <a:ext cx="9144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5EBCC8-A1D5-4A5F-B8A3-77B4C691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Each result identifies the calculation</a:t>
            </a:r>
          </a:p>
        </p:txBody>
      </p:sp>
      <p:graphicFrame>
        <p:nvGraphicFramePr>
          <p:cNvPr id="23" name=""/>
          <p:cNvGraphicFramePr/>
          <p:nvPr/>
        </p:nvGraphicFramePr>
        <p:xfrm>
          <a:off xmlns:a="http://schemas.openxmlformats.org/drawingml/2006/main" x="609600" y="4638675"/>
          <a:ext xmlns:a="http://schemas.openxmlformats.org/drawingml/2006/main" cx="10972800" cy="10572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543300"/>
                <a:gridCol w="2381250"/>
                <a:gridCol w="2667000"/>
                <a:gridCol w="2381250"/>
              </a:tblGrid>
              <a:tr h="5238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Specimen</a:t>
                      </a:r>
                    </a:p>
                  </a:txBody>
                  <a:tcPr marL="171450" marR="142875" marT="66675" marB="666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Score</a:t>
                      </a:r>
                    </a:p>
                  </a:txBody>
                  <a:tcPr marL="171450" marR="142875" marT="66675" marB="666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Threshold</a:t>
                      </a:r>
                    </a:p>
                  </a:txBody>
                  <a:tcPr marL="171450" marR="142875" marT="66675" marB="666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Flag</a:t>
                      </a:r>
                    </a:p>
                  </a:txBody>
                  <a:tcPr marL="171450" marR="142875" marT="66675" marB="66675" anchor="ctr">
                    <a:solidFill>
                      <a:srgbClr val="16343E"/>
                    </a:solidFill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0.274934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0.876588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False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4D64B8-C713-45C8-BBF5-2692E1944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Each result includes versions for the model and expected input format.</a:t>
            </a:r>
          </a:p>
        </p:txBody>
      </p:sp>
    </p:spTree>
    <p:extLst>
      <p:ext uri="{BB962C8B-B14F-4D97-AF65-F5344CB8AC3E}">
        <p14:creationId xmlns:p14="http://schemas.microsoft.com/office/powerpoint/2010/main" val="17149104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7C30E4-DA30-46FD-A575-0D65F124F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Checking the application against the analysis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4C30AD-70B0-46F2-A323-550D0537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real HTTP verification and application tests, 17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502E01-4129-464F-9DF1-B6A6906A0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4C14FB-155E-4B63-BA8B-630BBBAD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All 345 validation specimens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9A8972-D996-4DBE-B9DA-866C932F0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Saved results, command line and HTTP service had matching flags.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Scores agreed within 10⁻¹², including reordered measurement columns.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604581-757F-472F-B82D-8E22A41C3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Example check: HTTP scores versus command-line scores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54BEBA-E739-49F5-AB91-AE877AD13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109728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6343E"/>
                </a:solidFill>
                <a:latin typeface="Consolas"/>
                <a:ea typeface="Consolas"/>
                <a:cs typeface="Consolas"/>
              </a:rPr>
              <a:t>np.testing.assert_allclose(</a:t>
            </a:r>
          </a:p>
          <a:p xmlns:a="http://schemas.openxmlformats.org/drawingml/2006/main">
            <a:pPr algn="l">
              <a:defRPr sz="1800" b="0">
                <a:solidFill>
                  <a:srgbClr val="1634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6343E"/>
                </a:solidFill>
                <a:latin typeface="Consolas"/>
                <a:ea typeface="Consolas"/>
                <a:cs typeface="Consolas"/>
              </a:rPr>
              <a:t>    actual.rejection_score, cli.rejection_score, rtol=0, atol=1e-12</a:t>
            </a:r>
          </a:p>
          <a:p xmlns:a="http://schemas.openxmlformats.org/drawingml/2006/main">
            <a:pPr algn="l">
              <a:defRPr sz="1800" b="0">
                <a:solidFill>
                  <a:srgbClr val="1634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6343E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09600" y="4495800"/>
          <a:ext xmlns:a="http://schemas.openxmlformats.org/drawingml/2006/main" cx="10972800" cy="15335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000750"/>
                <a:gridCol w="4972050"/>
              </a:tblGrid>
              <a:tr h="4857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Failure checked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Expected response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5238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Missing or duplicate measurements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scores for the batch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Incompatible model metadata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Model does not load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629886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1710C1-C96D-4883-A71E-5E91AB2E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Running and maintaining the application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676DD2-77BE-4960-9CCF-DCCCC4D65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setup guide, automated-check workflow and dated verification records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995C4D-1DE2-4029-B1D9-DDF5045D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743075"/>
          <a:ext xmlns:a="http://schemas.openxmlformats.org/drawingml/2006/main" cx="10972800" cy="3124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591175"/>
                <a:gridCol w="5381625"/>
              </a:tblGrid>
              <a:tr h="5524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another developer receives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Why it helps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</a:tr>
              <a:tr h="8572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Locked environment and run instructions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Install the recorded dependencies and start the service.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Automated checks on code changes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Catch changes that break scoring or input handling.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</a:tr>
              <a:tr h="8572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Tested local container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Run the packaged application with its saved model.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2DBBA8-5C98-43BC-84C5-A014C6F38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Hosted checks passed for an earlier revision.</a:t>
            </a:r>
          </a:p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current application and research container were checked locally.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61CEBF-7DAB-47E0-BF8A-3A3638B90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Cloud deployment remains future work.</a:t>
            </a:r>
          </a:p>
        </p:txBody>
      </p:sp>
    </p:spTree>
    <p:extLst>
      <p:ext uri="{BB962C8B-B14F-4D97-AF65-F5344CB8AC3E}">
        <p14:creationId xmlns:p14="http://schemas.microsoft.com/office/powerpoint/2010/main" val="115576858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43F609-746B-47D3-A2AE-8C96D50FA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this project accomplished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8BB125-06AE-43E0-A28F-28FB1A971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Public data: Zhang et al. (2024), GSE212160. Development and presentation used AI assistance.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CC0460-5176-49A3-B622-F90D51D2C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5E3A36-C794-486A-8732-FCA0C597C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reproducible model comparison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A79F2D-6ABD-407D-A699-31B60B2C3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71725"/>
            <a:ext cx="109728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Combined measurements reduced false flags, with a tradeoff in missed cases.</a:t>
            </a:r>
          </a:p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practical advantage over logistic regression remains uncertain.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FB34B5-29D2-49AE-8C64-5AC54BF0E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78949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6DC42F-F4FE-4219-809C-22B20D22E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10972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Working software that preserves the calculation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BBFAF6-490B-4D8D-9F3A-EB94276F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versioned score, clear input errors and checks against the saved results.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6D544B-B4CD-4897-B73D-D93F0B3E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Added value for uncertain biopsies still needs direct evaluation.</a:t>
            </a:r>
          </a:p>
        </p:txBody>
      </p:sp>
    </p:spTree>
    <p:extLst>
      <p:ext uri="{BB962C8B-B14F-4D97-AF65-F5344CB8AC3E}">
        <p14:creationId xmlns:p14="http://schemas.microsoft.com/office/powerpoint/2010/main" val="13043444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2026-09-21T20:25:28.8810000Z</dcterms:created>
  <dcterms:modified xsi:type="dcterms:W3CDTF">2026-09-21T20:25:28.8810000Z</dcterms:modified>
</coreProperties>
</file>