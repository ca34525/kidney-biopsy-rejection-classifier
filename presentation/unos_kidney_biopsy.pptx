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Default Extension="xlsx" ContentType="application/vnd.openxmlformats-officedocument.spreadsheetml.sheet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8e8b427eca4b4f87" /><Relationship Type="http://schemas.openxmlformats.org/officeDocument/2006/relationships/extended-properties" Target="/docProps/app.xml" Id="Rf5199b6260d9488a" /><Relationship Type="http://schemas.openxmlformats.org/officeDocument/2006/relationships/officeDocument" Target="/ppt/presentation.xml" Id="Rd2b5b92d0c574f7f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5ac9bf43fd1741ad"/>
  </p:sldMasterIdLst>
  <p:sldIdLst>
    <p:sldId id="256" r:id="Rb761648119a748d7"/>
    <p:sldId id="257" r:id="R20316546560d4435"/>
    <p:sldId id="258" r:id="R6b87b9dc2cf344f5"/>
    <p:sldId id="259" r:id="R4c73422dd9cb4624"/>
    <p:sldId id="260" r:id="Rceaa3b837aa14030"/>
    <p:sldId id="261" r:id="R01ed0b07ff504dab"/>
    <p:sldId id="262" r:id="R0448e53deb174397"/>
    <p:sldId id="263" r:id="R727f32439f9449bd"/>
    <p:sldId id="264" r:id="R8cdb559f21fb41e5"/>
    <p:sldId id="265" r:id="R804967aea8024232"/>
    <p:sldId id="266" r:id="R394c5884fbe544ea"/>
    <p:sldId id="267" r:id="Reb18bd7aab514550"/>
    <p:sldId id="268" r:id="R7f734f0506d14450"/>
    <p:sldId id="269" r:id="R32607bcb26f14daf"/>
    <p:sldId id="270" r:id="R63f50a9736224c60"/>
    <p:sldId id="271" r:id="R97c7b9b5e40e41aa"/>
    <p:sldId id="272" r:id="R74f913f8555a4261"/>
    <p:sldId id="273" r:id="R157d6b87740f43ad"/>
    <p:sldId id="274" r:id="R285fdeb55cba4a3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b57e23f4313e406c" /><Relationship Type="http://schemas.openxmlformats.org/officeDocument/2006/relationships/slideMaster" Target="/ppt/slideMasters/slideMaster1.xml" Id="R5ac9bf43fd1741ad" /><Relationship Type="http://schemas.openxmlformats.org/officeDocument/2006/relationships/presProps" Target="/ppt/presProps.xml" Id="Rec4b77fd51a641d1" /><Relationship Type="http://schemas.openxmlformats.org/officeDocument/2006/relationships/tableStyles" Target="/ppt/tableStyles.xml" Id="R24d4636132dc4ba7" /><Relationship Type="http://schemas.openxmlformats.org/officeDocument/2006/relationships/slide" Target="/ppt/slides/slide1.xml" Id="Rb761648119a748d7" /><Relationship Type="http://schemas.openxmlformats.org/officeDocument/2006/relationships/slide" Target="/ppt/slides/slide2.xml" Id="R20316546560d4435" /><Relationship Type="http://schemas.openxmlformats.org/officeDocument/2006/relationships/slide" Target="/ppt/slides/slide3.xml" Id="R6b87b9dc2cf344f5" /><Relationship Type="http://schemas.openxmlformats.org/officeDocument/2006/relationships/slide" Target="/ppt/slides/slide4.xml" Id="R4c73422dd9cb4624" /><Relationship Type="http://schemas.openxmlformats.org/officeDocument/2006/relationships/slide" Target="/ppt/slides/slide5.xml" Id="Rceaa3b837aa14030" /><Relationship Type="http://schemas.openxmlformats.org/officeDocument/2006/relationships/slide" Target="/ppt/slides/slide6.xml" Id="R01ed0b07ff504dab" /><Relationship Type="http://schemas.openxmlformats.org/officeDocument/2006/relationships/slide" Target="/ppt/slides/slide7.xml" Id="R0448e53deb174397" /><Relationship Type="http://schemas.openxmlformats.org/officeDocument/2006/relationships/slide" Target="/ppt/slides/slide8.xml" Id="R727f32439f9449bd" /><Relationship Type="http://schemas.openxmlformats.org/officeDocument/2006/relationships/slide" Target="/ppt/slides/slide9.xml" Id="R8cdb559f21fb41e5" /><Relationship Type="http://schemas.openxmlformats.org/officeDocument/2006/relationships/slide" Target="/ppt/slides/slide10.xml" Id="R804967aea8024232" /><Relationship Type="http://schemas.openxmlformats.org/officeDocument/2006/relationships/slide" Target="/ppt/slides/slide11.xml" Id="R394c5884fbe544ea" /><Relationship Type="http://schemas.openxmlformats.org/officeDocument/2006/relationships/slide" Target="/ppt/slides/slide12.xml" Id="Reb18bd7aab514550" /><Relationship Type="http://schemas.openxmlformats.org/officeDocument/2006/relationships/slide" Target="/ppt/slides/slide13.xml" Id="R7f734f0506d14450" /><Relationship Type="http://schemas.openxmlformats.org/officeDocument/2006/relationships/slide" Target="/ppt/slides/slide14.xml" Id="R32607bcb26f14daf" /><Relationship Type="http://schemas.openxmlformats.org/officeDocument/2006/relationships/slide" Target="/ppt/slides/slide15.xml" Id="R63f50a9736224c60" /><Relationship Type="http://schemas.openxmlformats.org/officeDocument/2006/relationships/slide" Target="/ppt/slides/slide16.xml" Id="R97c7b9b5e40e41aa" /><Relationship Type="http://schemas.openxmlformats.org/officeDocument/2006/relationships/slide" Target="/ppt/slides/slide17.xml" Id="R74f913f8555a4261" /><Relationship Type="http://schemas.openxmlformats.org/officeDocument/2006/relationships/slide" Target="/ppt/slides/slide18.xml" Id="R157d6b87740f43ad" /><Relationship Type="http://schemas.openxmlformats.org/officeDocument/2006/relationships/slide" Target="/ppt/slides/slide19.xml" Id="R285fdeb55cba4a3f" 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9321fbdb293c416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b9c1f9215b1c4375" /><Relationship Type="http://schemas.openxmlformats.org/officeDocument/2006/relationships/slideLayout" Target="/ppt/slideLayouts/slideLayout1.xml" Id="Rd4ddbdfe1f9a4c1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4ddbdfe1f9a4c1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f1ce2db8b15425c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b8d9e10cb145478b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2340f45db0b48b5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928b3deab5c04aa2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66638bc8dd4944d5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bd8bfac7c1b7498d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bd78bc53e564064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baba0d77eded4e2d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c3e6abeb75a431b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9563b2107f844a83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c7a1c11f9aa4cc9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124407eb46a4c1c" /><Relationship Type="http://schemas.openxmlformats.org/officeDocument/2006/relationships/chart" Target="/ppt/slides/charts/chart1.xml" Id="R678de3e59e194f4e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bd6a7009a154c0f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12d73b24b284192" 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69b511e480ac4cba" 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ae896b2b56d4b77" 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b7721175308048bb" 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9761788cfde477d" 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56db3e71baa4ee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False negatives / 169</c:v>
          </c:tx>
          <c:spPr>
            <a:solidFill xmlns:a="http://schemas.openxmlformats.org/drawingml/2006/main">
              <a:srgbClr val="B55730"/>
            </a:solidFill>
          </c:spPr>
          <c:cat>
            <c:strRef>
              <c:f>'Chart Data'!$A$2:$A$4</c:f>
              <c:strCache>
                <c:ptCount val="3"/>
                <c:pt idx="0">
                  <c:v>IFNG only
(Logistic regression)</c:v>
                </c:pt>
                <c:pt idx="1">
                  <c:v>All RNA
(Logistic Regression)</c:v>
                </c:pt>
                <c:pt idx="2">
                  <c:v>CatBoost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14</c:v>
                </c:pt>
                <c:pt idx="1">
                  <c:v>33</c:v>
                </c:pt>
                <c:pt idx="2">
                  <c:v>25</c:v>
                </c:pt>
              </c:numCache>
            </c:numRef>
          </c:val>
        </c:ser>
        <c:ser>
          <c:idx val="1"/>
          <c:order val="1"/>
          <c:tx>
            <c:v>False positives / 176</c:v>
          </c:tx>
          <c:spPr>
            <a:solidFill xmlns:a="http://schemas.openxmlformats.org/drawingml/2006/main">
              <a:srgbClr val="007C78"/>
            </a:solidFill>
          </c:spPr>
          <c:cat>
            <c:strRef>
              <c:f>'Chart Data'!$C$2:$C$4</c:f>
              <c:strCache>
                <c:ptCount val="3"/>
                <c:pt idx="0">
                  <c:v>IFNG only
(Logistic regression)</c:v>
                </c:pt>
                <c:pt idx="1">
                  <c:v>All RNA
(Logistic Regression)</c:v>
                </c:pt>
                <c:pt idx="2">
                  <c:v>CatBoost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75</c:v>
                </c:pt>
                <c:pt idx="1">
                  <c:v>8</c:v>
                </c:pt>
                <c:pt idx="2">
                  <c:v>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 b="1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8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CEDBD7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7F8F5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75">
              <a:solidFill>
                <a:srgbClr val="16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7F8F5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BC9681-E49C-460C-AC02-57CCC38F5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097280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Classifying Kidney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Transplant Rejection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Biopsy RNA</a:t>
            </a:r>
          </a:p>
        </p:txBody>
      </p:sp>
    </p:spTree>
    <p:extLst>
      <p:ext uri="{BB962C8B-B14F-4D97-AF65-F5344CB8AC3E}">
        <p14:creationId xmlns:p14="http://schemas.microsoft.com/office/powerpoint/2010/main" val="111092210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9D6723-1931-44F3-9992-85F27DFCA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Transplant rejection and kidney biopsy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EF684B-EF93-4831-A627-F6437D2B6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NIDDK, Kidney Transplant and Kidney Biopsy; Zhang et al. (2024)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B3D0CF-60B9-42EC-8159-656E9700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A7C095-227B-4166-961B-05D978BC1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Rejection: </a:t>
            </a:r>
            <a:r>
              <a:t>The recipient’s immune system attacks the donated kidney.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614A01-1DC1-4CC5-A599-5F86EE9E5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109728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Kidney biopsy: </a:t>
            </a:r>
            <a:r>
              <a:t>A small tissue sample collected from the kidney for examination.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933123-8545-4C59-9D5D-4A5ABC1C1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590925"/>
            <a:ext cx="1052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Histology: </a:t>
            </a:r>
            <a:r>
              <a:t>Microscopic examination reveals injury and inflammation and supports the recorded diagnosis.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45A4F9-F7A4-44DA-A4B1-6D4EEF763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695825"/>
            <a:ext cx="1052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Molecular measurements: </a:t>
            </a:r>
            <a:r>
              <a:t>Counts of selected RNA types provide the model’s inputs.</a:t>
            </a:r>
          </a:p>
        </p:txBody>
      </p:sp>
    </p:spTree>
    <p:extLst>
      <p:ext uri="{BB962C8B-B14F-4D97-AF65-F5344CB8AC3E}">
        <p14:creationId xmlns:p14="http://schemas.microsoft.com/office/powerpoint/2010/main" val="20937425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CAD1E5-69FC-469F-A3A7-49A3480A2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Possible Use: Molecular Second Opinion for Ambiguous Biopsies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E31E13-DAD6-45AE-8B61-36A7F0B8B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Banff reference guide (updated Apr 2026).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8CF440-9AEA-47AC-824D-CE2FDEEC9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CF21F6-5957-4DE6-91D3-EEA6C3B90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Sometimes the microscopic findings are borderline or conflict with other clinical evidence.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D71D5F-07D0-4174-82D2-64C7AC7E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06870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F8B260-DBF6-49F6-924C-C485652B4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657475"/>
            <a:ext cx="103251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Hypothetical Example: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508F05-A7B6-4131-86D6-4D90BC41F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28950"/>
            <a:ext cx="10325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 biopsy shows mild inflammation, but the microscopic findings do not clearly establish rejection.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409B41-D76A-43D8-97F8-88C17509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728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 used RNA to classify recorded diagnoses in this personal project.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E31919-7E1B-4F84-BC98-42EF93B2A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9175"/>
            <a:ext cx="106870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1F9090-525F-4855-9FC1-25E1D82E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914900"/>
            <a:ext cx="103251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Hypothetical Example, continued: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EE0468-F29C-4F01-8FD4-3B97E531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286375"/>
            <a:ext cx="10325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 high rejection score could add evidence for specialist review of this biopsy.</a:t>
            </a:r>
          </a:p>
        </p:txBody>
      </p:sp>
    </p:spTree>
    <p:extLst>
      <p:ext uri="{BB962C8B-B14F-4D97-AF65-F5344CB8AC3E}">
        <p14:creationId xmlns:p14="http://schemas.microsoft.com/office/powerpoint/2010/main" val="2724831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FF155C-8250-470B-B870-F85648A25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Evidence for a molecular second opinion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2FE8A9-BD90-4E1F-90BF-D0D117623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373CF9-2422-4D87-A9A7-B59E1AC4A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2609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Banff guidance</a:t>
            </a:r>
          </a:p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A3A6C8-3903-482B-A9AD-5B5A29AFA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533525"/>
            <a:ext cx="81057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Considers validated molecular tests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for difficult biopsy interpretations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0DC286-294A-4672-B4AD-B9FABB78E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7172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C3D0AC-14D3-4241-BDA2-BBCB6B94F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260985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B-HOT study</a:t>
            </a:r>
          </a:p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Rosales, 2022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8BEF84-BD2B-4BC6-9457-00DA6D65E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66975"/>
            <a:ext cx="81057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Higher initial molecular scores in patients who later</a:t>
            </a:r>
          </a:p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developed chronic active antibody-mediated rejection,</a:t>
            </a:r>
          </a:p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despite no initial diagnosis of 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744DF8-207F-470E-ADE1-3DA2E822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F62DAC-0CBC-4F70-9E62-47099600B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26098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Why incorrect</a:t>
            </a:r>
          </a:p>
          <a:p xmlns:a="http://schemas.openxmlformats.org/drawingml/2006/main">
            <a:pPr algn="l">
              <a:defRPr sz="21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rejection calls matter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4DFFAD-6D80-4EB1-99B7-CAE3A958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81425"/>
            <a:ext cx="810577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Unnecessary rejection treatment can weaken the body’s</a:t>
            </a:r>
          </a:p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defenses and worsen an infection.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80C7EF-C3A4-402B-BD38-986D14FD5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829175"/>
            <a:ext cx="81057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KDIGO (2009); BK polyomavirus consensus (2024)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7CD255-18FB-4FC1-A4BA-9C0887913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This personal project measured agreement with recorded diagnoses.</a:t>
            </a:r>
          </a:p>
          <a:p xmlns:a="http://schemas.openxmlformats.org/drawingml/2006/main">
            <a:pPr algn="l">
              <a:defRPr sz="225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Its value in ambiguous biopsies needs direct evaluation.</a:t>
            </a:r>
          </a:p>
        </p:txBody>
      </p:sp>
    </p:spTree>
    <p:extLst>
      <p:ext uri="{BB962C8B-B14F-4D97-AF65-F5344CB8AC3E}">
        <p14:creationId xmlns:p14="http://schemas.microsoft.com/office/powerpoint/2010/main" val="117612578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020F42-CA4F-4C80-9CD9-5C17F1549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What the dataset contains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12527E-44E2-46BC-A3A1-DA74D4AE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Zhang et al. (2024), Methods and Tables 5–6; project data reader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1CB861-51AE-4DB7-8D00-D3F00D344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C9A224-1053-40AD-88B0-B38F9A77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1,395 biopsy specimens, with one row per specimen in each 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1A3DEB-4856-47BF-9049-960109DAF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7815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502894-20EC-4D60-ACBA-60CFA7585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43150"/>
            <a:ext cx="4762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Specimen information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609600" y="2990850"/>
          <a:ext xmlns:a="http://schemas.openxmlformats.org/drawingml/2006/main" cx="478155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2257425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GUSB (reference)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260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RNA counts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"/>
          <p:cNvGraphicFramePr/>
          <p:nvPr/>
        </p:nvGraphicFramePr>
        <p:xfrm>
          <a:off xmlns:a="http://schemas.openxmlformats.org/drawingml/2006/main" x="6819900" y="2990850"/>
          <a:ext xmlns:a="http://schemas.openxmlformats.org/drawingml/2006/main" cx="476250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2190750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Study group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Discovery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details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9E0FD5-63C0-4943-9912-77912EEBC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76650"/>
            <a:ext cx="142875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52656B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3ADC4E-77D7-4A5D-BB5D-082F7172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2766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 :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2BF0E6-A517-4F65-9708-7FC99A63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752850"/>
            <a:ext cx="1276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29C400-9CC7-456B-82E0-E00A97042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800"/>
              </a:spcAft>
              <a:buChar char="•"/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Includes 1,193 transplant biopsies and 202 native-kidney controls.</a:t>
            </a:r>
          </a:p>
          <a:p xmlns:a="http://schemas.openxmlformats.org/drawingml/2006/main">
            <a:pPr marL="279400" indent="-152400" algn="l">
              <a:spcAft>
                <a:spcPts val="800"/>
              </a:spcAft>
              <a:buChar char="•"/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study does not document separation by patient or referring center between study groups.</a:t>
            </a:r>
          </a:p>
        </p:txBody>
      </p:sp>
    </p:spTree>
    <p:extLst>
      <p:ext uri="{BB962C8B-B14F-4D97-AF65-F5344CB8AC3E}">
        <p14:creationId xmlns:p14="http://schemas.microsoft.com/office/powerpoint/2010/main" val="42069007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8B7970-AFAD-4D1C-8D06-7F49E914F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Outcome: rejection versus no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F07E5A-E1E3-4D05-80F7-8B368DBD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Tables 5–6 and Discussion, p. 11; project diagnosis mapping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B73AE0-FFDE-4B90-A3E1-A9618AA2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AEE746-4D0F-4A52-93C2-E714549EE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The model combines the three rejection categories in the public dataset.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2428875"/>
          <a:ext xmlns:a="http://schemas.openxmlformats.org/drawingml/2006/main" cx="109728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876675"/>
                <a:gridCol w="24765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label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Antibody-mediated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Antibodies: immune proteins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T-cell-mediated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 cells: immune cells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Mixed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Both rejection processes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recorded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44E03C-C08C-4D4E-BD78-A6468A52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The authors excluded some diagnostic categories from the dataset.</a:t>
            </a:r>
          </a:p>
        </p:txBody>
      </p:sp>
    </p:spTree>
    <p:extLst>
      <p:ext uri="{BB962C8B-B14F-4D97-AF65-F5344CB8AC3E}">
        <p14:creationId xmlns:p14="http://schemas.microsoft.com/office/powerpoint/2010/main" val="14346483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22231C-C958-4D64-80F8-7F63D978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measurements used to build the features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F2925D-1143-45DB-94F1-3F4AF56F6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B-HOT panel consensus (2020); project data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874B93-CCC5-4C56-81F4-454E8A709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07FF61-6211-4750-A9ED-8346E49E5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770 RNA counts per specimen, one for each RNA type measured.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28D108-5306-49A5-B16E-F45D4A43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095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758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75DA7B-6CA3-4B62-BEA3-BDC08EED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50958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measurements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5F36B8-D646-40DE-B168-B0630C798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5143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Include human and viral RNA.</a:t>
            </a:r>
          </a:p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Signals depend on gene activity and the cell mixture.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64515F-62FD-4055-AECD-ECCB87DE5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714625"/>
            <a:ext cx="50387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C3049B-DC8A-438B-B0C2-F6F43AF2F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514725"/>
            <a:ext cx="50387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Housekeeping references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DA88FA-124F-416B-8F86-59B0303C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095750"/>
            <a:ext cx="503872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12 different reference RNAs.</a:t>
            </a:r>
          </a:p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Used to adjust for differences in how much RNA each specimen supplies.</a:t>
            </a:r>
          </a:p>
        </p:txBody>
      </p:sp>
    </p:spTree>
    <p:extLst>
      <p:ext uri="{BB962C8B-B14F-4D97-AF65-F5344CB8AC3E}">
        <p14:creationId xmlns:p14="http://schemas.microsoft.com/office/powerpoint/2010/main" val="18690261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83DE41-3A9C-4BE1-AD00-B8A113D8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Preparing counts for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FA5CF4-8E98-4162-9E6B-9FEC54B8B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shared preprocessing; public specimen GSM6510425. Values rounded for display.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239E75-3533-4080-AAA5-A3F6C72D8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743075"/>
          <a:ext xmlns:a="http://schemas.openxmlformats.org/drawingml/2006/main" cx="10972800" cy="3171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677150"/>
                <a:gridCol w="3295650"/>
              </a:tblGrid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For each of the 758 RNA counts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IFNG example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1. Start with the raw count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 Calculate log₂(count + 1)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3. Average log₂(count + 1) for the 12 reference RNAs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7.900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4. Subtract that reference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2.322 − 7.900 = −5.578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31050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AE2A46-412E-4DF4-95BD-FB1B7D0D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Development and evaluation specimens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E1DF07-998E-4A0A-9473-874BA019A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Methods; saved project split, seed 20260915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8ECCE5-885A-4434-98BF-FFF5139C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3F93CA-E462-40BC-8267-F2885B1D5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 used the authors’ two study groups: discovery and validation cohorts.</a:t>
            </a:r>
          </a:p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My training / screening split kept diagnosis proportions similar.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ED884B-C8E5-4A34-99E4-0B2E9FAFC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665797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Discovery Cohort</a:t>
            </a:r>
          </a:p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1,050 specimens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585DF6-D350-4118-8D35-D660AF708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30099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Training: 787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Fit the models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40F3AD-77AB-49B5-A490-98E0C828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724400"/>
            <a:ext cx="31718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263</a:t>
            </a:r>
          </a:p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Choose model and threshold</a:t>
            </a:r>
          </a:p>
        </p:txBody>
      </p:sp>
      <p:cxnSp>
        <p:nvCxnSpPr>
          <p:cNvPr id="18" name=""/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2114550" y="4048125"/>
            <a:ext cx="1824038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19" name=""/>
          <p:cNvCxnSpPr>
            <a:stCxn xmlns:a="http://schemas.openxmlformats.org/drawingml/2006/main" id="5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3938588" y="4048125"/>
            <a:ext cx="1743075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5570F7-854D-4319-881C-339063964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67050"/>
            <a:ext cx="37719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43E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Validation Cohort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345 specimens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Evaluate the selected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 and threshold</a:t>
            </a:r>
          </a:p>
        </p:txBody>
      </p:sp>
    </p:spTree>
    <p:extLst>
      <p:ext uri="{BB962C8B-B14F-4D97-AF65-F5344CB8AC3E}">
        <p14:creationId xmlns:p14="http://schemas.microsoft.com/office/powerpoint/2010/main" val="20399689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411EA0-D2F9-412E-9833-E99D3391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Models compared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57D59F-4801-480E-A688-053C354DB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primary configuration and analysis, 15 Sep 2026; Zhang et al., Supplementary Table S2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DE3C64-7DF6-43AD-8BDB-874565D1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9DA401-62DC-48B2-AFF8-4DE1874E1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Each model produces a score for rejection versus no rejection.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419350"/>
          <a:ext xmlns:a="http://schemas.openxmlformats.org/drawingml/2006/main" cx="10972800" cy="3543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71850"/>
                <a:gridCol w="7600950"/>
              </a:tblGrid>
              <a:tr h="5048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it learns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5810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Constant baseline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score: the training rejection fraction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 only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(Logistic regression)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immune-related RNA measurement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as a simple benchmark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10477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All RNA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(Logistic Regression)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weighted combination of 758 measurements.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Regularization limits the size of the weights.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combination of decision trees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243331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498CF6-9274-4372-AE63-643A82C9E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Choosing a rejection threshold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636659-2E75-49D9-911E-068D2D249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discovery screening rule and selected model metadata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B49FF9-FB97-416B-847D-F3DD8F2AE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22552C-5868-49B4-B32A-BA1F70A6E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90675"/>
            <a:ext cx="5181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B5573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A8B872-A5CE-430F-A094-062BF79D9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24075"/>
            <a:ext cx="5181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Recorded rejection cases detected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067A76-5124-4307-9A23-48AF42B59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49530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16343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89BAFB-12BF-4CB7-8B82-B31C5BBE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5181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All recorded rejection cases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3C7CD0-66F8-4DD5-A8D8-5051CB430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5181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B55730"/>
                </a:solidFill>
                <a:latin typeface="Arial"/>
                <a:ea typeface="Arial"/>
                <a:cs typeface="Arial"/>
              </a:rPr>
              <a:t>(False negatives are missed cases.)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D31ADB-175D-4776-B85C-B8A7DEF34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590675"/>
            <a:ext cx="487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F0C857-B113-40EE-995A-C59457CFE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24075"/>
            <a:ext cx="4876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Flags with recorded rejection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65C612-6B34-4BAE-A4AE-1C14A831C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647950"/>
            <a:ext cx="46482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16343E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FFB15B-7FC6-4D76-9869-D8E71F4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05100"/>
            <a:ext cx="4876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All positive flags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60CD79-564F-4CD3-965D-9C60E9A7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57550"/>
            <a:ext cx="4876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(False positives are incorrect flags.)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45782E-2D5F-47BD-93E6-82F8FE83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Selection using screening specimens</a:t>
            </a:r>
          </a:p>
        </p:txBody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609600" y="4505325"/>
          <a:ext xmlns:a="http://schemas.openxmlformats.org/drawingml/2006/main" cx="10972800" cy="14382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66800"/>
                <a:gridCol w="9906000"/>
              </a:tblGrid>
              <a:tr h="3524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Step</a:t>
                      </a:r>
                    </a:p>
                  </a:txBody>
                  <a:tcPr marL="171450" marR="142875" marT="19050" marB="190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Rule</a:t>
                      </a:r>
                    </a:p>
                  </a:txBody>
                  <a:tcPr marL="171450" marR="142875" marT="19050" marB="19050" anchor="ctr">
                    <a:solidFill>
                      <a:srgbClr val="16343E"/>
                    </a:solidFill>
                  </a:tcPr>
                </a:tc>
              </a:tr>
              <a:tr h="361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Detect at least 90% of recorded rejection cases.*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71450" marR="142875" marT="19050" marB="190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Among qualifying choices, minimize false positives.</a:t>
                      </a:r>
                    </a:p>
                  </a:txBody>
                  <a:tcPr marL="171450" marR="142875" marT="19050" marB="19050" anchor="ctr">
                    <a:solidFill>
                      <a:srgbClr val="EDF3F0"/>
                    </a:solidFill>
                  </a:tcPr>
                </a:tc>
              </a:tr>
              <a:tr h="361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Keep the chosen model and threshold for evaluation.</a:t>
                      </a:r>
                    </a:p>
                  </a:txBody>
                  <a:tcPr marL="171450" marR="142875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7839D4-3B0F-4774-B32E-A582792A0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*90% is an experimental target.</a:t>
            </a:r>
          </a:p>
        </p:txBody>
      </p:sp>
    </p:spTree>
    <p:extLst>
      <p:ext uri="{BB962C8B-B14F-4D97-AF65-F5344CB8AC3E}">
        <p14:creationId xmlns:p14="http://schemas.microsoft.com/office/powerpoint/2010/main" val="95057146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7C2020-65C3-404A-B319-98CC7E425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Validation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E09F3A-C2AC-4947-8AA1-75A5DD7A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primary evaluation, 15 Sep 2026. Errors are against recorded diagnoses.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67FABD-94A5-420E-B0D5-A41B333B2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324EF9-4754-4993-87F2-515997408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345 specimens: 169 rejection and 176 no rejection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533400" y="1924050"/>
          <a:ext xmlns:a="http://schemas.openxmlformats.org/drawingml/2006/main" cx="11144250" cy="3114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78de3e59e194f4e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93D65C-6FF0-4069-B2B3-B096C4EF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1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Constant baseline: 0 false negatives, 176 false positives. It flags everyone.</a:t>
            </a:r>
          </a:p>
          <a:p xmlns:a="http://schemas.openxmlformats.org/drawingml/2006/main">
            <a:pPr marL="279400" indent="-152400" algn="l">
              <a:spcAft>
                <a:spcPts val="11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CatBoost versus IFNG: 67 fewer false positives, 11 more false negatives.</a:t>
            </a:r>
          </a:p>
        </p:txBody>
      </p:sp>
    </p:spTree>
    <p:extLst>
      <p:ext uri="{BB962C8B-B14F-4D97-AF65-F5344CB8AC3E}">
        <p14:creationId xmlns:p14="http://schemas.microsoft.com/office/powerpoint/2010/main" val="37931826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BD9815-A2BD-4F2D-85A6-11317521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Inspecting the analysis report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8B9450-C5BD-4001-8267-C15CBFD1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saved primary analysis, 15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63CF49-F7CB-479A-AC11-1719E84D7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5ABB64-82CF-44C1-BA44-0CDCCA9E9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811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Saved analysis for another analyst to inspect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6FB4DB-A381-4FEE-9103-94057349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109728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2500"/>
              </a:spcAft>
              <a:buChar char="•"/>
              <a:defRPr sz="26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Full model comparisons</a:t>
            </a:r>
          </a:p>
          <a:p xmlns:a="http://schemas.openxmlformats.org/drawingml/2006/main">
            <a:pPr marL="279400" indent="-152400" algn="l">
              <a:spcAft>
                <a:spcPts val="2500"/>
              </a:spcAft>
              <a:buChar char="•"/>
              <a:defRPr sz="26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Errors by recorded diagnosis</a:t>
            </a:r>
          </a:p>
          <a:p xmlns:a="http://schemas.openxmlformats.org/drawingml/2006/main">
            <a:pPr marL="279400" indent="-152400" algn="l">
              <a:spcAft>
                <a:spcPts val="2500"/>
              </a:spcAft>
              <a:buChar char="•"/>
              <a:defRPr sz="26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Score reliability and uncertainty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A4E4AF-298F-4588-896B-9AC8563B1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91150"/>
            <a:ext cx="1068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Live walkthrough of the preserved report</a:t>
            </a:r>
          </a:p>
        </p:txBody>
      </p:sp>
    </p:spTree>
    <p:extLst>
      <p:ext uri="{BB962C8B-B14F-4D97-AF65-F5344CB8AC3E}">
        <p14:creationId xmlns:p14="http://schemas.microsoft.com/office/powerpoint/2010/main" val="143489995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7F33DC-BCC4-4358-A7EF-19B55CC9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One public specimen through the service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163C54-13E3-4DC6-BCAC-4E0239671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public discovery-screen example and saved application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6633F6-E0F7-4D9B-B326-08B75E181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D82E7F-2E31-4A38-98DA-E7C4FE84E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20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GSM6510425: recorded no rejection.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2371725"/>
          <a:ext xmlns:a="http://schemas.openxmlformats.org/drawingml/2006/main" cx="10972800" cy="1314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95650"/>
                <a:gridCol w="3486150"/>
                <a:gridCol w="4191000"/>
              </a:tblGrid>
              <a:tr h="6572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score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Selected threshold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Rejection flag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572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0.274934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0.876588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3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False (below cutoff)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A06AE4-4C41-4242-A77F-6B007871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Model: 20260915_shared:any_rejection:catboost_all_depth4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86B201-7C41-4C55-B0A2-67C4B8180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109728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complete input produces a flag that agrees with the recorded diagnosis.</a:t>
            </a:r>
          </a:p>
          <a:p xmlns:a="http://schemas.openxmlformats.org/drawingml/2006/main">
            <a:pPr marL="279400" indent="-152400" algn="l">
              <a:spcAft>
                <a:spcPts val="1800"/>
              </a:spcAft>
              <a:buChar char="•"/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Removing IFNG clears the previous result and returns no new score.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FA4853-1F73-438E-88A6-09CD41F82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38800"/>
            <a:ext cx="10687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“Missing required assay targets: IFNG”</a:t>
            </a:r>
          </a:p>
        </p:txBody>
      </p:sp>
    </p:spTree>
    <p:extLst>
      <p:ext uri="{BB962C8B-B14F-4D97-AF65-F5344CB8AC3E}">
        <p14:creationId xmlns:p14="http://schemas.microsoft.com/office/powerpoint/2010/main" val="111039616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AF68E0-E6E3-4F4A-A435-AE1C8A535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Shared preparation and scoring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D599D1-CC75-4F3F-9AFA-79E234996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prediction.py, Predictor.predict; shared preprocessing; training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5402B2-643C-4F11-88C5-E4083B3AC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7E36D8-C66A-4693-994B-025C9B062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analysis and application use the same preparation code.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530D30-C09F-48AF-B803-EFEAF4CC8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3143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Raw RNA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6E9E75-27A8-4B2A-AF94-FA831AC34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400300"/>
            <a:ext cx="31813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Check and normalize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4D188B-F46A-4E06-8152-B7B6542A2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00300"/>
            <a:ext cx="3143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16343E"/>
                </a:solidFill>
                <a:latin typeface="Arial"/>
                <a:ea typeface="Arial"/>
                <a:cs typeface="Arial"/>
              </a:rPr>
              <a:t>Saved model and threshold</a:t>
            </a:r>
          </a:p>
        </p:txBody>
      </p:sp>
      <p:cxnSp>
        <p:nvCxnSpPr>
          <p:cNvPr id="2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2771775"/>
            <a:ext cx="7524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2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686675" y="2771775"/>
            <a:ext cx="7524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DD2950-BFD8-42DF-A3F9-6BCE675C3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Application entry point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4BD47A-54F3-4C51-9833-C7E60630D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728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6343E"/>
                </a:solidFill>
                <a:latin typeface="Consolas"/>
                <a:ea typeface="Consolas"/>
                <a:cs typeface="Consolas"/>
              </a:rPr>
              <a:t>def predict(self, counts: pd.DataFrame) -&gt; pd.DataFrame:</a:t>
            </a:r>
          </a:p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6343E"/>
                </a:solidFill>
                <a:latin typeface="Consolas"/>
                <a:ea typeface="Consolas"/>
                <a:cs typeface="Consolas"/>
              </a:rPr>
              <a:t>    """Validate an entire raw batch before returning any specimen results."""</a:t>
            </a:r>
          </a:p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6343E"/>
                </a:solidFill>
                <a:latin typeface="Consolas"/>
                <a:ea typeface="Consolas"/>
                <a:cs typeface="Consolas"/>
              </a:rPr>
              <a:t>    normalized = normalize_counts(counts, self.schema)</a:t>
            </a:r>
          </a:p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6343E"/>
                </a:solidFill>
                <a:latin typeface="Consolas"/>
                <a:ea typeface="Consolas"/>
                <a:cs typeface="Consolas"/>
              </a:rPr>
              <a:t>    return self.predict_normalized(normalized)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BC9DD0-713F-4BC5-8820-5C72EFAE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web page and command line both use this prediction path.</a:t>
            </a:r>
          </a:p>
        </p:txBody>
      </p:sp>
    </p:spTree>
    <p:extLst>
      <p:ext uri="{BB962C8B-B14F-4D97-AF65-F5344CB8AC3E}">
        <p14:creationId xmlns:p14="http://schemas.microsoft.com/office/powerpoint/2010/main" val="134714894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1C68C9-E244-4495-BCDF-B4152679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An interface other software can call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B22C30-C2FA-47F2-8114-E8B0EB8F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implemented POST /predict contract and public demonstration response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2A56FC-BB9A-428C-8A77-006E7504A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A4147D-77D8-45B4-AB07-B9E5FCA73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API: a documented way for software to send data and receive results.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5B0AD1-EBC7-4B68-BBBF-A0B6FC20A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4171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CSV</a:t>
            </a:r>
          </a:p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Specimen ID + 770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2405E-EC2A-40AC-87BE-5A02AB8F4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638425"/>
            <a:ext cx="25908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POST /predict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FA6E88-36D2-41FE-9C66-2EFCD498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524125"/>
            <a:ext cx="238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6343E"/>
                </a:solidFill>
                <a:latin typeface="Arial"/>
                <a:ea typeface="Arial"/>
                <a:cs typeface="Arial"/>
              </a:rPr>
              <a:t>JSON</a:t>
            </a:r>
          </a:p>
          <a:p xmlns:a="http://schemas.openxmlformats.org/drawingml/2006/main">
            <a:pPr algn="ctr">
              <a:defRPr sz="20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6343E"/>
                </a:solidFill>
                <a:latin typeface="Arial"/>
                <a:ea typeface="Arial"/>
                <a:cs typeface="Arial"/>
              </a:rPr>
              <a:t>Prediction results</a:t>
            </a:r>
          </a:p>
        </p:txBody>
      </p:sp>
      <p:cxnSp>
        <p:nvCxnSpPr>
          <p:cNvPr id="2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781550" y="3057525"/>
            <a:ext cx="9144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2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8286750" y="3057525"/>
            <a:ext cx="9144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5D2A93-810E-4766-8B66-B6C1C621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Each result identifies the calculation</a:t>
            </a:r>
          </a:p>
        </p:txBody>
      </p:sp>
      <p:graphicFrame>
        <p:nvGraphicFramePr>
          <p:cNvPr id="23" name=""/>
          <p:cNvGraphicFramePr/>
          <p:nvPr/>
        </p:nvGraphicFramePr>
        <p:xfrm>
          <a:off xmlns:a="http://schemas.openxmlformats.org/drawingml/2006/main" x="609600" y="4638675"/>
          <a:ext xmlns:a="http://schemas.openxmlformats.org/drawingml/2006/main" cx="10972800" cy="10572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43300"/>
                <a:gridCol w="2381250"/>
                <a:gridCol w="2667000"/>
                <a:gridCol w="2381250"/>
              </a:tblGrid>
              <a:tr h="5238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Specimen</a:t>
                      </a:r>
                    </a:p>
                  </a:txBody>
                  <a:tcPr marL="171450" marR="142875" marT="66675" marB="666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Score</a:t>
                      </a:r>
                    </a:p>
                  </a:txBody>
                  <a:tcPr marL="171450" marR="142875" marT="66675" marB="666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Threshold</a:t>
                      </a:r>
                    </a:p>
                  </a:txBody>
                  <a:tcPr marL="171450" marR="142875" marT="66675" marB="666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Flag</a:t>
                      </a:r>
                    </a:p>
                  </a:txBody>
                  <a:tcPr marL="171450" marR="142875" marT="66675" marB="66675" anchor="ctr">
                    <a:solidFill>
                      <a:srgbClr val="16343E"/>
                    </a:solidFill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0.274934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0.876588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False</a:t>
                      </a:r>
                    </a:p>
                  </a:txBody>
                  <a:tcPr marL="171450" marR="142875" marT="66675" marB="666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097816-3EE1-4FAA-915E-3669D677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Each result includes versions for the model and expected input format.</a:t>
            </a:r>
          </a:p>
        </p:txBody>
      </p:sp>
    </p:spTree>
    <p:extLst>
      <p:ext uri="{BB962C8B-B14F-4D97-AF65-F5344CB8AC3E}">
        <p14:creationId xmlns:p14="http://schemas.microsoft.com/office/powerpoint/2010/main" val="190961658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B8D7A7-1D0D-4203-B2FB-1591A46A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Checking the application against the analysis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800F54-F9AC-4AFF-A9D7-A4D6F4783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real HTTP verification and application tests, 17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7A001B-7EAA-4FF9-ABC4-3E0768AD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830748-1543-4920-8080-B5B3AE62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All 345 validation specimens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169BE2-1BAE-4A4A-A113-4AAF7DD9B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Saved results, command line and HTTP service had matching flags.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Scores agreed within 10⁻¹², including reordered measurement columns.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11DABD-28D5-40D0-9659-E96BACC96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Example check: HTTP scores versus command-line scores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BA8F84-76E1-43F1-BA85-3D58BEF9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109728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6343E"/>
                </a:solidFill>
                <a:latin typeface="Consolas"/>
                <a:ea typeface="Consolas"/>
                <a:cs typeface="Consolas"/>
              </a:rPr>
              <a:t>np.testing.assert_allclose(</a:t>
            </a:r>
          </a:p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6343E"/>
                </a:solidFill>
                <a:latin typeface="Consolas"/>
                <a:ea typeface="Consolas"/>
                <a:cs typeface="Consolas"/>
              </a:rPr>
              <a:t>    actual.rejection_score, cli.rejection_score, rtol=0, atol=1e-12</a:t>
            </a:r>
          </a:p>
          <a:p xmlns:a="http://schemas.openxmlformats.org/drawingml/2006/main">
            <a:pPr algn="l">
              <a:defRPr sz="1800" b="0">
                <a:solidFill>
                  <a:srgbClr val="1634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6343E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09600" y="4495800"/>
          <a:ext xmlns:a="http://schemas.openxmlformats.org/drawingml/2006/main" cx="10972800" cy="15335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000750"/>
                <a:gridCol w="4972050"/>
              </a:tblGrid>
              <a:tr h="4857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Failure checked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Expected response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5238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Missing or duplicate measurements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scores for the batch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Incompatible model metadata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5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Model does not load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734182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5C5F18-B138-4F44-BD0E-987015143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Running and maintaining the application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7E3E6D-EAB9-4D2B-9EF0-A5E0AFD5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setup guide, automated-check workflow and dated verification records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8FB847-AC51-4432-9178-7BFAAD5A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743075"/>
          <a:ext xmlns:a="http://schemas.openxmlformats.org/drawingml/2006/main" cx="10972800" cy="3124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591175"/>
                <a:gridCol w="5381625"/>
              </a:tblGrid>
              <a:tr h="5524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another developer receives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Why it helps</a:t>
                      </a:r>
                    </a:p>
                  </a:txBody>
                  <a:tcPr marL="171450" marR="142875" marT="76200" marB="76200" anchor="ctr">
                    <a:solidFill>
                      <a:srgbClr val="16343E"/>
                    </a:solidFill>
                  </a:tcPr>
                </a:tc>
              </a:tr>
              <a:tr h="8572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Locked environment and run instructions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Install the recorded dependencies and start the service.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Automated checks on code changes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Catch changes that break scoring or input handling.</a:t>
                      </a:r>
                    </a:p>
                  </a:txBody>
                  <a:tcPr marL="171450" marR="142875" marT="76200" marB="76200" anchor="ctr">
                    <a:solidFill>
                      <a:srgbClr val="EDF3F0"/>
                    </a:solidFill>
                  </a:tcPr>
                </a:tc>
              </a:tr>
              <a:tr h="8572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Tested local container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Run the packaged application with its saved model.</a:t>
                      </a:r>
                    </a:p>
                  </a:txBody>
                  <a:tcPr marL="171450" marR="142875" marT="76200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945520-1844-47EC-8506-A151AB08C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Hosted checks passed for an earlier revision.</a:t>
            </a:r>
          </a:p>
          <a:p xmlns:a="http://schemas.openxmlformats.org/drawingml/2006/main">
            <a:pPr algn="l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current application and research container were checked locally.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937F8F-969C-4CDE-B20C-08D780426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Cloud deployment remains future work.</a:t>
            </a:r>
          </a:p>
        </p:txBody>
      </p:sp>
    </p:spTree>
    <p:extLst>
      <p:ext uri="{BB962C8B-B14F-4D97-AF65-F5344CB8AC3E}">
        <p14:creationId xmlns:p14="http://schemas.microsoft.com/office/powerpoint/2010/main" val="112694366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BACF9F-F502-4784-8D32-C34BD65C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this project accomplished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CC311E-E987-4FC7-B90B-8A7878354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Public data: Zhang et al. (2024), GSE212160. Development and presentation used AI assistance.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48ED80-4861-4822-871C-0EFC6D32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06DE64-69F7-4D1A-BDC6-F746E8A0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reproducible model comparison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AC9A13-66E2-4C49-855F-8E1E1667B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71725"/>
            <a:ext cx="109728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Combined measurements reduced false flags, with a tradeoff in missed cases.</a:t>
            </a:r>
          </a:p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practical advantage over logistic regression remains uncertain.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8F79EC-79C4-4ECE-9358-6341A59C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78949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9FC106-78F0-4F7D-831A-6E150C7D4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Working software that preserves the calculation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2D1F09-0FD2-4716-9934-C5D20FFAC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versioned score, clear input errors and checks against the saved results.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568D7B-E69F-458F-91FD-1D8EF176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Added value for uncertain biopsies still needs direct evaluation.</a:t>
            </a:r>
          </a:p>
        </p:txBody>
      </p:sp>
    </p:spTree>
    <p:extLst>
      <p:ext uri="{BB962C8B-B14F-4D97-AF65-F5344CB8AC3E}">
        <p14:creationId xmlns:p14="http://schemas.microsoft.com/office/powerpoint/2010/main" val="11491453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2026-09-21T18:37:02.2970000Z</dcterms:created>
  <dcterms:modified xsi:type="dcterms:W3CDTF">2026-09-21T18:37:02.2970000Z</dcterms:modified>
</coreProperties>
</file>