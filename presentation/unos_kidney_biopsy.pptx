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0ad215b7a157489c" /><Relationship Type="http://schemas.openxmlformats.org/officeDocument/2006/relationships/extended-properties" Target="/docProps/app.xml" Id="Ra4f2fc8411ee46eb" /><Relationship Type="http://schemas.openxmlformats.org/officeDocument/2006/relationships/officeDocument" Target="/ppt/presentation.xml" Id="R0564273792254938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66096a0ca224ace"/>
  </p:sldMasterIdLst>
  <p:sldIdLst>
    <p:sldId id="256" r:id="R929541006fc24323"/>
    <p:sldId id="257" r:id="R2308b4464e3c4e1a"/>
    <p:sldId id="258" r:id="R201bcbad29c846be"/>
    <p:sldId id="259" r:id="R1bb58af00cbd417d"/>
    <p:sldId id="260" r:id="Rd9d67569632d49d9"/>
    <p:sldId id="261" r:id="Rcc4d16d8b1c2481c"/>
    <p:sldId id="262" r:id="Ra8f975ce5fa1491e"/>
    <p:sldId id="263" r:id="R6d4dc4deb0b64c6a"/>
    <p:sldId id="264" r:id="Rb6d568d672f34e11"/>
    <p:sldId id="265" r:id="R1cf8861be31d4378"/>
    <p:sldId id="266" r:id="R97a7dbaedb524ab1"/>
    <p:sldId id="267" r:id="R362554e70bdc4c83"/>
    <p:sldId id="268" r:id="R960bdb4507324ca4"/>
    <p:sldId id="269" r:id="R5e88523445fb41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21b78f833cdb43d7" /><Relationship Type="http://schemas.openxmlformats.org/officeDocument/2006/relationships/slideMaster" Target="/ppt/slideMasters/slideMaster1.xml" Id="Rf66096a0ca224ace" /><Relationship Type="http://schemas.openxmlformats.org/officeDocument/2006/relationships/presProps" Target="/ppt/presProps.xml" Id="R852bc51d3b96486c" /><Relationship Type="http://schemas.openxmlformats.org/officeDocument/2006/relationships/tableStyles" Target="/ppt/tableStyles.xml" Id="Rb0137c52eff742ab" /><Relationship Type="http://schemas.openxmlformats.org/officeDocument/2006/relationships/slide" Target="/ppt/slides/slide1.xml" Id="R929541006fc24323" /><Relationship Type="http://schemas.openxmlformats.org/officeDocument/2006/relationships/slide" Target="/ppt/slides/slide2.xml" Id="R2308b4464e3c4e1a" /><Relationship Type="http://schemas.openxmlformats.org/officeDocument/2006/relationships/slide" Target="/ppt/slides/slide3.xml" Id="R201bcbad29c846be" /><Relationship Type="http://schemas.openxmlformats.org/officeDocument/2006/relationships/slide" Target="/ppt/slides/slide4.xml" Id="R1bb58af00cbd417d" /><Relationship Type="http://schemas.openxmlformats.org/officeDocument/2006/relationships/slide" Target="/ppt/slides/slide5.xml" Id="Rd9d67569632d49d9" /><Relationship Type="http://schemas.openxmlformats.org/officeDocument/2006/relationships/slide" Target="/ppt/slides/slide6.xml" Id="Rcc4d16d8b1c2481c" /><Relationship Type="http://schemas.openxmlformats.org/officeDocument/2006/relationships/slide" Target="/ppt/slides/slide7.xml" Id="Ra8f975ce5fa1491e" /><Relationship Type="http://schemas.openxmlformats.org/officeDocument/2006/relationships/slide" Target="/ppt/slides/slide8.xml" Id="R6d4dc4deb0b64c6a" /><Relationship Type="http://schemas.openxmlformats.org/officeDocument/2006/relationships/slide" Target="/ppt/slides/slide9.xml" Id="Rb6d568d672f34e11" /><Relationship Type="http://schemas.openxmlformats.org/officeDocument/2006/relationships/slide" Target="/ppt/slides/slide10.xml" Id="R1cf8861be31d4378" /><Relationship Type="http://schemas.openxmlformats.org/officeDocument/2006/relationships/slide" Target="/ppt/slides/slide11.xml" Id="R97a7dbaedb524ab1" /><Relationship Type="http://schemas.openxmlformats.org/officeDocument/2006/relationships/slide" Target="/ppt/slides/slide12.xml" Id="R362554e70bdc4c83" /><Relationship Type="http://schemas.openxmlformats.org/officeDocument/2006/relationships/slide" Target="/ppt/slides/slide13.xml" Id="R960bdb4507324ca4" /><Relationship Type="http://schemas.openxmlformats.org/officeDocument/2006/relationships/slide" Target="/ppt/slides/slide14.xml" Id="R5e88523445fb41fb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8325f425e4343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f7b5daf37330475d" /><Relationship Type="http://schemas.openxmlformats.org/officeDocument/2006/relationships/slideLayout" Target="/ppt/slideLayouts/slideLayout1.xml" Id="Rcd76588cdc9b47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76588cdc9b47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97869e96e94db6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abfbcef1b1469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b07cda5efe34161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37fea6fbe14b11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18171c0f6de44d8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031802408ae4a45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af81f14441f4e30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464d81684804b10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37504d6ccf242dd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13ba88d6a1040ff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07cde33faf541ae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fc60db12d354dda" /><Relationship Type="http://schemas.openxmlformats.org/officeDocument/2006/relationships/chart" Target="/ppt/slides/charts/chart1.xml" Id="R3da263465cde4fcb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f6ef2c44c5a498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70c51136781444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cases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Incorrect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BBD3D-FF57-4B8D-B446-1D3FCF66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242733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7D6D15-6760-4258-B568-E5D44FFC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74DD0-31A8-4B4A-90CC-9C4CEEB4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CAD31-B16F-4E7B-A383-1369A18B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1218D-E9EB-4B22-BE44-3B682E99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9F45F-48A1-4696-B7A4-97DC2961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01502-21B5-4E84-B84F-DFB54570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A microscopic examination that reveals injury and inflammation, which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41AA78-848E-4EDD-875A-99A399A8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that reflect gene activity in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5766483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34B30-F0D9-4634-99E9-5D41D0BC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2FD7A-7429-46F5-8A5C-F8389A40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rationale: Zhang et al. (2024), Discussion, p. 13; KDIGO (2009).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46C47-60FF-4427-8686-BE473789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C1414-65CA-47D9-A074-6BB7E4BD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Whether rejection is present can affect decisions about further treatment to suppress the immune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CC472-940E-4CE8-B89C-7C3954F7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E228C-BE5E-4BDD-BD93-6BBACDF8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do logistic regression and CatBoost compare in classifying any recorded rejection versus no rejection from B-HOT biopsy RNA, particularly in missed cases and incorrect flags?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21BE2-29CC-4A5A-9CDA-B64A5221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EE26C-CD1C-4939-BF39-5001777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Make preprocessing, training and evaluation reproducible. Build a tested scoring service and prototype application that let a user submit a specimen’s RNA counts and inspect its model score, threshold and rejection flag.</a:t>
            </a:r>
          </a:p>
        </p:txBody>
      </p:sp>
    </p:spTree>
    <p:extLst>
      <p:ext uri="{BB962C8B-B14F-4D97-AF65-F5344CB8AC3E}">
        <p14:creationId xmlns:p14="http://schemas.microsoft.com/office/powerpoint/2010/main" val="1969791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A8BD4-567E-42E6-8B21-0CCAEA12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745EA-253C-422C-97CB-B7815CA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(2009), recommendation 6.1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5F84BD-7FF1-4705-8C4D-02D9BF77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FA940-A8DE-4AC7-BB31-725533C9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0EE56-988B-4564-884E-DBC4AB7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314FF-6E04-417B-B2B9-9DBE59EA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F0B82-946A-4EE2-AE29-C0DCE4AD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F2441-A8B9-4EC8-A6D9-5FD1406C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16587-C6EC-49F3-9637-80C59F73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C1D718-297A-4983-857E-1F06CBED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and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42D15-2713-4648-B87C-EB6D27CC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7200"/>
            <a:ext cx="81057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KDIGO recommends biopsy before treating acute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unless waiting would substantially delay treatment.</a:t>
            </a:r>
          </a:p>
        </p:txBody>
      </p:sp>
    </p:spTree>
    <p:extLst>
      <p:ext uri="{BB962C8B-B14F-4D97-AF65-F5344CB8AC3E}">
        <p14:creationId xmlns:p14="http://schemas.microsoft.com/office/powerpoint/2010/main" val="16050688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EEA99-7895-493F-82FF-602E7F1D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8F077-CB97-4C17-AC00-7D575BB4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199D6-06F7-455C-8D60-19022D34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6BE25-2195-4D2D-BC20-96E59029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2C263-4C1E-4FAF-8065-852797ED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1355A-654B-41DA-8F42-A46D1EFB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C2C4E-09BE-4CF7-BD35-F4423CCC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69A82-3E21-4090-B39A-C00992A0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F6F7B-55CA-4EA2-AB82-C8C924E7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B9634-0DAC-4D08-AA89-A2FD0E6B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2366021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C7029-DBD2-4BD1-8F4E-DAFB09B0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AF794-AF5D-4C8D-A9FF-9BDFDC5A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1DA19-0206-4445-BAAF-AF64750E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43C6D-ACF7-43F6-AC3A-7E789F52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8D265-FF69-4251-8FAC-327D6132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12341908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BFF8C-0834-42BA-B300-F390843B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BC085-BA2A-4D9D-BA07-47E350E5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C0861-B6EF-4E1C-A108-AD67D84D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DFDBA-3564-4A63-8C00-1DE1BFCB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C30C9-716D-477C-A244-18084488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69EE8-F983-4063-AAF0-7A665141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F714A9-1B3D-401C-944A-BCD5940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71F6C-10AA-4653-9B64-16799E84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4AF80-47EB-493E-9C43-CD8A5373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F9274-2889-4216-8431-552A365E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957838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EDA1E-EDDF-4B16-AFEA-5EF77DCE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28662-F24A-4C4E-AADC-51C1F7C3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98D4E-79A7-4E97-AE3F-8460403E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11006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EC34A-E9FC-40BA-8771-D6C8C48B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DA7C5-1BC6-4E16-8142-28AF8DAB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F541F2-F367-4B39-BB7F-A8FEBA11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7D227-A067-4EF1-80C9-203094F6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D17B2-0AE0-422F-A42E-1F25CD1E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9B962-E85B-458A-AE49-512F7450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FE899-28F4-4E79-A455-98A1CFFD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A4F0F-2865-4F53-A0D6-2212A1E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1158699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C60F0-700F-496D-B5D0-7547E524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C6AC6-3711-4140-8904-65256322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2B47F-7C60-4817-A669-58B76A36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29B63-058D-4FFC-A9D5-1FA344EB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38102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D68C6-2833-4DB1-B462-897A2BE8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F4A08-A164-43E6-8B99-D21CD762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0C6A7-CD7E-42BC-BF01-62B4378E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48FED-F5B9-4605-98F2-79EE34D3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2DCED-540A-419B-BBD8-AC692D72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B7043-CB28-41FB-9141-3CD9A78C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19CC4-85F2-4171-9C01-2E0E413D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CD865-F750-42BE-8BD5-2A4531A2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0D82E-6D7F-4410-8838-2074C107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DA83C-CF3F-4B4F-8291-CC735229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13638-A0B0-4884-89FD-590D48A0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893A15-B7FB-40CC-96F3-76B73F5D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2FBDFE-CB11-4C35-BB07-DAF602A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5AB52-7F41-4F3B-B0B2-7649C9AB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F4FB92-EBB4-4360-B2AE-62A3E4D8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13129841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70DC5-5AC3-42F8-94DA-0F69DD8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6CC09-3819-4C5B-AA7F-9A6B23B5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0DF9D-BFD2-471B-82C8-6025FBE5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901F3-205B-4B68-9314-0B627065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a263465cde4fc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18D9F-C4D2-4F6A-BA72-08CAE5BA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4AF32-FB84-45A9-81B6-A3F6EB8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Incorrect flags / 176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F23125-7B6D-4A3C-B6B8-02D2D222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573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B7DB9-949F-4C2C-9FC5-8DAB905F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67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cases / 169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F4F92-D749-49EA-A271-7901241A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missed cases, 176 incorrect flags. It flags everyone.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E8306-34BF-41A0-B942-707D9A92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Follow-up screening selections across 20 discovery splits: CatBoost 13, logistic 7.</a:t>
            </a:r>
          </a:p>
        </p:txBody>
      </p:sp>
    </p:spTree>
    <p:extLst>
      <p:ext uri="{BB962C8B-B14F-4D97-AF65-F5344CB8AC3E}">
        <p14:creationId xmlns:p14="http://schemas.microsoft.com/office/powerpoint/2010/main" val="3057469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D9233-E711-4DE2-8D6F-88A260B1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AD4FA-32F8-4BE7-BD4E-25A7D74E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4FAC0-F59E-44AC-B20D-42FABB95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Reports, application and scoring service</a:t>
            </a:r>
          </a:p>
        </p:txBody>
      </p:sp>
    </p:spTree>
    <p:extLst>
      <p:ext uri="{BB962C8B-B14F-4D97-AF65-F5344CB8AC3E}">
        <p14:creationId xmlns:p14="http://schemas.microsoft.com/office/powerpoint/2010/main" val="3401058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FC8B9-3661-4B76-8396-F344D0CE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194F2-79B6-4474-A94F-50FCA779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6C3CB-CFAC-4452-90A8-AC00B62A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6F871-2BB1-44DD-A309-A77C3F85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7C6C6-B17A-42AC-8EEF-7718CE60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incorrect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7E826-C1D8-467D-9624-8D9E99E3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B7C18-567D-4EA2-AD49-3276E404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D35D5-3534-448A-97FE-BA5BCED6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Reproducible analysis and a tested scoring service,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a prototype application and checks against saved results.</a:t>
            </a:r>
          </a:p>
        </p:txBody>
      </p:sp>
    </p:spTree>
    <p:extLst>
      <p:ext uri="{BB962C8B-B14F-4D97-AF65-F5344CB8AC3E}">
        <p14:creationId xmlns:p14="http://schemas.microsoft.com/office/powerpoint/2010/main" val="405358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2026-09-23T08:52:02.3440000Z</dcterms:created>
  <dcterms:modified xsi:type="dcterms:W3CDTF">2026-09-23T08:52:02.3440000Z</dcterms:modified>
</coreProperties>
</file>