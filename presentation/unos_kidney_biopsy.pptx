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Default Extension="xlsx" ContentType="application/vnd.openxmlformats-officedocument.spreadsheetml.sheet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f4eb1aeace7c4b47" /><Relationship Type="http://schemas.openxmlformats.org/officeDocument/2006/relationships/extended-properties" Target="/docProps/app.xml" Id="Rf3787e5a546f41b3" /><Relationship Type="http://schemas.openxmlformats.org/officeDocument/2006/relationships/officeDocument" Target="/ppt/presentation.xml" Id="R21b6f6c161ef4fbe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223b3d1551fb458e"/>
  </p:sldMasterIdLst>
  <p:sldIdLst>
    <p:sldId id="256" r:id="R26b9c642ec2b44b0"/>
    <p:sldId id="257" r:id="R2df6f29c10d243d2"/>
    <p:sldId id="258" r:id="Rb88705bb3eed4fc4"/>
    <p:sldId id="259" r:id="R49555f813d4d43b7"/>
    <p:sldId id="260" r:id="Rdeb095eec77044ed"/>
    <p:sldId id="261" r:id="R8ed3e188531a49af"/>
    <p:sldId id="262" r:id="R604ebb13927242dc"/>
    <p:sldId id="263" r:id="Rb48c3bd1588c47dc"/>
    <p:sldId id="264" r:id="R531b9980dfb14724"/>
    <p:sldId id="265" r:id="R9e95bab0a2ba467f"/>
    <p:sldId id="266" r:id="Rf12f23cfa0a143af"/>
    <p:sldId id="267" r:id="Rfbfce958f36643df"/>
    <p:sldId id="268" r:id="R1e29edb8ef5e40f9"/>
    <p:sldId id="269" r:id="R7d1d62e4045b46e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bc0fa4e9844540dd" /><Relationship Type="http://schemas.openxmlformats.org/officeDocument/2006/relationships/slideMaster" Target="/ppt/slideMasters/slideMaster1.xml" Id="R223b3d1551fb458e" /><Relationship Type="http://schemas.openxmlformats.org/officeDocument/2006/relationships/presProps" Target="/ppt/presProps.xml" Id="R73e223f4893b4597" /><Relationship Type="http://schemas.openxmlformats.org/officeDocument/2006/relationships/tableStyles" Target="/ppt/tableStyles.xml" Id="Rf52aeb66f0884fca" /><Relationship Type="http://schemas.openxmlformats.org/officeDocument/2006/relationships/slide" Target="/ppt/slides/slide1.xml" Id="R26b9c642ec2b44b0" /><Relationship Type="http://schemas.openxmlformats.org/officeDocument/2006/relationships/slide" Target="/ppt/slides/slide2.xml" Id="R2df6f29c10d243d2" /><Relationship Type="http://schemas.openxmlformats.org/officeDocument/2006/relationships/slide" Target="/ppt/slides/slide3.xml" Id="Rb88705bb3eed4fc4" /><Relationship Type="http://schemas.openxmlformats.org/officeDocument/2006/relationships/slide" Target="/ppt/slides/slide4.xml" Id="R49555f813d4d43b7" /><Relationship Type="http://schemas.openxmlformats.org/officeDocument/2006/relationships/slide" Target="/ppt/slides/slide5.xml" Id="Rdeb095eec77044ed" /><Relationship Type="http://schemas.openxmlformats.org/officeDocument/2006/relationships/slide" Target="/ppt/slides/slide6.xml" Id="R8ed3e188531a49af" /><Relationship Type="http://schemas.openxmlformats.org/officeDocument/2006/relationships/slide" Target="/ppt/slides/slide7.xml" Id="R604ebb13927242dc" /><Relationship Type="http://schemas.openxmlformats.org/officeDocument/2006/relationships/slide" Target="/ppt/slides/slide8.xml" Id="Rb48c3bd1588c47dc" /><Relationship Type="http://schemas.openxmlformats.org/officeDocument/2006/relationships/slide" Target="/ppt/slides/slide9.xml" Id="R531b9980dfb14724" /><Relationship Type="http://schemas.openxmlformats.org/officeDocument/2006/relationships/slide" Target="/ppt/slides/slide10.xml" Id="R9e95bab0a2ba467f" /><Relationship Type="http://schemas.openxmlformats.org/officeDocument/2006/relationships/slide" Target="/ppt/slides/slide11.xml" Id="Rf12f23cfa0a143af" /><Relationship Type="http://schemas.openxmlformats.org/officeDocument/2006/relationships/slide" Target="/ppt/slides/slide12.xml" Id="Rfbfce958f36643df" /><Relationship Type="http://schemas.openxmlformats.org/officeDocument/2006/relationships/slide" Target="/ppt/slides/slide13.xml" Id="R1e29edb8ef5e40f9" /><Relationship Type="http://schemas.openxmlformats.org/officeDocument/2006/relationships/slide" Target="/ppt/slides/slide14.xml" Id="R7d1d62e4045b46ea" 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077709732a884ac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fa4081463d804335" /><Relationship Type="http://schemas.openxmlformats.org/officeDocument/2006/relationships/slideLayout" Target="/ppt/slideLayouts/slideLayout1.xml" Id="R3bc950443ebf492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c950443ebf49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94738542553f408b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dd301e4974164099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5414d7021804b38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43b4c2e31c64a7a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8b1d35328deb48ee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353401128a9646ba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14a0c0c0e2394d77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e97262b9a9b24671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cfa62682671147d7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c1dfe4390ab4d8f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6c1438e6bb3a427c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5e455b453dab4fe3" /><Relationship Type="http://schemas.openxmlformats.org/officeDocument/2006/relationships/chart" Target="/ppt/slides/charts/chart1.xml" Id="R0b156990f18546c2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f9e111bc01a9469f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1.xml" Id="Rafcc1cdf645044e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Missed cases / 169</c:v>
          </c:tx>
          <c:spPr>
            <a:solidFill xmlns:a="http://schemas.openxmlformats.org/drawingml/2006/main">
              <a:srgbClr val="B55730"/>
            </a:solidFill>
          </c:spPr>
          <c:cat>
            <c:strRef>
              <c:f>'Chart Data'!$A$2:$A$4</c:f>
              <c:strCache>
                <c:ptCount val="3"/>
                <c:pt idx="0">
                  <c:v>IFNG only (Logistic regression)</c:v>
                </c:pt>
                <c:pt idx="1">
                  <c:v>All RNA 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14</c:v>
                </c:pt>
                <c:pt idx="1">
                  <c:v>33</c:v>
                </c:pt>
                <c:pt idx="2">
                  <c:v>25</c:v>
                </c:pt>
              </c:numCache>
            </c:numRef>
          </c:val>
        </c:ser>
        <c:ser>
          <c:idx val="1"/>
          <c:order val="1"/>
          <c:tx>
            <c:v>Incorrect flags / 176</c:v>
          </c:tx>
          <c:spPr>
            <a:solidFill xmlns:a="http://schemas.openxmlformats.org/drawingml/2006/main">
              <a:srgbClr val="007C78"/>
            </a:solidFill>
          </c:spPr>
          <c:cat>
            <c:strRef>
              <c:f>'Chart Data'!$C$2:$C$4</c:f>
              <c:strCache>
                <c:ptCount val="3"/>
                <c:pt idx="0">
                  <c:v>IFNG only (Logistic regression)</c:v>
                </c:pt>
                <c:pt idx="1">
                  <c:v>All RNA (Logistic Regression)</c:v>
                </c:pt>
                <c:pt idx="2">
                  <c:v>CatBoost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75</c:v>
                </c:pt>
                <c:pt idx="1">
                  <c:v>8</c:v>
                </c:pt>
                <c:pt idx="2">
                  <c:v>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75" b="1">
                  <a:solidFill>
                    <a:srgbClr val="16343E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CEDBD7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7F8F5"/>
        </a:solidFill>
      </c:spPr>
    </c:plotArea>
    <c:plotVisOnly val="1"/>
  </c:chart>
  <c:spPr>
    <a:solidFill xmlns:a="http://schemas.openxmlformats.org/drawingml/2006/main">
      <a:srgbClr val="F7F8F5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AF5ADB-7C66-4B93-9A41-E99F5EBBD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0972800" cy="3028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Classifying Kidney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Transplant Rejection</a:t>
            </a:r>
          </a:p>
          <a:p xmlns:a="http://schemas.openxmlformats.org/drawingml/2006/main">
            <a:pPr algn="l">
              <a:defRPr sz="5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Biopsy RNA</a:t>
            </a:r>
          </a:p>
        </p:txBody>
      </p:sp>
    </p:spTree>
    <p:extLst>
      <p:ext uri="{BB962C8B-B14F-4D97-AF65-F5344CB8AC3E}">
        <p14:creationId xmlns:p14="http://schemas.microsoft.com/office/powerpoint/2010/main" val="53904651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E61777-A03D-44C4-A99D-92D893DA2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Transplant rejection and kidney biopsy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57FE96-C3E4-4D4E-A277-4F44F642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NIDDK, Kidney Transplant and Kidney Biopsy; Zhang et al. (2024)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33C83E-C307-45FC-AE22-7AD9D7A3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682E03-5327-40D1-8768-99516F921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8592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Rejection: </a:t>
            </a:r>
            <a:r>
              <a:t>The recipient’s immune system attacks the donated kidney.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9AD0C9-90DE-49EC-85DC-CBF1BD0E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5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Kidney biopsy: </a:t>
            </a:r>
            <a:r>
              <a:t>A small tissue sample collected from the kidney for examination.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0FEEEF-3B61-40EA-B527-4932FA16B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3590925"/>
            <a:ext cx="1052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Histology: </a:t>
            </a:r>
            <a:r>
              <a:t>A microscopic examination that reveals injury and inflammation, which can support a rejection diagnosis.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BAAD8F-EE73-4444-9EE8-52A107DB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4695825"/>
            <a:ext cx="105251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0"/>
              </a:spcAft>
              <a:buChar char="•"/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b="1"/>
              <a:t>Molecular measurements: </a:t>
            </a:r>
            <a:r>
              <a:t>Counts of selected RNA types that reflect gene activity in the mix of cells in the tissue.</a:t>
            </a:r>
          </a:p>
        </p:txBody>
      </p:sp>
    </p:spTree>
    <p:extLst>
      <p:ext uri="{BB962C8B-B14F-4D97-AF65-F5344CB8AC3E}">
        <p14:creationId xmlns:p14="http://schemas.microsoft.com/office/powerpoint/2010/main" val="8439632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593794-E2DD-48EC-8560-1FB854BF8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Purpose of this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D8C43-032F-48C3-AD05-E746AE21E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Clinical rationale: Zhang et al. (2024), Discussion, p. 13; KDIGO (2009).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EE9675-8FF7-4B94-A5CA-977CD4EC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EE2600-5C74-4545-BBA0-3D5F4117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Whether rejection is present can affect decisions about further treatment to suppress the immune system.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037F6E-0839-487D-A1A8-D98DCB5D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81275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comparison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BE4D8B-CCB5-4641-A4EA-5E4224F5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How do logistic regression and CatBoost compare in classifying any recorded rejection versus no rejection from B-HOT biopsy RNA, particularly in missed cases and incorrect flags?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FE9C3E-418D-477D-B521-211112C3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10972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Software engineering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A24551-5C72-404B-9E47-41B1D82D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Make preprocessing, training and evaluation reproducible. Build a tested scoring service and prototype application that let a user submit a specimen’s RNA counts and inspect its model score, threshold and rejection flag.</a:t>
            </a:r>
          </a:p>
        </p:txBody>
      </p:sp>
    </p:spTree>
    <p:extLst>
      <p:ext uri="{BB962C8B-B14F-4D97-AF65-F5344CB8AC3E}">
        <p14:creationId xmlns:p14="http://schemas.microsoft.com/office/powerpoint/2010/main" val="11957764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F473C2-9ACB-4D5C-81EE-EE5A9DB6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Clinical and research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627592-BA4C-4633-A23A-6076FDFAD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Banff Reference Guide (2026); Zhang et al. (2024); KDIGO (2009), recommendation 6.1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4052BD-ED26-42D0-A6D5-3118D898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1F7440-4F55-4611-912F-1FD4D3E1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Banff diagnostic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framework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5579-1A90-4BED-9B66-138307CD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619250"/>
            <a:ext cx="81057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Validated biopsy transcript tests have a defined role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 antibody-mediated rejection assessment.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83D37D-2A65-4B9C-A4C0-F5D3FD94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6596ED-A4E1-4F1D-BE0A-86E839DF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26098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Biopsy and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treatment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4C1C0C-D2EB-4F8C-83DB-3682A965A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857500"/>
            <a:ext cx="8105775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KDIGO recommends biopsy before treating acute rejection,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unless waiting would substantially delay treatment.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0E6AA3-29CA-4E37-942A-FD69163E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CEDBD7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783D3C-C3CC-4CF1-B394-17084842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260985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Published B-HOT study</a:t>
            </a:r>
          </a:p>
          <a:p xmlns:a="http://schemas.openxmlformats.org/drawingml/2006/main">
            <a:pPr algn="l">
              <a:defRPr sz="21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Zhang, 2024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BE20FC-DC25-4F38-AA27-D9F42041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267200"/>
            <a:ext cx="81057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Four-class study compared regression and boosting.</a:t>
            </a:r>
          </a:p>
          <a:p xmlns:a="http://schemas.openxmlformats.org/drawingml/2006/main">
            <a:pPr algn="l">
              <a:defRPr sz="225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Selected LASSO for similar accuracy with fewer features.</a:t>
            </a:r>
          </a:p>
        </p:txBody>
      </p:sp>
    </p:spTree>
    <p:extLst>
      <p:ext uri="{BB962C8B-B14F-4D97-AF65-F5344CB8AC3E}">
        <p14:creationId xmlns:p14="http://schemas.microsoft.com/office/powerpoint/2010/main" val="6009970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E1977F-D804-4932-9D5A-E8C4FF42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What the dataset contains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56A256-47AC-4A37-8960-1C7B521B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Zhang et al. (2024), Methods and Tables 5–6; project data reader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4D967F-56C3-4621-B29E-0FAEA51B9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09F5AA-57B8-439E-A9C5-AD6A283E4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1,395 biopsy specimens, with one row per specimen in each 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F8A34C-93EA-4548-88A0-36DD5C4A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7815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RNA counts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CEBAC-6F6E-4402-AB14-3D0E87A6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343150"/>
            <a:ext cx="476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Specimen information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09600" y="2990850"/>
          <a:ext xmlns:a="http://schemas.openxmlformats.org/drawingml/2006/main" cx="478155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2257425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GUSB (reference)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260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RNA counts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"/>
          <p:cNvGraphicFramePr/>
          <p:nvPr/>
        </p:nvGraphicFramePr>
        <p:xfrm>
          <a:off xmlns:a="http://schemas.openxmlformats.org/drawingml/2006/main" x="6819900" y="2990850"/>
          <a:ext xmlns:a="http://schemas.openxmlformats.org/drawingml/2006/main" cx="476250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71750"/>
                <a:gridCol w="2190750"/>
              </a:tblGrid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Column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Example</a:t>
                      </a:r>
                    </a:p>
                  </a:txBody>
                  <a:tcPr marL="171450" marR="142875" marT="57150" marB="57150" anchor="ctr">
                    <a:solidFill>
                      <a:srgbClr val="16343E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Specimen ID (key)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GSM6510425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Study group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Discovery</a:t>
                      </a:r>
                    </a:p>
                  </a:txBody>
                  <a:tcPr marL="171450" marR="142875" marT="57150" marB="57150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Other details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…</a:t>
                      </a:r>
                    </a:p>
                  </a:txBody>
                  <a:tcPr marL="171450" marR="142875" marT="57150" marB="57150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A40323-2628-444E-A14D-FBFCD543C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76650"/>
            <a:ext cx="142875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52656B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4E74FE-F50E-40BC-A5EA-F5ED464B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276600"/>
            <a:ext cx="1276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 :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7959F8-12D3-43E1-A84B-064135448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752850"/>
            <a:ext cx="1276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BC482D-774A-4CA4-8495-9C649AD2A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Includes 1,193 transplant biopsies and 202 native-kidney controls.</a:t>
            </a:r>
          </a:p>
          <a:p xmlns:a="http://schemas.openxmlformats.org/drawingml/2006/main">
            <a:pPr marL="279400" indent="-152400" algn="l">
              <a:spcAft>
                <a:spcPts val="800"/>
              </a:spcAft>
              <a:buChar char="•"/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study does not document separation by patient or referring center between study groups.</a:t>
            </a:r>
          </a:p>
        </p:txBody>
      </p:sp>
    </p:spTree>
    <p:extLst>
      <p:ext uri="{BB962C8B-B14F-4D97-AF65-F5344CB8AC3E}">
        <p14:creationId xmlns:p14="http://schemas.microsoft.com/office/powerpoint/2010/main" val="3264811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432AEE-C184-46F0-B112-A878530A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Outcome: rejection versus no rejection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9D865A-4AB0-42EA-9363-806E2249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Tables 5–6 and Discussion, p. 11; project diagnosis mapping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82E29E-8B5F-401A-B3A4-1E8DDA9F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568820-3644-4D85-892C-FB621DA3B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The model combines the three rejection categories in the public dataset.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2428875"/>
          <a:ext xmlns:a="http://schemas.openxmlformats.org/drawingml/2006/main" cx="10972800" cy="3095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876675"/>
                <a:gridCol w="2476500"/>
              </a:tblGrid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diagnosis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Meaning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 label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Antibody-mediated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Antibodies: immune proteins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T-cell-mediated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T cells: immune cells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Mixed 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Both rejection processes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recorded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No rejection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458036-F445-4BBB-BFE4-9FDC8462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The authors excluded some diagnostic categories from the dataset.</a:t>
            </a:r>
          </a:p>
        </p:txBody>
      </p:sp>
    </p:spTree>
    <p:extLst>
      <p:ext uri="{BB962C8B-B14F-4D97-AF65-F5344CB8AC3E}">
        <p14:creationId xmlns:p14="http://schemas.microsoft.com/office/powerpoint/2010/main" val="175883998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AB2819-0BE5-4935-9E25-02E0C8BF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measurements used to build the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FB3B4F-7E57-4801-8136-B1705E604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GSE212160; B-HOT panel consensus; NanoString analysis guidance; shared preprocessing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2AA788-BD2A-4BAB-96B8-8BCCBFA85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083D05-684D-490F-822A-27C7EAC7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770 RNA counts per specimen, one for each RNA type measured.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59A351-F84C-4770-9AA7-F1ECE03E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5095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758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4C5531-8363-4DF2-AE32-44D4ACC3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50958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 measurements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9595D-20D6-4F43-8201-1C6A6BBC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51435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Selected human and viral RNA measurements.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Signals reflect gene activity and the mixture of cells in the biopsy.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Normalized values become the model’s inputs.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72E807-4039-475D-9CB9-0483F1A3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562225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82A441-3114-4443-97C3-A2A711F1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343275"/>
            <a:ext cx="50387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Housekeeping references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ADB508-80FB-42D3-968F-AC30AE7B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905250"/>
            <a:ext cx="5038725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Relatively stable RNAs provide a reference for each specimen.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Help adjust for differences in overall measurable RNA input.</a:t>
            </a:r>
          </a:p>
          <a:p xmlns:a="http://schemas.openxmlformats.org/drawingml/2006/main">
            <a:pPr marL="279400" indent="-152400" algn="l">
              <a:spcAft>
                <a:spcPts val="10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Used for normalization, then excluded from the model.</a:t>
            </a:r>
          </a:p>
        </p:txBody>
      </p:sp>
    </p:spTree>
    <p:extLst>
      <p:ext uri="{BB962C8B-B14F-4D97-AF65-F5344CB8AC3E}">
        <p14:creationId xmlns:p14="http://schemas.microsoft.com/office/powerpoint/2010/main" val="152799008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1E403C-D991-4AED-B030-A435ED8A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Preparing counts for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CD13AB-C623-4B81-A95E-A6FCA2CBC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Source: shared preprocessing; public specimen GSM6510425. Values rounded for display.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B44267-176A-42A3-AEFF-0774D6EB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743075"/>
          <a:ext xmlns:a="http://schemas.openxmlformats.org/drawingml/2006/main" cx="10972800" cy="31718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77150"/>
                <a:gridCol w="3295650"/>
              </a:tblGrid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For each of the 758 RNA counts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IFNG example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1. Start with the raw count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 Calculate log₂(count + 1)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3. Average log₂(count + 1) for the 12 reference RNAs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7.900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4. Subtract that reference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2.322 − 7.900 = −5.578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56866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AC70C1-078C-445C-B8B7-866FDF08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Development and evaluation specimens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1D951F-889C-4242-8C6A-5920ECF3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Zhang et al. (2024), Methods; saved project split, seed 20260915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F3B26F-9B59-4EF0-9D8F-7D17E97EC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E1C50-1CC1-410E-B6C5-31F9F76F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 used the authors’ two study groups: discovery and validation cohorts.</a:t>
            </a:r>
          </a:p>
          <a:p xmlns:a="http://schemas.openxmlformats.org/drawingml/2006/main">
            <a:pPr marL="279400" indent="-152400" algn="l">
              <a:spcAft>
                <a:spcPts val="1300"/>
              </a:spcAft>
              <a:buChar char="•"/>
              <a:defRPr sz="232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My training / screening split kept diagnosis proportions similar.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30AF7D-B15A-4749-99BB-5AD3C232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66579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Discovery Cohort</a:t>
            </a:r>
          </a:p>
          <a:p xmlns:a="http://schemas.openxmlformats.org/drawingml/2006/main">
            <a:pPr algn="ctr">
              <a:defRPr sz="24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75">
                <a:solidFill>
                  <a:srgbClr val="16343E"/>
                </a:solidFill>
                <a:latin typeface="Arial"/>
                <a:ea typeface="Arial"/>
                <a:cs typeface="Arial"/>
              </a:rPr>
              <a:t>1,050 specimens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17AC26-A6DA-44A8-8D32-EEBE2895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30099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Training: 787</a:t>
            </a:r>
          </a:p>
          <a:p xmlns:a="http://schemas.openxmlformats.org/drawingml/2006/main">
            <a:pPr algn="ctr">
              <a:defRPr sz="232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325">
                <a:solidFill>
                  <a:srgbClr val="16343E"/>
                </a:solidFill>
                <a:latin typeface="Arial"/>
                <a:ea typeface="Arial"/>
                <a:cs typeface="Arial"/>
              </a:rPr>
              <a:t>Fit the models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FE52A2-0C09-412B-9217-CFA87B84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724400"/>
            <a:ext cx="31718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FEB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Screening: 263</a:t>
            </a:r>
          </a:p>
          <a:p xmlns:a="http://schemas.openxmlformats.org/drawingml/2006/main">
            <a:pPr algn="ctr">
              <a:defRPr sz="2175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>
                <a:solidFill>
                  <a:srgbClr val="16343E"/>
                </a:solidFill>
                <a:latin typeface="Arial"/>
                <a:ea typeface="Arial"/>
                <a:cs typeface="Arial"/>
              </a:rPr>
              <a:t>Choose model and threshold</a:t>
            </a:r>
          </a:p>
        </p:txBody>
      </p:sp>
      <p:cxnSp>
        <p:nvCxnSpPr>
          <p:cNvPr id="18" name=""/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114550" y="4048125"/>
            <a:ext cx="1824038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3938588" y="4048125"/>
            <a:ext cx="1743075" cy="67627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23813">
            <a:solidFill>
              <a:srgbClr val="52656B"/>
            </a:solidFill>
            <a:tailEnd type="arrow" w="med" len="med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C57391-5DBE-49C5-BCFB-A40D3AE4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67050"/>
            <a:ext cx="37719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3E"/>
          </a:solidFill>
          <a:ln xmlns:a="http://schemas.openxmlformats.org/drawingml/2006/main" w="9525">
            <a:solidFill>
              <a:srgbClr val="CEDBD7"/>
            </a:solidFill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 Cohort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345 specimens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Evaluate the selected</a:t>
            </a:r>
          </a:p>
          <a:p xmlns:a="http://schemas.openxmlformats.org/drawingml/2006/main">
            <a:pPr algn="ctr">
              <a:defRPr sz="225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and threshold</a:t>
            </a:r>
          </a:p>
        </p:txBody>
      </p:sp>
    </p:spTree>
    <p:extLst>
      <p:ext uri="{BB962C8B-B14F-4D97-AF65-F5344CB8AC3E}">
        <p14:creationId xmlns:p14="http://schemas.microsoft.com/office/powerpoint/2010/main" val="17287243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B99064-C32E-4D38-8756-BE824DF2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Models compared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F54562-DDF9-43A2-B98D-99AC6A85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configuration and analysis; Zhang et al., Table S2; CatBoost documentation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EDCD74-94FC-4446-9A56-E5BF81C92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CBD8F-6D4B-409B-B81C-C83BDD0C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47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Each model produces a score for rejection versus no rejection.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2381250"/>
          <a:ext xmlns:a="http://schemas.openxmlformats.org/drawingml/2006/main" cx="10972800" cy="3695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71850"/>
                <a:gridCol w="7600950"/>
              </a:tblGrid>
              <a:tr h="4762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Approach and rationale</a:t>
                      </a:r>
                    </a:p>
                  </a:txBody>
                  <a:tcPr marL="171450" marR="142875" marT="104775" marB="104775" anchor="ctr">
                    <a:solidFill>
                      <a:srgbClr val="16343E"/>
                    </a:solidFill>
                  </a:tcPr>
                </a:tc>
              </a:tr>
              <a:tr h="5715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Constant baseline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score: the training rejection fraction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IFNG only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One immune-related RNA measurement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as a simple benchmark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All RNA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(Logistic Regression)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A weighted combination of 758 measurements.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Regularization limits the size of the weights.</a:t>
                      </a:r>
                    </a:p>
                  </a:txBody>
                  <a:tcPr marL="171450" marR="142875" marT="104775" marB="104775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Can capture nonlinear RNA patterns and interactions.</a:t>
                      </a:r>
                    </a:p>
                    <a:p>
                      <a:r>
                        <a:rPr sz="217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Shallow trees help limit overfitting.</a:t>
                      </a:r>
                    </a:p>
                  </a:txBody>
                  <a:tcPr marL="171450" marR="142875" marT="104775" marB="1047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631904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85C082-8744-4A43-9F46-00846ED7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Selecting the model and threshold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BFA457-C493-4AF8-B0A0-27C0B7C0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Reference: recorded biopsy diagnoses. Source: saved discovery screening results, 15 Sep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2C4317-F75D-440A-A937-603D301B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7CF2A-66C4-4DD1-8734-51AFF3CF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B55730"/>
                </a:solidFill>
                <a:latin typeface="Arial"/>
                <a:ea typeface="Arial"/>
                <a:cs typeface="Arial"/>
              </a:rPr>
              <a:t>Recall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F6D3F3-A6CF-4E49-8176-68C03C33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Correctly flagged rejection cases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167E4F-FAA8-4469-9FC5-7FF85CFAC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0300"/>
            <a:ext cx="49530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C5E791-83F9-495D-A6DB-57DE3EC97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cases diagnosed as rejection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7D7868-D2E4-4919-853D-517E05D9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81325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B557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B55730"/>
                </a:solidFill>
                <a:latin typeface="Arial"/>
                <a:ea typeface="Arial"/>
                <a:cs typeface="Arial"/>
              </a:rPr>
              <a:t>(False negatives are missed cases.)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C2E51C-B075-4CE5-93AD-2BF05008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7637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82E456-B2A7-4664-8D75-B88FE0B3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43100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Correctly flagged rejection cases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33BAD6-7248-4DD6-81F2-B70CA4C6C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400300"/>
            <a:ext cx="46482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16343E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37188E-70FD-463F-B028-DDC3D8C78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8602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All rejection flags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74EEE0-A162-4AA8-9780-B3F8FDCC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81325"/>
            <a:ext cx="4876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(False positives are incorrect flags.)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FEF1EE-3FB1-4270-8E3E-38E16AE6E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Screening rule: detect at least 90% of recorded rejection cases,</a:t>
            </a:r>
          </a:p>
          <a:p xmlns:a="http://schemas.openxmlformats.org/drawingml/2006/main">
            <a:pPr algn="l">
              <a:defRPr sz="210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then minimize false positives. ROC-AUC breaks ties.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609600" y="4419600"/>
          <a:ext xmlns:a="http://schemas.openxmlformats.org/drawingml/2006/main" cx="10972800" cy="1200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0"/>
                <a:gridCol w="3105150"/>
                <a:gridCol w="3105150"/>
              </a:tblGrid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Screening result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CatBoost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All-RNA logistic</a:t>
                      </a:r>
                    </a:p>
                  </a:txBody>
                  <a:tcPr marL="171450" marR="142875" marT="28575" marB="28575" anchor="ctr">
                    <a:solidFill>
                      <a:srgbClr val="16343E"/>
                    </a:solidFill>
                  </a:tcPr>
                </a:tc>
              </a:tr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Rejection detected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157 / 174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157 / 174</a:t>
                      </a:r>
                    </a:p>
                  </a:txBody>
                  <a:tcPr marL="171450" marR="142875" marT="28575" marB="28575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False positives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5 / 89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6343E"/>
                          </a:solidFill>
                          <a:latin typeface="Arial"/>
                          <a:ea typeface="Arial"/>
                          <a:cs typeface="Arial"/>
                        </a:rPr>
                        <a:t>6 / 89</a:t>
                      </a:r>
                    </a:p>
                  </a:txBody>
                  <a:tcPr marL="171450" marR="142875" marT="28575" marB="28575" anchor="ctr">
                    <a:solidFill>
                      <a:srgbClr val="EDF3F0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C15353-160F-4A5B-BC33-C19A336E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One fewer false positive selected CatBoost.</a:t>
            </a:r>
          </a:p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The model and threshold then stayed fixed for evaluation.</a:t>
            </a:r>
          </a:p>
        </p:txBody>
      </p:sp>
    </p:spTree>
    <p:extLst>
      <p:ext uri="{BB962C8B-B14F-4D97-AF65-F5344CB8AC3E}">
        <p14:creationId xmlns:p14="http://schemas.microsoft.com/office/powerpoint/2010/main" val="32013728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30A666-C0D1-4CCC-833D-2FE765101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Validation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6C718-A8F2-4983-9613-1DAFCBEE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Sources: primary evaluation (15 Sep) and discovery-only stability follow-up (17 Sep 2026).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24A47A-67EB-4D18-9A62-C3E87650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78B5F8-B4B7-4C5E-9EA4-3E96BF3E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Same 345 specimens: 169 rejection and 176 no rejection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44250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b156990f18546c2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A10638-D3A9-4AB3-8A16-3475BAAF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10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7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EDDD5B-8D8A-4502-9171-0FDD775F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667250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Incorrect flags / 176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E3120-338E-4602-884A-81A7A0EA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10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5730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B137AA-9A30-4600-A9BD-4B3F24AA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67250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Missed cases / 169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58BB83-5610-4790-A10F-F918C67B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79400" indent="-152400" algn="l">
              <a:spcAft>
                <a:spcPts val="1100"/>
              </a:spcAft>
              <a:buChar char="•"/>
              <a:defRPr sz="2175" b="0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6343E"/>
                </a:solidFill>
                <a:latin typeface="Arial"/>
                <a:ea typeface="Arial"/>
                <a:cs typeface="Arial"/>
              </a:rPr>
              <a:t>Constant baseline: 0 missed cases, 176 incorrect flags. It flags everyone.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B57B95-C587-4C71-B678-7DF6216F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7C78"/>
                </a:solidFill>
                <a:latin typeface="Arial"/>
                <a:ea typeface="Arial"/>
                <a:cs typeface="Arial"/>
              </a:rPr>
              <a:t>Follow-up screening selections across 20 discovery splits: CatBoost 13, logistic 7.</a:t>
            </a:r>
          </a:p>
        </p:txBody>
      </p:sp>
    </p:spTree>
    <p:extLst>
      <p:ext uri="{BB962C8B-B14F-4D97-AF65-F5344CB8AC3E}">
        <p14:creationId xmlns:p14="http://schemas.microsoft.com/office/powerpoint/2010/main" val="207900428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4DDC8C-D0BB-42A2-B6C4-40D4754B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6343E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6343E"/>
                </a:solidFill>
                <a:latin typeface="Arial"/>
                <a:ea typeface="Arial"/>
                <a:cs typeface="Arial"/>
              </a:rPr>
              <a:t>Project walkthrough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B6566D-E309-4E3C-8A79-ED3DC653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2656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2656B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3D12AC-1B4A-4747-932E-3A498932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09728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0">
                <a:solidFill>
                  <a:srgbClr val="007C78"/>
                </a:solidFill>
                <a:latin typeface="Arial"/>
                <a:ea typeface="Arial"/>
                <a:cs typeface="Arial"/>
              </a:defRPr>
            </a:pPr>
            <a:r>
              <a:rPr sz="2925" b="0">
                <a:solidFill>
                  <a:srgbClr val="007C78"/>
                </a:solidFill>
                <a:latin typeface="Arial"/>
                <a:ea typeface="Arial"/>
                <a:cs typeface="Arial"/>
              </a:rPr>
              <a:t>Reports, application and scoring service</a:t>
            </a:r>
          </a:p>
        </p:txBody>
      </p:sp>
    </p:spTree>
    <p:extLst>
      <p:ext uri="{BB962C8B-B14F-4D97-AF65-F5344CB8AC3E}">
        <p14:creationId xmlns:p14="http://schemas.microsoft.com/office/powerpoint/2010/main" val="121528710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6343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8E6CBD-E26D-4785-BED2-B0DD45D4B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this project accomplished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C84770-F38C-4A9E-A71E-348FCD1E0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57925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Public data: Zhang et al. (2024), GSE212160. Development and presentation used AI assistance.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1C1239-ECEA-49F1-BD72-B0BEBFCB6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3055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D6E8E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6E8E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BC4060-4482-42CB-A806-828B5225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 comparison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7BC3F2-5516-4AA3-A4D2-2175218F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71725"/>
            <a:ext cx="1097280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CatBoost missed 8 fewer rejection cases than logistic, with 8 incorrect flags each.</a:t>
            </a:r>
          </a:p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dependable advantage remains uncertain.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641DEA-E52E-4FFA-9C95-705AA93E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78949B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6EE597-DA69-404A-AFE4-E8731AD3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192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Software engineering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D07E-9304-4335-9107-019BB0E9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Reproducible analysis and a tested scoring service,</a:t>
            </a:r>
          </a:p>
          <a:p xmlns:a="http://schemas.openxmlformats.org/drawingml/2006/main">
            <a:pPr algn="l"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with a prototype application and checks against saved results.</a:t>
            </a:r>
          </a:p>
        </p:txBody>
      </p:sp>
    </p:spTree>
    <p:extLst>
      <p:ext uri="{BB962C8B-B14F-4D97-AF65-F5344CB8AC3E}">
        <p14:creationId xmlns:p14="http://schemas.microsoft.com/office/powerpoint/2010/main" val="10626560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2026-09-23T14:01:52.6660000Z</dcterms:created>
  <dcterms:modified xsi:type="dcterms:W3CDTF">2026-09-23T14:01:52.6660000Z</dcterms:modified>
</coreProperties>
</file>