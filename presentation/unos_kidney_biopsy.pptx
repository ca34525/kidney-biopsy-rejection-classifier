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22ed638f28c641cc" /><Relationship Type="http://schemas.openxmlformats.org/officeDocument/2006/relationships/extended-properties" Target="/docProps/app.xml" Id="R66a5f978488a4bf3" /><Relationship Type="http://schemas.openxmlformats.org/officeDocument/2006/relationships/officeDocument" Target="/ppt/presentation.xml" Id="R1578c74e85cd4784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95e38e1b45941d0"/>
  </p:sldMasterIdLst>
  <p:sldIdLst>
    <p:sldId id="256" r:id="Ra2e5987f5cd9402e"/>
    <p:sldId id="257" r:id="R88b6c35a67094843"/>
    <p:sldId id="258" r:id="Rb9e02b2a47b14552"/>
    <p:sldId id="259" r:id="Raea07e2bc2fd400b"/>
    <p:sldId id="260" r:id="R4a883e58a0de4092"/>
    <p:sldId id="261" r:id="R9ee8407c6daa432c"/>
    <p:sldId id="262" r:id="R487697ab6da547aa"/>
    <p:sldId id="263" r:id="R625dc816186a4cae"/>
    <p:sldId id="264" r:id="R163ab851ca464962"/>
    <p:sldId id="265" r:id="R339b914838de4544"/>
    <p:sldId id="266" r:id="R387b2356c53e44d5"/>
    <p:sldId id="267" r:id="R0264449f1a3f47a4"/>
    <p:sldId id="268" r:id="R81ede3964fca4630"/>
    <p:sldId id="269" r:id="Rb5b1f94fd2cb453c"/>
    <p:sldId id="270" r:id="Rb143e5b251fe4859"/>
    <p:sldId id="271" r:id="R3cf35e120d1e45f1"/>
    <p:sldId id="272" r:id="R1b7f5e37f6da46eb"/>
    <p:sldId id="273" r:id="R5151ade6c1f84748"/>
    <p:sldId id="274" r:id="R09e2f201fc3a4595"/>
    <p:sldId id="275" r:id="R04b1157f1c8e45de"/>
    <p:sldId id="276" r:id="Rd4bc542a68d34b1c"/>
    <p:sldId id="277" r:id="R8d933dfdd60a4a5c"/>
    <p:sldId id="278" r:id="R3c91bf60e299437a"/>
    <p:sldId id="279" r:id="R80db1586d1c0439e"/>
    <p:sldId id="280" r:id="R398152affa034801"/>
    <p:sldId id="281" r:id="R42b2a288cc9f436b"/>
    <p:sldId id="282" r:id="R68442a5439ed4b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b0c7130d1bd44ded" /><Relationship Type="http://schemas.openxmlformats.org/officeDocument/2006/relationships/slideMaster" Target="/ppt/slideMasters/slideMaster1.xml" Id="R795e38e1b45941d0" /><Relationship Type="http://schemas.openxmlformats.org/officeDocument/2006/relationships/presProps" Target="/ppt/presProps.xml" Id="R3a77731963494c24" /><Relationship Type="http://schemas.openxmlformats.org/officeDocument/2006/relationships/tableStyles" Target="/ppt/tableStyles.xml" Id="R00318edfa90748d9" /><Relationship Type="http://schemas.openxmlformats.org/officeDocument/2006/relationships/slide" Target="/ppt/slides/slide1.xml" Id="Ra2e5987f5cd9402e" /><Relationship Type="http://schemas.openxmlformats.org/officeDocument/2006/relationships/slide" Target="/ppt/slides/slide2.xml" Id="R88b6c35a67094843" /><Relationship Type="http://schemas.openxmlformats.org/officeDocument/2006/relationships/slide" Target="/ppt/slides/slide3.xml" Id="Rb9e02b2a47b14552" /><Relationship Type="http://schemas.openxmlformats.org/officeDocument/2006/relationships/slide" Target="/ppt/slides/slide4.xml" Id="Raea07e2bc2fd400b" /><Relationship Type="http://schemas.openxmlformats.org/officeDocument/2006/relationships/slide" Target="/ppt/slides/slide5.xml" Id="R4a883e58a0de4092" /><Relationship Type="http://schemas.openxmlformats.org/officeDocument/2006/relationships/slide" Target="/ppt/slides/slide6.xml" Id="R9ee8407c6daa432c" /><Relationship Type="http://schemas.openxmlformats.org/officeDocument/2006/relationships/slide" Target="/ppt/slides/slide7.xml" Id="R487697ab6da547aa" /><Relationship Type="http://schemas.openxmlformats.org/officeDocument/2006/relationships/slide" Target="/ppt/slides/slide8.xml" Id="R625dc816186a4cae" /><Relationship Type="http://schemas.openxmlformats.org/officeDocument/2006/relationships/slide" Target="/ppt/slides/slide9.xml" Id="R163ab851ca464962" /><Relationship Type="http://schemas.openxmlformats.org/officeDocument/2006/relationships/slide" Target="/ppt/slides/slide10.xml" Id="R339b914838de4544" /><Relationship Type="http://schemas.openxmlformats.org/officeDocument/2006/relationships/slide" Target="/ppt/slides/slide11.xml" Id="R387b2356c53e44d5" /><Relationship Type="http://schemas.openxmlformats.org/officeDocument/2006/relationships/slide" Target="/ppt/slides/slide12.xml" Id="R0264449f1a3f47a4" /><Relationship Type="http://schemas.openxmlformats.org/officeDocument/2006/relationships/slide" Target="/ppt/slides/slide13.xml" Id="R81ede3964fca4630" /><Relationship Type="http://schemas.openxmlformats.org/officeDocument/2006/relationships/slide" Target="/ppt/slides/slide14.xml" Id="Rb5b1f94fd2cb453c" /><Relationship Type="http://schemas.openxmlformats.org/officeDocument/2006/relationships/slide" Target="/ppt/slides/slide15.xml" Id="Rb143e5b251fe4859" /><Relationship Type="http://schemas.openxmlformats.org/officeDocument/2006/relationships/slide" Target="/ppt/slides/slide16.xml" Id="R3cf35e120d1e45f1" /><Relationship Type="http://schemas.openxmlformats.org/officeDocument/2006/relationships/slide" Target="/ppt/slides/slide17.xml" Id="R1b7f5e37f6da46eb" /><Relationship Type="http://schemas.openxmlformats.org/officeDocument/2006/relationships/slide" Target="/ppt/slides/slide18.xml" Id="R5151ade6c1f84748" /><Relationship Type="http://schemas.openxmlformats.org/officeDocument/2006/relationships/slide" Target="/ppt/slides/slide19.xml" Id="R09e2f201fc3a4595" /><Relationship Type="http://schemas.openxmlformats.org/officeDocument/2006/relationships/slide" Target="/ppt/slides/slide20.xml" Id="R04b1157f1c8e45de" /><Relationship Type="http://schemas.openxmlformats.org/officeDocument/2006/relationships/slide" Target="/ppt/slides/slide21.xml" Id="Rd4bc542a68d34b1c" /><Relationship Type="http://schemas.openxmlformats.org/officeDocument/2006/relationships/slide" Target="/ppt/slides/slide22.xml" Id="R8d933dfdd60a4a5c" /><Relationship Type="http://schemas.openxmlformats.org/officeDocument/2006/relationships/slide" Target="/ppt/slides/slide23.xml" Id="R3c91bf60e299437a" /><Relationship Type="http://schemas.openxmlformats.org/officeDocument/2006/relationships/slide" Target="/ppt/slides/slide24.xml" Id="R80db1586d1c0439e" /><Relationship Type="http://schemas.openxmlformats.org/officeDocument/2006/relationships/slide" Target="/ppt/slides/slide25.xml" Id="R398152affa034801" /><Relationship Type="http://schemas.openxmlformats.org/officeDocument/2006/relationships/slide" Target="/ppt/slides/slide26.xml" Id="R42b2a288cc9f436b" /><Relationship Type="http://schemas.openxmlformats.org/officeDocument/2006/relationships/slide" Target="/ppt/slides/slide27.xml" Id="R68442a5439ed4b4e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1974876a579b49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638dc5eaf6d747df" /><Relationship Type="http://schemas.openxmlformats.org/officeDocument/2006/relationships/slideLayout" Target="/ppt/slideLayouts/slideLayout1.xml" Id="Rf78abd7c10c74a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8abd7c10c74a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2c0bb43b5ae45cd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08b36e9bffc4bf9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f753c0358174ddd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f6b2bcd0f054e26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6a83480a3a84697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80ff05bcfc542e1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9e19f01ee3844b3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1999725a6fa416a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9c1f28ce46a43bf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84afc47ea9b4d71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aa99d05c6a9493e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ea65764a7414a66" /><Relationship Type="http://schemas.openxmlformats.org/officeDocument/2006/relationships/chart" Target="/ppt/slides/charts/chart1.xml" Id="R7d94b5ba6c7b44c0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0db9852cda64563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558ee0288e94f10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40136647b814b28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384bddfaec04256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45daf2cdec14b7c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c96b94497d24b23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34297f361214c9d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172420dd2f4bd8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e2f0fac9d444fd6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358e48eeea24e65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69e508032364b99" /><Relationship Type="http://schemas.openxmlformats.org/officeDocument/2006/relationships/chart" Target="/ppt/slides/charts/chart2.xml" Id="Receb76cc05064b59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1870f558e434099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10eed861fcb4554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a4aaf43a4d6435c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e0c220dbfb3495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65980-7A9D-421C-B0C9-11C08E5E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092897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F9ABC7-FFB1-4472-A6DB-28B9FC79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1BE4E-D284-49C3-87B3-AC4DA2D8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B796D-BD2F-4DEC-A8FC-637296B5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8F20C-40E9-4D07-958B-4ABF1109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E59C5-AA62-4CA0-BFE6-E1DFA57F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24AED-FF2E-4A0B-B850-16F795FB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9097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and supports the recorded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628D0-EE51-4521-8189-3A89782D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19700"/>
            <a:ext cx="105251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provide the model’s inputs.</a:t>
            </a:r>
          </a:p>
        </p:txBody>
      </p:sp>
    </p:spTree>
    <p:extLst>
      <p:ext uri="{BB962C8B-B14F-4D97-AF65-F5344CB8AC3E}">
        <p14:creationId xmlns:p14="http://schemas.microsoft.com/office/powerpoint/2010/main" val="14809238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48057-D04E-4A00-933F-8B0CD668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91752-DED8-4E75-AECF-DFB253D7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740A6-D0D0-4E8B-A32F-64D8E7CC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4281E-11B9-4E7A-B9C5-1106462A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EA7AA-98C8-4422-84EA-3434D5A7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7326A-C287-47EC-9B60-B5FD018E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30412-C06A-4880-814A-63FD80F9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the microscopic findings do not clearly establish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61FE2-2218-42BA-91AE-A42D4B2C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tests how well RNA classifies recorded rejection diagnoses.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686C7-CA2C-4EF0-8609-A89D6C90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B58F6F-084F-4582-9FDD-0489C0C3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14900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Example, continued: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4AB5A-DC10-465D-B821-AF61BCC2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86375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high rejection score could add evidence for specialist review of this biopsy. That use needs direct validation.</a:t>
            </a:r>
          </a:p>
        </p:txBody>
      </p:sp>
    </p:spTree>
    <p:extLst>
      <p:ext uri="{BB962C8B-B14F-4D97-AF65-F5344CB8AC3E}">
        <p14:creationId xmlns:p14="http://schemas.microsoft.com/office/powerpoint/2010/main" val="2324433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F835E-DF58-4A14-A492-85AEF575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2511D-527E-4AF8-83C3-31005CF2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FF378-5077-408D-9A69-C643423D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2609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57D2F-4DA4-463C-A9C9-3B45C7FD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466E1-0F6A-456A-97BF-24C9374B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D591D-CB0D-4A3D-AD20-58CCF9E1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D9924-844B-42DC-AF11-92198606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62275"/>
            <a:ext cx="81057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later developed chronic active antibody-mediated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rejection, 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E6C24-EA5A-4EB5-8A5C-6C92CFBE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D538A9-F641-42C7-B989-E2BD3250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 measures agreement with recorded diagnoses.</a:t>
            </a:r>
          </a:p>
          <a:p xmlns:a="http://schemas.openxmlformats.org/drawingml/2006/main">
            <a:pPr algn="l">
              <a:defRPr sz="24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Its value in ambiguous biopsies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6789342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3AF68-6122-4AC9-B4F7-8A37EB18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95A7E-DA75-47BA-A221-0FDC6C04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7BDD4-B208-4689-AC28-93B3359B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E6ED7-54A8-449B-9EBE-673551EB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F3F60-C1DD-4B6C-A1BF-C50F49A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4F978-1822-47C3-BD62-F90CF788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2890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33337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33337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CF02A-1925-4033-9E34-A7EE6232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0195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78FD9-F10A-4FF8-BACB-C87439FC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195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65CD6-CA8C-4DAA-91C1-D6DA5796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957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800147-36EF-4BCE-A64E-277CABDE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</p:txBody>
      </p:sp>
    </p:spTree>
    <p:extLst>
      <p:ext uri="{BB962C8B-B14F-4D97-AF65-F5344CB8AC3E}">
        <p14:creationId xmlns:p14="http://schemas.microsoft.com/office/powerpoint/2010/main" val="2267907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81F1B-25CF-4DC5-9E56-862CA370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9FD1E-4A1C-48A0-AA04-EA7CDF03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F78D0-302D-41D1-A494-3D8C0FF3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39E92-7929-4E7A-81FE-FB039DDD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included in this study.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E2DC3-454F-40B8-A91B-E0ACF30F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Some diagnostic categories were excluded from the study.</a:t>
            </a:r>
          </a:p>
        </p:txBody>
      </p:sp>
    </p:spTree>
    <p:extLst>
      <p:ext uri="{BB962C8B-B14F-4D97-AF65-F5344CB8AC3E}">
        <p14:creationId xmlns:p14="http://schemas.microsoft.com/office/powerpoint/2010/main" val="7994253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019537-945F-459A-89CF-90B826F5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6A449-D8C1-4911-9E10-743D1820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75409-E84C-4F09-849C-E73A5AA2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F0D56-4DFE-4846-9295-8A006A44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1939A-7B5C-4759-B6F1-ACA5B2A3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EE672E-3E67-4831-8512-CF8B4C74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96422C-C33F-4148-990F-C180AC26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D3CFD-8E2E-4015-A4B1-D8EB0591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74B07-F256-49EC-9289-55112763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0D545-2508-4343-8ACA-E2D77238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adjust for differences in how much RNA each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9702477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2C293-6724-4227-A01C-F36D0591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2DA67-E3B9-4FFA-8254-27CD2836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19C01C-B110-412E-BF1E-4F801731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7254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D4CBF4-831D-43CB-93D5-E9EF4EC4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1D178-423C-4789-96AB-CFEF0CD8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27286-838E-4AAC-A869-AE1A9936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BD683-7896-40EE-B7BC-8D4E2C88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keeps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A0D62-1850-4028-BD5A-4DD7A406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DEF77-144C-476B-AA4B-415592A6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8BDEC-EAD2-4E50-ABC3-90086D5A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19F37-A93D-4676-80D3-F5CE8C52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37FC3-7A2F-4997-AC1A-7CAD01E7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*Patient and referring-center separation are not documented in the study.</a:t>
            </a:r>
          </a:p>
        </p:txBody>
      </p:sp>
    </p:spTree>
    <p:extLst>
      <p:ext uri="{BB962C8B-B14F-4D97-AF65-F5344CB8AC3E}">
        <p14:creationId xmlns:p14="http://schemas.microsoft.com/office/powerpoint/2010/main" val="7939499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7956E2-EFA5-4C0A-A91C-1A92A7D9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5938C-3D3B-4319-8680-8B34B396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analysis, 15 Sep 2026; Zhang et al., Supplementary Table S2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B4837-61E8-4605-AE74-3CDDD94E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A16B6-D15B-4C00-9021-41753FF2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504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1047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83807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1A2DC9-C058-4E1D-BCE8-FB6395FA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4CC90-CA74-4B9A-9EAF-4116E561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7D08DA-F28D-460F-9E91-39617B95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4C0FA-2590-41EF-B83F-2A7C06C1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B4253-E172-4AF9-A6BC-0DB23D0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816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Proportion of recorded rejection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84D09-1BD4-42ED-9525-9B8CA0D1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51816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8FB0C-1187-4B4A-80D6-2B53DD3E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EFD17-43D2-4CA2-99C8-4E0C8E95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33600"/>
            <a:ext cx="4876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Proportion of positive flags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with recorded rejection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7A119-058D-415B-A99E-21385755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76575"/>
            <a:ext cx="4876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CBAE4-13FA-4210-8CD5-5322D53D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cases.*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43CE4F-0344-4935-A343-2199181E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*90% is an experimental target.</a:t>
            </a:r>
          </a:p>
        </p:txBody>
      </p:sp>
    </p:spTree>
    <p:extLst>
      <p:ext uri="{BB962C8B-B14F-4D97-AF65-F5344CB8AC3E}">
        <p14:creationId xmlns:p14="http://schemas.microsoft.com/office/powerpoint/2010/main" val="1300879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D9871B-70F3-4BCC-9FE0-3C347B9E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5D562-9303-469B-8507-BF5AE395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83C4C-4A13-45E3-8A34-71BABBE4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7CE36-2BC0-4EF2-B058-271B3BAC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94b5ba6c7b44c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D8533A-D554-48DE-A334-0BBC0C36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positives, 11 more false negatives.</a:t>
            </a:r>
          </a:p>
        </p:txBody>
      </p:sp>
    </p:spTree>
    <p:extLst>
      <p:ext uri="{BB962C8B-B14F-4D97-AF65-F5344CB8AC3E}">
        <p14:creationId xmlns:p14="http://schemas.microsoft.com/office/powerpoint/2010/main" val="19781142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DA066-B79A-4EA9-B34C-44849A56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0362B-A01E-4804-A667-78A2215F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A113E-35A8-4BAC-97E3-4B502D59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14B07-C47D-45C2-B62A-811028C7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144 / 169 detected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004C3-0B24-4EC1-B00F-F7CAF2F8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85.2% recall (sensitivity)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FA261-EAD3-43EF-9DA2-F8A29948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514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detected (90.2%).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 the 90% selection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CE76F-034D-4CEB-A51E-2B00152F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5915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Misses by recorded diagnosis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667375" y="2381250"/>
          <a:ext xmlns:a="http://schemas.openxmlformats.org/drawingml/2006/main" cx="5915025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1425"/>
                <a:gridCol w="2133600"/>
              </a:tblGrid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19166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DD3F2-1F8E-4047-8B69-D0B48B04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562CD-8197-4E18-AD74-CCEAFC40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09DF0E-CBF2-4D8F-8FAA-907119DC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06D7A-CD55-4743-9CB7-5A4FD3EC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logistic regression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9457B-6ADF-4C8A-90B9-EBF95C04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 fewer misses among the same 169 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make 8 false flags among 176 no-rejection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95% interval for the detection advantage includes zero.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1ADC9-27FF-4402-BC6C-AD66D23D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choice across 20 development splits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4562475"/>
          <a:ext xmlns:a="http://schemas.openxmlformats.org/drawingml/2006/main" cx="10972800" cy="1066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D5680-E4CD-4D5B-AC9A-E5F34155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splits overlap. These counts describe variation in model choice.</a:t>
            </a:r>
          </a:p>
        </p:txBody>
      </p:sp>
    </p:spTree>
    <p:extLst>
      <p:ext uri="{BB962C8B-B14F-4D97-AF65-F5344CB8AC3E}">
        <p14:creationId xmlns:p14="http://schemas.microsoft.com/office/powerpoint/2010/main" val="5621498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0882ED-E60F-42C9-8377-14F27131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prediction use the same 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A511B9-A0B6-49F9-841B-4978E939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90894-B54B-4093-B2C0-FF9D2A57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AD415-61F3-4BD6-B3EA-A9D7ACAC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CSV input through the command line or web application.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BCBA2-C6E6-462C-BEFC-D5DBECC9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5DF08-E0E9-49B0-8354-538CA5BC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C38F2-084A-4DE9-9B6A-E090758B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AFDD9-B5B1-4609-9903-692DD64E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</a:t>
            </a:r>
          </a:p>
        </p:txBody>
      </p:sp>
      <p:cxnSp>
        <p:nvCxnSpPr>
          <p:cNvPr id="2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FF5A5-A5D4-46D9-86AC-5C0466FD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valid request returns the specimen ID, model score, threshold, flag and model version.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measurements, negative counts or non-finite values stop scoring.</a:t>
            </a:r>
          </a:p>
        </p:txBody>
      </p:sp>
    </p:spTree>
    <p:extLst>
      <p:ext uri="{BB962C8B-B14F-4D97-AF65-F5344CB8AC3E}">
        <p14:creationId xmlns:p14="http://schemas.microsoft.com/office/powerpoint/2010/main" val="12771792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1B305-F2E8-41BE-802A-29998389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86D4F-38F2-4246-BCB9-53B88E3C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70EE77-3414-4B8A-B95B-51B19F40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4F1DE-FFAE-4D8D-AD86-705912AD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BA349-FFE1-4465-A59D-43BCFEC2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E6BF0-26E9-49F0-84DC-FA494DCE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7B87D-B935-4237-BEE1-EC5F3572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9332230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5257DB-6D79-44B8-ADB0-C0CE1307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A73B0-679C-4EE3-A7A5-71A47D60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53D05-52B1-4C24-BA8E-8F3E33D3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D3BC87-D132-4A57-B566-A263EA40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47925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495925"/>
              </a:tblGrid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Reordered columns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Same model score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Invalid or incomplete counts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F8D19-D00F-48DF-8409-46897678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passed, including these failure cases.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local container was checked. Cloud deployment is deferred.</a:t>
            </a:r>
          </a:p>
        </p:txBody>
      </p:sp>
    </p:spTree>
    <p:extLst>
      <p:ext uri="{BB962C8B-B14F-4D97-AF65-F5344CB8AC3E}">
        <p14:creationId xmlns:p14="http://schemas.microsoft.com/office/powerpoint/2010/main" val="8442252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75668C-DB65-4692-A0D0-41C02CDE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Testing the proposed use in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BA0C0-7E3B-4034-9B51-8D501573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research context; primary analysis; Banff work plan (2024). Proposed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AC7F4-3E36-4E59-9709-5DDD91AE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33FF5-93C0-4DB6-9253-5CB39A8B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establishes classification performance in one deposited study.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67175"/>
                <a:gridCol w="6905625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evaluation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33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Does performance hold in a new study?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New transplant biopsies with patient and center IDs and lab quality records.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Use the chosen models and thresholds.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1200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Does the score help with ambiguous biopsies?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Compare usual assessment with and without the molecular score.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Use independent review and follow-up outcomes.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670578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2714F-C655-4940-9BFB-75345AB5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Molecular counts can classify recorded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D158F-3C06-434E-BB3A-521F6341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FB051-C36F-48E2-959C-1D3B2B17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B6391-D3E1-4A78-95B0-14E6A658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A90B5-EBA9-464B-B7F7-E552A905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169 misses. 8 / 176 false flags.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CB923-9247-45C2-ADC7-AFC0737D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Logistic regression remains a credible simpler alternative.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project provides a reproducible classifier and a tested prediction service.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Next: test added value in ambiguous biopsies in a new study.</a:t>
            </a:r>
          </a:p>
        </p:txBody>
      </p:sp>
    </p:spTree>
    <p:extLst>
      <p:ext uri="{BB962C8B-B14F-4D97-AF65-F5344CB8AC3E}">
        <p14:creationId xmlns:p14="http://schemas.microsoft.com/office/powerpoint/2010/main" val="45413060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3A43C-F171-4D9C-BDBE-4A196752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measuring biopsy RNA with NanoString nCounter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95A7F-71B3-4E85-81A9-5E9E6562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CC687-8C91-424D-857B-737D5BEC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01FF6-47A7-47B3-84E7-75732BEE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 assay is a laboratory test. B-HOT is the fixed panel of RNA types measured in this study.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laboratory extracts RNA from preserved tissue. Probes recognize selected RNAs, and NanoString nCounter counts their identifying barcodes.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347ED-5B9D-4C4B-AAA1-F32BCC76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687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3070740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85153-A0A4-421A-94C0-B2CAD1D3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6A1AA-E30E-4604-A09F-40B49ACC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6FED1E-3EFF-4292-8FE4-C357DBA1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24100"/>
                <a:gridCol w="1295400"/>
                <a:gridCol w="1600200"/>
                <a:gridCol w="1914525"/>
                <a:gridCol w="1952625"/>
                <a:gridCol w="1885950"/>
              </a:tblGrid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523FA-3791-444F-9067-9350886F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1008456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2F0E7-BFF3-4807-8F84-BC62BB81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model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B18B6-4FBF-4E4C-95EC-E74B5199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shared preprocessing; primary model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D94FA-3DF0-4BF9-962D-67AB11B6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E6FB2-728D-4A28-AABA-AB387CA0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9051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Additional preparation and settings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52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Subtract each feature’s training mean, then divide by its training standard deviation. Reuse these values for later specimens.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Regularization: C = 0.1.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extra feature scaling.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300 trees, depth 4, learning rate 0.04.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51979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92D99-8FE5-460E-8493-B209E87F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interpreting model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8B0E6-594B-4124-8F45-A4B7D3ED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The highlighted bin has a Wilson 95% interval.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562C7-7D82-4701-B97E-89AAAF82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3A2A6-9413-428E-A142-165DA9BB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on 345 validation specimens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2047875"/>
          <a:ext xmlns:a="http://schemas.openxmlformats.org/drawingml/2006/main" cx="6915150" cy="3743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eb76cc05064b59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1E909-04D8-43C3-A2C6-6F090D11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52650"/>
            <a:ext cx="3609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29800-147B-4472-B636-43DE9737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886075"/>
            <a:ext cx="36099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score: 0.847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rejection: 7 / 16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Observed fraction: 43.8%
95% interval: 23.1–66.8%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106335-6FC0-40EE-A900-65A7DC67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95975"/>
            <a:ext cx="10687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Diagonal: score equals observed rejection fraction</a:t>
            </a:r>
          </a:p>
        </p:txBody>
      </p:sp>
    </p:spTree>
    <p:extLst>
      <p:ext uri="{BB962C8B-B14F-4D97-AF65-F5344CB8AC3E}">
        <p14:creationId xmlns:p14="http://schemas.microsoft.com/office/powerpoint/2010/main" val="164779374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B28EB-E52B-41C9-8A37-B3E0DE3D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rejection subtype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74F08-A8B7-40C1-8A6B-CC425D4B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the examined validation cohort; needs independent confirmation.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7EE0C-79F9-4B1F-B31F-F3C4840D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502C7A-ED13-4207-9B75-5B58C92A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 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7660766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B2474-CB25-4E6D-A224-4DB523C8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study,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D345E-E9C5-4792-8F29-EFD1DF19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 and Tables 5–6; primary analysis;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B4FFD-2B8E-4615-8F70-0377EC15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4314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67125"/>
                <a:gridCol w="7305675"/>
              </a:tblGrid>
              <a:tr h="4667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and remaining limits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separation?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Not documented. All specimens were processed at one laboratory.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population?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Includes 202 native-kidney controls.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Selected ambiguous diagnoses were excluded.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962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were tested. Laboratory quality was not independently reassessed.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Score calibration remains limited.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tested. Cloud work deferred.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8222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48973-B157-415C-B8A6-A4DEC5A0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00A0B-0AF4-48C9-BE6C-39C39953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46AFB-4D47-4E4C-BCFC-655424D8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DAA53-B552-4CA0-BA0D-AA8E089F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(2024): GSE212160 raw NanoString B-HOT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2C125-83C0-479A-904E-A87F0232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0C229-0674-41CC-9775-7BBAE8DD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model comparisons and runs produced here, shared preparation code, and a tested local prediction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B72F2-3F7A-41F1-A105-3C365DBB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Presentation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7E7E95-C9FC-4774-B544-25CAC2D7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(2007), Kosslyn et al. (2012), Garner and Alley (2013),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63415222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22FF8-19FB-464A-B272-D99AB8A8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D05CB-DB08-46A5-9D50-295FFE2E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321CF7-2D48-41C8-A9F8-E62ED21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9F4FE-5C18-4E70-8DDD-434C1D6C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90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UNOS researchers studied anatomical issues in donor kidney photographs.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Labels came from records of transplantation or refusal because of anatomy concerns.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intended use is to support clinical assessment and improve consistency.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connection: use recorded assessments to develop additional evidence for specialists.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7E465-4BEF-4BAD-876A-E308AB06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1068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is a different clinical task and does not validate my classifier.</a:t>
            </a:r>
          </a:p>
        </p:txBody>
      </p:sp>
    </p:spTree>
    <p:extLst>
      <p:ext uri="{BB962C8B-B14F-4D97-AF65-F5344CB8AC3E}">
        <p14:creationId xmlns:p14="http://schemas.microsoft.com/office/powerpoint/2010/main" val="6356236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2026-09-19T18:20:47.2940000Z</dcterms:created>
  <dcterms:modified xsi:type="dcterms:W3CDTF">2026-09-19T18:20:47.2940000Z</dcterms:modified>
</coreProperties>
</file>