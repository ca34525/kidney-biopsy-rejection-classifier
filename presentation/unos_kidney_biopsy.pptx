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88ae28bb225244cf" /><Relationship Type="http://schemas.openxmlformats.org/officeDocument/2006/relationships/extended-properties" Target="/docProps/app.xml" Id="Rac0586097c4e49e1" /><Relationship Type="http://schemas.openxmlformats.org/officeDocument/2006/relationships/officeDocument" Target="/ppt/presentation.xml" Id="R1a2d756377064c58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5153c5d5c674cd3"/>
  </p:sldMasterIdLst>
  <p:sldIdLst>
    <p:sldId id="256" r:id="Rc481852561f64624"/>
    <p:sldId id="257" r:id="R4d4b8f29a04e4ae0"/>
    <p:sldId id="258" r:id="R394013375e52471b"/>
    <p:sldId id="259" r:id="R356f93584a434c06"/>
    <p:sldId id="260" r:id="R6582056244b545f0"/>
    <p:sldId id="261" r:id="R84c4c32097e34b32"/>
    <p:sldId id="262" r:id="Rf151edb81419479d"/>
    <p:sldId id="263" r:id="Rc0db957f1f164523"/>
    <p:sldId id="264" r:id="R536cef82a022404d"/>
    <p:sldId id="265" r:id="Rcb83e24e2c4846fd"/>
    <p:sldId id="266" r:id="Racdb96ed9bcd4dae"/>
    <p:sldId id="267" r:id="R073d1c2fd388412f"/>
    <p:sldId id="268" r:id="R3b209f7bbcb048b7"/>
    <p:sldId id="269" r:id="R0db3849eb2934571"/>
    <p:sldId id="270" r:id="R95d8050e89014dcb"/>
    <p:sldId id="271" r:id="R18ba5b4fafff46cc"/>
    <p:sldId id="272" r:id="R4d5a41b0cc964e33"/>
    <p:sldId id="273" r:id="R86135c7d9e5e4027"/>
    <p:sldId id="274" r:id="Rf595fac587d94291"/>
    <p:sldId id="275" r:id="Rfa0f9465160541ec"/>
    <p:sldId id="276" r:id="Re496a8e9eca34bf2"/>
    <p:sldId id="277" r:id="R9af906b4bb9a4057"/>
    <p:sldId id="278" r:id="Rd43c1e34dbbf46a4"/>
    <p:sldId id="279" r:id="Rbe506a64701c4e9d"/>
    <p:sldId id="280" r:id="R5a508c19330248d8"/>
    <p:sldId id="281" r:id="R8fce2dc17c3e418e"/>
    <p:sldId id="282" r:id="R17bf343072884b5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41059f9b625146f4" /><Relationship Type="http://schemas.openxmlformats.org/officeDocument/2006/relationships/slideMaster" Target="/ppt/slideMasters/slideMaster1.xml" Id="R85153c5d5c674cd3" /><Relationship Type="http://schemas.openxmlformats.org/officeDocument/2006/relationships/presProps" Target="/ppt/presProps.xml" Id="R1b9c02e6809f4651" /><Relationship Type="http://schemas.openxmlformats.org/officeDocument/2006/relationships/tableStyles" Target="/ppt/tableStyles.xml" Id="R8b7055d505ec4b4b" /><Relationship Type="http://schemas.openxmlformats.org/officeDocument/2006/relationships/slide" Target="/ppt/slides/slide1.xml" Id="Rc481852561f64624" /><Relationship Type="http://schemas.openxmlformats.org/officeDocument/2006/relationships/slide" Target="/ppt/slides/slide2.xml" Id="R4d4b8f29a04e4ae0" /><Relationship Type="http://schemas.openxmlformats.org/officeDocument/2006/relationships/slide" Target="/ppt/slides/slide3.xml" Id="R394013375e52471b" /><Relationship Type="http://schemas.openxmlformats.org/officeDocument/2006/relationships/slide" Target="/ppt/slides/slide4.xml" Id="R356f93584a434c06" /><Relationship Type="http://schemas.openxmlformats.org/officeDocument/2006/relationships/slide" Target="/ppt/slides/slide5.xml" Id="R6582056244b545f0" /><Relationship Type="http://schemas.openxmlformats.org/officeDocument/2006/relationships/slide" Target="/ppt/slides/slide6.xml" Id="R84c4c32097e34b32" /><Relationship Type="http://schemas.openxmlformats.org/officeDocument/2006/relationships/slide" Target="/ppt/slides/slide7.xml" Id="Rf151edb81419479d" /><Relationship Type="http://schemas.openxmlformats.org/officeDocument/2006/relationships/slide" Target="/ppt/slides/slide8.xml" Id="Rc0db957f1f164523" /><Relationship Type="http://schemas.openxmlformats.org/officeDocument/2006/relationships/slide" Target="/ppt/slides/slide9.xml" Id="R536cef82a022404d" /><Relationship Type="http://schemas.openxmlformats.org/officeDocument/2006/relationships/slide" Target="/ppt/slides/slide10.xml" Id="Rcb83e24e2c4846fd" /><Relationship Type="http://schemas.openxmlformats.org/officeDocument/2006/relationships/slide" Target="/ppt/slides/slide11.xml" Id="Racdb96ed9bcd4dae" /><Relationship Type="http://schemas.openxmlformats.org/officeDocument/2006/relationships/slide" Target="/ppt/slides/slide12.xml" Id="R073d1c2fd388412f" /><Relationship Type="http://schemas.openxmlformats.org/officeDocument/2006/relationships/slide" Target="/ppt/slides/slide13.xml" Id="R3b209f7bbcb048b7" /><Relationship Type="http://schemas.openxmlformats.org/officeDocument/2006/relationships/slide" Target="/ppt/slides/slide14.xml" Id="R0db3849eb2934571" /><Relationship Type="http://schemas.openxmlformats.org/officeDocument/2006/relationships/slide" Target="/ppt/slides/slide15.xml" Id="R95d8050e89014dcb" /><Relationship Type="http://schemas.openxmlformats.org/officeDocument/2006/relationships/slide" Target="/ppt/slides/slide16.xml" Id="R18ba5b4fafff46cc" /><Relationship Type="http://schemas.openxmlformats.org/officeDocument/2006/relationships/slide" Target="/ppt/slides/slide17.xml" Id="R4d5a41b0cc964e33" /><Relationship Type="http://schemas.openxmlformats.org/officeDocument/2006/relationships/slide" Target="/ppt/slides/slide18.xml" Id="R86135c7d9e5e4027" /><Relationship Type="http://schemas.openxmlformats.org/officeDocument/2006/relationships/slide" Target="/ppt/slides/slide19.xml" Id="Rf595fac587d94291" /><Relationship Type="http://schemas.openxmlformats.org/officeDocument/2006/relationships/slide" Target="/ppt/slides/slide20.xml" Id="Rfa0f9465160541ec" /><Relationship Type="http://schemas.openxmlformats.org/officeDocument/2006/relationships/slide" Target="/ppt/slides/slide21.xml" Id="Re496a8e9eca34bf2" /><Relationship Type="http://schemas.openxmlformats.org/officeDocument/2006/relationships/slide" Target="/ppt/slides/slide22.xml" Id="R9af906b4bb9a4057" /><Relationship Type="http://schemas.openxmlformats.org/officeDocument/2006/relationships/slide" Target="/ppt/slides/slide23.xml" Id="Rd43c1e34dbbf46a4" /><Relationship Type="http://schemas.openxmlformats.org/officeDocument/2006/relationships/slide" Target="/ppt/slides/slide24.xml" Id="Rbe506a64701c4e9d" /><Relationship Type="http://schemas.openxmlformats.org/officeDocument/2006/relationships/slide" Target="/ppt/slides/slide25.xml" Id="R5a508c19330248d8" /><Relationship Type="http://schemas.openxmlformats.org/officeDocument/2006/relationships/slide" Target="/ppt/slides/slide26.xml" Id="R8fce2dc17c3e418e" /><Relationship Type="http://schemas.openxmlformats.org/officeDocument/2006/relationships/slide" Target="/ppt/slides/slide27.xml" Id="R17bf343072884b5d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b9f5095affa466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4ad847b381c34c28" /><Relationship Type="http://schemas.openxmlformats.org/officeDocument/2006/relationships/slideLayout" Target="/ppt/slideLayouts/slideLayout1.xml" Id="R41406f7f18334e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406f7f18334e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64aa47ac7d140f2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e2826b6d9084157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9cc5aad5d524fee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ad8ed8e6e0f48bd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12654917d694dcd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8ef38b1ebe84b0f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2d2e7f6aff4440c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2aaf525dc1947f3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d4a43ac1b6f41ec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903b60ed31142e2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273f1f41277476e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ebc0cc8475840d7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a84005809b741af" /><Relationship Type="http://schemas.openxmlformats.org/officeDocument/2006/relationships/chart" Target="/ppt/slides/charts/chart1.xml" Id="R04a95d95f32d4e31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a3a3457170f4872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32b13ffb70548b5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c22250d8fe54183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ba8fd74d0a041d9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6458997e2044bff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bfdedc870ac4a17" 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906a6a8ebea4707" 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7d4e42fe9dd4d13" 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01030e5287314d92" /></Relationships>
</file>

<file path=ppt/slides/_rels/slide2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3101c3b7c5f40a9" /><Relationship Type="http://schemas.openxmlformats.org/officeDocument/2006/relationships/chart" Target="/ppt/slides/charts/chart2.xml" Id="Rfb4ac855716a48e7" /></Relationships>
</file>

<file path=ppt/slides/_rels/slide2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726ecb43e7342a8" /></Relationships>
</file>

<file path=ppt/slides/_rels/slide2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eeaceadf7a64697" /></Relationships>
</file>

<file path=ppt/slides/_rels/slide2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419414fb5bbc450a" /></Relationships>
</file>

<file path=ppt/slides/_rels/slide2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135c724518148d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Missed rejection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</c:v>
                </c:pt>
                <c:pt idx="1">
                  <c:v>Logistic regression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False flags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</c:v>
                </c:pt>
                <c:pt idx="1">
                  <c:v>Logistic regression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>
              <a:solidFill>
                <a:srgbClr val="16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Agreement</c:v>
          </c:tx>
          <c:spPr>
            <a:ln xmlns:a="http://schemas.openxmlformats.org/drawingml/2006/main" w="13335">
              <a:solidFill>
                <a:srgbClr val="52656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Observed bins</c:v>
          </c:tx>
          <c:spPr>
            <a:solidFill xmlns:a="http://schemas.openxmlformats.org/drawingml/2006/main">
              <a:srgbClr val="007C78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  <c:spPr>
              <a:noFill xmlns:a="http://schemas.openxmlformats.org/drawingml/2006/main"/>
            </c:spPr>
          </c:marker>
          <c:xVal>
            <c:numRef>
              <c:f>'Chart Data'!$C$2:$C$11</c:f>
              <c:numCache>
                <c:formatCode>General</c:formatCode>
                <c:ptCount val="10"/>
                <c:pt idx="0">
                  <c:v>0.02236</c:v>
                </c:pt>
                <c:pt idx="1">
                  <c:v>0.150831</c:v>
                </c:pt>
                <c:pt idx="2">
                  <c:v>0.256868</c:v>
                </c:pt>
                <c:pt idx="3">
                  <c:v>0.33529</c:v>
                </c:pt>
                <c:pt idx="4">
                  <c:v>0.462784</c:v>
                </c:pt>
                <c:pt idx="5">
                  <c:v>0.535663</c:v>
                </c:pt>
                <c:pt idx="6">
                  <c:v>0.66592</c:v>
                </c:pt>
                <c:pt idx="7">
                  <c:v>0.764537</c:v>
                </c:pt>
                <c:pt idx="8">
                  <c:v>0.847196</c:v>
                </c:pt>
                <c:pt idx="9">
                  <c:v>0.983569</c:v>
                </c:pt>
              </c:numCache>
            </c:numRef>
          </c:xVal>
          <c:yVal>
            <c:numRef>
              <c:f>'Chart Data'!$D$2:$D$11</c:f>
              <c:numCache>
                <c:formatCode>0.0</c:formatCode>
                <c:ptCount val="10"/>
                <c:pt idx="0">
                  <c:v>0.02963</c:v>
                </c:pt>
                <c:pt idx="1">
                  <c:v>0.25</c:v>
                </c:pt>
                <c:pt idx="2">
                  <c:v>0.333333</c:v>
                </c:pt>
                <c:pt idx="3">
                  <c:v>0.222222</c:v>
                </c:pt>
                <c:pt idx="4">
                  <c:v>0.5</c:v>
                </c:pt>
                <c:pt idx="5">
                  <c:v>0.5</c:v>
                </c:pt>
                <c:pt idx="6">
                  <c:v>0.375</c:v>
                </c:pt>
                <c:pt idx="7">
                  <c:v>0.5</c:v>
                </c:pt>
                <c:pt idx="8">
                  <c:v>0.4375</c:v>
                </c:pt>
                <c:pt idx="9">
                  <c:v>0.959459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Recorded rejection fraction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00">
                    <a:solidFill>
                      <a:srgbClr val="16343E"/>
                    </a:solidFill>
                    <a:latin typeface="Arial"/>
                    <a:ea typeface="Arial"/>
                    <a:cs typeface="Arial"/>
                  </a:rPr>
                  <a:t>Mean model score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7F8F5"/>
        </a:solidFill>
      </c:spPr>
    </c:plotArea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CB2EFE-BAB3-4A49-AED1-AF23F23F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11003803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7FA112-4C67-4166-9A6B-7A5060B3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biopsy: key concepts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1DC902-E88E-4558-8163-AD09CAF4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5E3AF-1D8E-46B7-B644-EF555F6D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0C4F23-E56A-43BC-9A73-B98FD8EC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Rejection: the recipient’s immune system attacks the donated kidney.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Two kinds of evidence from tissue already collected: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1D3360-0C7B-43A5-949B-79B576EC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170E8B-BF9C-41FE-B267-0FD92411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90975"/>
            <a:ext cx="28384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6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Biopsy tissue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CD9BB8-64BD-4B16-8C84-F4B87C89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57700"/>
            <a:ext cx="2838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small sample</a:t>
            </a:r>
          </a:p>
          <a:p xmlns:a="http://schemas.openxmlformats.org/drawingml/2006/main">
            <a:pPr algn="ctr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from the kidney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E4AB0E-E4F5-48A1-9707-94F420E2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09925"/>
            <a:ext cx="6305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AE4FC-1631-447C-A317-E05BF938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33750"/>
            <a:ext cx="600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Microscopic examination (histology)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B82A4-5E4F-4A58-BA62-630B64C8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810000"/>
            <a:ext cx="600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diagnosis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E6F12-9F6A-4FC9-9284-E88A2B53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86300"/>
            <a:ext cx="63055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C2CF66-3BBB-44DD-841F-59C91BF3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10125"/>
            <a:ext cx="600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Molecular measurements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AE0B15-304A-4BDB-B25B-6EE84E9C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86375"/>
            <a:ext cx="600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Inputs to the model</a:t>
            </a:r>
          </a:p>
        </p:txBody>
      </p:sp>
      <p:cxnSp>
        <p:nvCxnSpPr>
          <p:cNvPr id="29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4038600" y="3781425"/>
            <a:ext cx="1238250" cy="7429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30" name=""/>
          <p:cNvCxnSpPr>
            <a:stCxn xmlns:a="http://schemas.openxmlformats.org/drawingml/2006/main" id="5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038600" y="4524375"/>
            <a:ext cx="1238250" cy="7334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11394900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1A73E3-8DBB-4CA3-916A-1850D3FD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Possible Use: Molecular Second Opinion for Ambiguous Biopsies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48D229-5FDD-4DD9-8A8E-1828D0B8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Banff reference guide (updated Apr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F2BB8E-009D-4BBC-94BF-8BA1EB51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88FAA4-D1C8-45BD-95D5-64C2C203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Sometimes the microscopic findings are borderline or conflict with other clinical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84CCFA-7D50-4F8B-901B-9B03975C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81325"/>
            <a:ext cx="4057650" cy="942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Histology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Tissue appearance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69D4E2-CCD0-47D3-9BFD-1B3E15F0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057650" cy="942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measurements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Gene activity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13B1C5-8324-4B39-B192-DC07CE25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38525"/>
            <a:ext cx="41719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Specialist review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Additional molecular evidence</a:t>
            </a:r>
          </a:p>
        </p:txBody>
      </p:sp>
      <p:cxnSp>
        <p:nvCxnSpPr>
          <p:cNvPr id="18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953000" y="3452813"/>
            <a:ext cx="2457450" cy="7000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4953000" y="4152900"/>
            <a:ext cx="2457450" cy="5857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2312BE-C401-47E5-B684-127DE249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530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 tests how well RNA classifies recorded rejection diagnoses.</a:t>
            </a:r>
          </a:p>
        </p:txBody>
      </p:sp>
    </p:spTree>
    <p:extLst>
      <p:ext uri="{BB962C8B-B14F-4D97-AF65-F5344CB8AC3E}">
        <p14:creationId xmlns:p14="http://schemas.microsoft.com/office/powerpoint/2010/main" val="8476470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7AF8AE-D6B2-42B3-9D45-36399512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Evidence for a molecular second opinion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3593DE-56AC-4E46-9599-2FBB809D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3AFEA9-6052-461B-8611-36E924E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26098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guidance</a:t>
            </a:r>
          </a:p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8F0B82-EBC3-41DD-B03E-9DBD3FB1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33525"/>
            <a:ext cx="81057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Considers validated molecular tests</a:t>
            </a:r>
          </a:p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for difficult biopsy interpretations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C4E17-CEE3-475C-844D-B619A69A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DAAA90-D4EF-4C53-90FA-BBA68F92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B-HOT study</a:t>
            </a:r>
          </a:p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Rosales, 2022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886A8C-9614-4FAF-9779-036F1D91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62275"/>
            <a:ext cx="81057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Higher initial molecular scores in patients who</a:t>
            </a:r>
          </a:p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later developed chronic active antibody-mediated</a:t>
            </a:r>
          </a:p>
          <a:p xmlns:a="http://schemas.openxmlformats.org/drawingml/2006/main">
            <a:pPr algn="l"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rejection, despite no initial diagnosis of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7B4EB2-4EAA-43A7-81B0-E523CFFE8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D592C9-7AC9-4A38-A4C6-86CA4BDC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can add information beyond the initial tissue diagnosis.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FBBF5B-987E-460B-9372-7161C0CB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 tests recorded diagnoses. Added value in ambiguous cases needs testing.</a:t>
            </a:r>
          </a:p>
        </p:txBody>
      </p:sp>
    </p:spTree>
    <p:extLst>
      <p:ext uri="{BB962C8B-B14F-4D97-AF65-F5344CB8AC3E}">
        <p14:creationId xmlns:p14="http://schemas.microsoft.com/office/powerpoint/2010/main" val="820664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03FAF4-5257-4778-BF4E-3C6C0A157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diagnoses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AEC63-7F7C-4128-84D7-FE55C9C1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Zhang et al. (2024), GSE212160;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E00376-B5B3-4CA5-8557-17B643210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3495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9913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C51ADA-2DE0-477A-8791-63236F5A4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main question combines all three forms of rejection.</a:t>
            </a:r>
          </a:p>
        </p:txBody>
      </p:sp>
    </p:spTree>
    <p:extLst>
      <p:ext uri="{BB962C8B-B14F-4D97-AF65-F5344CB8AC3E}">
        <p14:creationId xmlns:p14="http://schemas.microsoft.com/office/powerpoint/2010/main" val="15875202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F7B1C9-3891-4E54-B61C-50CCDEA3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Measuring biopsy RNA with NanoString nCounter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5256FC-1DEF-4D4A-A3D5-182FE3DF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Bruker nCounter documentation; GSE212160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8F38C4-DE11-4797-A1D9-6D65AA47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89749-53B4-47EC-B593-23F0AEE98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includes messages cells make when genes are active.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An assay is a laboratory test. This study uses the B-HOT panel, a fixed list of RNA molecules to measure.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NanoString nCounter uses probes to recognize those molecules and counts their identifying barcodes.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82CF88-14AA-4DC5-803C-E1D526FC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10687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Example: IFNG count = 4 in one public specimen</a:t>
            </a:r>
          </a:p>
        </p:txBody>
      </p:sp>
    </p:spTree>
    <p:extLst>
      <p:ext uri="{BB962C8B-B14F-4D97-AF65-F5344CB8AC3E}">
        <p14:creationId xmlns:p14="http://schemas.microsoft.com/office/powerpoint/2010/main" val="11411026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191012-E61C-4A11-BF18-FD044809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by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447FDC-4E8D-40DE-B026-302361D9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 (2020); project data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69C88D-B79F-4F69-A3DB-D6AAAF78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43A0A-3223-4E6E-9827-80B55A16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770 RNA counts per specimen, one for each named assay target.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C93B5-D367-4990-B52E-3824A467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47900"/>
            <a:ext cx="10687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target is the RNA molecule a probe recognizes.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35C4F-FF47-416B-A0DD-47F464B5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095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275F3D-C31B-4599-BC75-BA148F8F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6224BB-9480-4954-86DC-AFDD2D21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143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counts are the model inputs.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 human and viral RNA.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depend on gene activity and the cell mixture.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C367C-1A5C-464D-A6FB-D0F342AC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7146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A07998-AB13-4388-8E57-93FA27BB8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51472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267E2-A675-4E31-BCAC-90B0DEFD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095750"/>
            <a:ext cx="50387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12 different reference RNAs.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to normalize the other counts.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Excluded as separate model inputs.</a:t>
            </a:r>
          </a:p>
        </p:txBody>
      </p:sp>
    </p:spTree>
    <p:extLst>
      <p:ext uri="{BB962C8B-B14F-4D97-AF65-F5344CB8AC3E}">
        <p14:creationId xmlns:p14="http://schemas.microsoft.com/office/powerpoint/2010/main" val="637280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BFA118-3899-49CC-8ADD-C2527D58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B1425-4983-43CE-A52B-31AD8B2E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 raw count archive and sample metadata;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99A3F3-5408-4B9D-9D47-D2A260CE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264782-6810-4166-AA89-1F098EFA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BC42D9-C998-400E-ABB2-96BBB5E0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0275"/>
            <a:ext cx="10687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Two linked tables assembled from the public files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AF50F-BB6D-419E-8FDA-4BAA3BA39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F4CDD8-D643-4F33-9006-F0FC7ED5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8130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609600" y="33337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"/>
          <p:cNvGraphicFramePr/>
          <p:nvPr/>
        </p:nvGraphicFramePr>
        <p:xfrm>
          <a:off xmlns:a="http://schemas.openxmlformats.org/drawingml/2006/main" x="6819900" y="33337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475C6B-7BE3-49A3-BC32-0D69D14A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0195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1D86F1-BB89-4B18-B489-0AFB8756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6195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47ABA9-5DD3-4602-939E-E959B222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957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817103-00AC-4F60-B774-AAAD3B17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counts do not establish the number of independent patients.</a:t>
            </a:r>
          </a:p>
        </p:txBody>
      </p:sp>
    </p:spTree>
    <p:extLst>
      <p:ext uri="{BB962C8B-B14F-4D97-AF65-F5344CB8AC3E}">
        <p14:creationId xmlns:p14="http://schemas.microsoft.com/office/powerpoint/2010/main" val="7146858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C75247-B75F-462D-A37C-121EF351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421FD-9736-4168-BC7F-65B11D23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ABE775-812E-4191-88B9-1F5F49FF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797640-FA84-4A95-A535-8035A3FD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RNAs help account for differences in how much RNA a specimen supplies.</a:t>
            </a:r>
          </a:p>
        </p:txBody>
      </p:sp>
    </p:spTree>
    <p:extLst>
      <p:ext uri="{BB962C8B-B14F-4D97-AF65-F5344CB8AC3E}">
        <p14:creationId xmlns:p14="http://schemas.microsoft.com/office/powerpoint/2010/main" val="2415544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348617-FF85-4CB1-B9B9-158EBEC5B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1276CD-3B78-4DBD-BB7C-5F5045AE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authors’ cohorts and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B99DDA-0C91-438E-800B-82761033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8D15C0-96D0-49B7-A1CE-EAAF2A610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We use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Our training / screening split keeps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4B44D0-C8EF-49F5-BEAD-4C92EF72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BD9D78-BE87-4666-ABF7-CEBBD888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52553A-BC65-44F3-9CD0-F026A1E9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9FF109-5D72-4617-A3E7-A5C099E0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DF8E9F-C83F-419C-8B05-F1180C49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Patient and center independence are unverified.</a:t>
            </a:r>
          </a:p>
        </p:txBody>
      </p:sp>
    </p:spTree>
    <p:extLst>
      <p:ext uri="{BB962C8B-B14F-4D97-AF65-F5344CB8AC3E}">
        <p14:creationId xmlns:p14="http://schemas.microsoft.com/office/powerpoint/2010/main" val="22589448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4A78EE-20F1-4479-BEE5-A3E52685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02C5B-49AA-4C0C-B875-4CC16112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configuration and analysis,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A4905B-BF7A-40D1-A7E4-2AC6507D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5E899E-915C-42FD-9738-0AE50934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RNA preparation and the same evaluation specimens.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419350"/>
          <a:ext xmlns:a="http://schemas.openxmlformats.org/drawingml/2006/main" cx="109728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learns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relationship using one RNA measurement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combination of decision trees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45559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A988CF-72B8-4A1F-B937-5003CCD9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Choosing a rejection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EB1ACE-F8AF-4E77-AC3F-89428946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discovery screening rule and selected model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B91766-499E-447D-B948-20B5C909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3FEFC4-AC6E-4367-82CF-2324A442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Flag rejection when the model score is at or above the threshold.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931760-2AB4-49FE-BF67-32B70847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5267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Missed rejection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834B4D-1BF0-44D9-BA38-AA8C8013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47975"/>
            <a:ext cx="4876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rejection,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below the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647157-7297-4305-BD8F-2F1033B94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5267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False flag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E2B4D2-4E33-4609-9856-89664E72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47975"/>
            <a:ext cx="4876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no rejection,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at or above the threshold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301336-A191-4C7F-8BD7-96237500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Selection using screening specimens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609600" y="4133850"/>
          <a:ext xmlns:a="http://schemas.openxmlformats.org/drawingml/2006/main" cx="10972800" cy="1619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66800"/>
                <a:gridCol w="9906000"/>
              </a:tblGrid>
              <a:tr h="4048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171450" marR="142875" marT="38100" marB="381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Rule</a:t>
                      </a:r>
                    </a:p>
                  </a:txBody>
                  <a:tcPr marL="171450" marR="142875" marT="38100" marB="38100" anchor="ctr">
                    <a:solidFill>
                      <a:srgbClr val="16343E"/>
                    </a:solidFill>
                  </a:tcPr>
                </a:tc>
              </a:tr>
              <a:tr h="4048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71450" marR="142875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Detect at least 90% of recorded rejection cases.</a:t>
                      </a:r>
                    </a:p>
                  </a:txBody>
                  <a:tcPr marL="171450" marR="142875" marT="38100" marB="38100" anchor="ctr">
                    <a:solidFill>
                      <a:srgbClr val="FFFFFF"/>
                    </a:solidFill>
                  </a:tcPr>
                </a:tc>
              </a:tr>
              <a:tr h="4048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71450" marR="142875" marT="38100" marB="381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Among qualifying choices, minimize false flags.</a:t>
                      </a:r>
                    </a:p>
                  </a:txBody>
                  <a:tcPr marL="171450" marR="142875" marT="38100" marB="38100" anchor="ctr">
                    <a:solidFill>
                      <a:srgbClr val="EDF3F0"/>
                    </a:solidFill>
                  </a:tcPr>
                </a:tc>
              </a:tr>
              <a:tr h="4048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71450" marR="142875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Keep the chosen model and threshold for evaluation.</a:t>
                      </a:r>
                    </a:p>
                  </a:txBody>
                  <a:tcPr marL="171450" marR="142875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77F3ED-A2D9-443D-A82A-9FE3FE22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cutoff: 0.876588. The 90% target is an experiment choice.</a:t>
            </a:r>
          </a:p>
        </p:txBody>
      </p:sp>
    </p:spTree>
    <p:extLst>
      <p:ext uri="{BB962C8B-B14F-4D97-AF65-F5344CB8AC3E}">
        <p14:creationId xmlns:p14="http://schemas.microsoft.com/office/powerpoint/2010/main" val="2156648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8EBD9-3B8D-4594-845B-81BA9BD6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Several measurements reduced false flags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63D44D-8C6F-4B88-978E-1C5A7053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Each model keeps its chosen threshold.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29FF8-76F6-431B-ABB4-69CB9E61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13AE14-23E3-440D-944C-694DAF4B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3114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a95d95f32d4e3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0F0FE3-8733-4A98-A34F-16848C65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/ 169 missed and 176 / 176 false flags. It flags everyone.</a:t>
            </a:r>
          </a:p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versus IFNG: 67 fewer false flags, 11 more misses.</a:t>
            </a:r>
          </a:p>
        </p:txBody>
      </p:sp>
    </p:spTree>
    <p:extLst>
      <p:ext uri="{BB962C8B-B14F-4D97-AF65-F5344CB8AC3E}">
        <p14:creationId xmlns:p14="http://schemas.microsoft.com/office/powerpoint/2010/main" val="135110257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58087B-0046-49C4-937E-575A920B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Most CatBoost misses were T-cell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78BEF5-B98F-4273-B5BF-6BD7D781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 and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852DD6-2D3D-4AD5-83ED-FDE521C0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38DAC5-D784-4833-8BD3-8D9F3020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466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144 / 169 detected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81E730-9F3A-41B2-BCF8-691D3308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85.2% sensitivity in evaluation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F2806C-190A-472A-81E0-C6AF555D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45148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157 / 174 detected (90.2%).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Evaluation falls below the 90% selection target.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827623-50CD-4A47-8A6D-C66EA70D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66875"/>
            <a:ext cx="5915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Misses by recorded diagnosis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667375" y="2381250"/>
          <a:ext xmlns:a="http://schemas.openxmlformats.org/drawingml/2006/main" cx="5915025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81425"/>
                <a:gridCol w="2133600"/>
              </a:tblGrid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rejection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Missed / total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56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18 / 95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773906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 / 18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313965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DAA131-86A2-490B-BE7A-74FEDD5F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advantage over logistic regression is uncertain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DA8552-D72D-48E3-83D7-3FC4DB72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paired bootstrap analysis; discovery stability follow-up, 17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F9F31C-9CD4-4909-A5D6-5B27A44A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58A984-D573-40C7-9C57-683BD854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versus logistic regression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8964F-ECB6-4C54-BE96-BE04C477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9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8 fewer misses among the same 169 rejection specimens.</a:t>
            </a:r>
          </a:p>
          <a:p xmlns:a="http://schemas.openxmlformats.org/drawingml/2006/main">
            <a:pPr marL="279400" indent="-152400" algn="l">
              <a:spcAft>
                <a:spcPts val="9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Both make 8 false flags among 176 no-rejection specimens.</a:t>
            </a:r>
          </a:p>
          <a:p xmlns:a="http://schemas.openxmlformats.org/drawingml/2006/main">
            <a:pPr marL="279400" indent="-152400" algn="l">
              <a:spcAft>
                <a:spcPts val="9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95% interval for the detection advantage includes zero.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E893DA-205C-4022-BBDF-8A9E700E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choice across 20 development splits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4562475"/>
          <a:ext xmlns:a="http://schemas.openxmlformats.org/drawingml/2006/main" cx="10972800" cy="1066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13 selections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 selections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00A108-F0D5-46EC-B65B-B6799727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splits overlap. These counts describe variation in model choice.</a:t>
            </a:r>
          </a:p>
        </p:txBody>
      </p:sp>
    </p:spTree>
    <p:extLst>
      <p:ext uri="{BB962C8B-B14F-4D97-AF65-F5344CB8AC3E}">
        <p14:creationId xmlns:p14="http://schemas.microsoft.com/office/powerpoint/2010/main" val="48944509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1B70B4-FD6C-46DB-A45C-0C7865AF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 and prediction use the same preparation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C81F8-204A-41C5-B4BB-983B0FBC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 and Predictor; application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E6D626-EFF1-4358-AEDB-DFCDD796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58AA5A-9F7B-4F48-9782-5A4C1388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CSV input through the command line or web application.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A384BB-4582-46F6-8264-545B2E05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Read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D686FB-F11E-4A22-8164-36E02A6FC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 names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and numbers</a:t>
            </a:r>
          </a:p>
        </p:txBody>
      </p:sp>
      <p:cxnSp>
        <p:nvCxnSpPr>
          <p:cNvPr id="1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480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79E12C-7DB9-4CFE-AEC4-87B9A250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758 inputs</a:t>
            </a:r>
          </a:p>
        </p:txBody>
      </p: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8645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A52BDF-53A9-47C0-BE92-4332A1D0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09825"/>
            <a:ext cx="2438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with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model</a:t>
            </a:r>
          </a:p>
        </p:txBody>
      </p:sp>
      <p:cxnSp>
        <p:nvCxnSpPr>
          <p:cNvPr id="23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724900" y="302895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9358A1-50AA-4A55-886A-2694A99D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valid request returns the specimen ID, model score, threshold, flag and model version.</a:t>
            </a:r>
          </a:p>
          <a:p xmlns:a="http://schemas.openxmlformats.org/drawingml/2006/main">
            <a:pPr marL="279400" indent="-152400" algn="l">
              <a:spcAft>
                <a:spcPts val="2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Missing or duplicate measurements, negative counts or non-finite values stop scoring.</a:t>
            </a:r>
          </a:p>
        </p:txBody>
      </p:sp>
    </p:spTree>
    <p:extLst>
      <p:ext uri="{BB962C8B-B14F-4D97-AF65-F5344CB8AC3E}">
        <p14:creationId xmlns:p14="http://schemas.microsoft.com/office/powerpoint/2010/main" val="63668169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2FA0FB-F4BC-4D95-BA50-6022DF4B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public specimen through the service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5F1DA3-C991-4B22-99D7-B6BD9A5C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public discovery-screen example and saved application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E2108A-6BEF-4ABE-856D-1C07E197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E6B77-4EDD-425C-A942-082360B6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GSM6510425: recorded no rejection.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371725"/>
          <a:ext xmlns:a="http://schemas.openxmlformats.org/drawingml/2006/main" cx="10972800" cy="1314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5650"/>
                <a:gridCol w="3486150"/>
                <a:gridCol w="4191000"/>
              </a:tblGrid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score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Selected threshold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Rejection flag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(below cutoff)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D8AD1F-978E-41D5-A7F7-04FB3E1B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Model: 20260915_shared:any_rejection:catboost_all_depth4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008C59-7AD6-4F1D-B52C-B4A4B312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097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complete input produces a flag that agrees with the recorded diagnosis.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Removing IFNG clears the previous result and returns no new score.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EDC33D-DB3B-4308-A37F-A4DC3F0B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10687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“Missing required assay targets: IFNG”</a:t>
            </a:r>
          </a:p>
        </p:txBody>
      </p:sp>
    </p:spTree>
    <p:extLst>
      <p:ext uri="{BB962C8B-B14F-4D97-AF65-F5344CB8AC3E}">
        <p14:creationId xmlns:p14="http://schemas.microsoft.com/office/powerpoint/2010/main" val="61056716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B47637-1ECC-4292-A572-407EC99C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service reproduces all 345 saved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BADA63-CC2C-4EF9-BDF8-EF88C26E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local verification, 17 Sep 2026. Software consistency check.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89561-F316-4005-96F2-F19C4F94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145D7C-F66F-471A-8925-BEAE1079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API, command line and saved evaluation agree within 10⁻¹².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47925"/>
          <a:ext xmlns:a="http://schemas.openxmlformats.org/drawingml/2006/main" cx="109728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5495925"/>
              </a:tblGrid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Observed behavior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Reordered columns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Same model score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Invalid or incomplete counts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score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5953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Incompatible model metadata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2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Model does not load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00E77E-790F-4AAF-8DB4-B92647E9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94 tests passed, including these failure cases.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local container was checked. Cloud deployment is deferred.</a:t>
            </a:r>
          </a:p>
        </p:txBody>
      </p:sp>
    </p:spTree>
    <p:extLst>
      <p:ext uri="{BB962C8B-B14F-4D97-AF65-F5344CB8AC3E}">
        <p14:creationId xmlns:p14="http://schemas.microsoft.com/office/powerpoint/2010/main" val="3660826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740FF-D326-4739-9204-783BE32A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Testing the proposed use in ambiguous biopsies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3D2290-08AB-47D9-82EE-8179E564C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project research context; primary analysis; Banff work plan (2024). Proposed evaluation.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3127BE-AF48-4C61-BBA8-59667254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FDAF2-7508-4986-85BF-89D3F0B6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 establishes classification performance in one deposited study.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571750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67175"/>
                <a:gridCol w="6905625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Proposed evaluation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1333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Does performance hold in a new study?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New biopsies with patient and center IDs and lab quality records.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Use the chosen models and thresholds.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1200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Does the score help with ambiguous biopsies?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Compare usual assessment with and without the molecular score.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Use independent review and follow-up outcomes.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38943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2B75B0-AF13-4310-9837-7289C14F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Molecular counts can classify recorded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B7E2F-DCA1-48E0-9383-5264029D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Presentation prepared with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D5DD3-664A-43E9-A0FB-EFB33370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A226D4-D066-4823-B6A4-280C4574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CatBoost, 345 evaluation specimens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977733-098C-4649-885C-0A079EDD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25 / 169 misses. 8 / 176 false flags.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9C6BAD-2F05-4186-B990-254C2956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Logistic regression remains a credible simpler alternative.</a:t>
            </a:r>
          </a:p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project provides a reproducible classifier and a tested prediction service.</a:t>
            </a:r>
          </a:p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Next: test added value in ambiguous biopsies in a new study.</a:t>
            </a:r>
          </a:p>
        </p:txBody>
      </p:sp>
    </p:spTree>
    <p:extLst>
      <p:ext uri="{BB962C8B-B14F-4D97-AF65-F5344CB8AC3E}">
        <p14:creationId xmlns:p14="http://schemas.microsoft.com/office/powerpoint/2010/main" val="1341976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41D0E-0763-4998-B77C-CDDAE5D3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complete primary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D1A8C5-B995-42D2-8FC7-20F8C7AD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Same 345 specimens.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B02D9B-92E7-4881-A45B-4FD60A18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885950"/>
          <a:ext xmlns:a="http://schemas.openxmlformats.org/drawingml/2006/main" cx="10972800" cy="3276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24100"/>
                <a:gridCol w="1295400"/>
                <a:gridCol w="1600200"/>
                <a:gridCol w="1914525"/>
                <a:gridCol w="1952625"/>
                <a:gridCol w="1885950"/>
              </a:tblGrid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Misses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Sensitivity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85.2%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33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80.5%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95.5%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0.956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75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91.7%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57.4%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0.842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100.0%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0.0%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0.500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B6C998-22B5-48D3-AB7B-75B8909D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Denominators: 169 rejection; 176 no rejection. Fixed thresholds per model.</a:t>
            </a:r>
          </a:p>
        </p:txBody>
      </p:sp>
    </p:spTree>
    <p:extLst>
      <p:ext uri="{BB962C8B-B14F-4D97-AF65-F5344CB8AC3E}">
        <p14:creationId xmlns:p14="http://schemas.microsoft.com/office/powerpoint/2010/main" val="195192297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8EF567-2DDB-4D67-A698-BA88B1F9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normalization and model settings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B9B691-BAC7-44A5-ADCA-5E0B38B4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shared preprocessing; primary model configuration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4833B-0E21-4BFD-8611-4730F08F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189C1-E7E8-4151-A74E-FF130AEA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measurement = log₂(raw count + 1)</a:t>
            </a:r>
          </a:p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− mean of the 12 housekeeping log₂(count + 1) values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905125"/>
          <a:ext xmlns:a="http://schemas.openxmlformats.org/drawingml/2006/main" cx="109728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8115300"/>
              </a:tblGrid>
              <a:tr h="5143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Additional preparation and settings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1352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Subtract each feature’s training mean, then divide by its training standard deviation. Reuse these values for later specimens.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Regularization: C = 0.1.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extra feature scaling.</a:t>
                      </a:r>
                    </a:p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300 trees, depth 4, learning rate 0.04.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865541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345A45-7457-4618-A5FB-BF945057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interpreting model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AC9F8F-AB46-4144-BA51-D0970259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reliability_bins.csv. The highlighted bin has a Wilson 95% interval. No recalibration fitted.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0B5AED-9F2D-45B8-AD96-1A635EB3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4BC38F-9064-4F92-89D2-C2B0A211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on 345 validation specimens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561975" y="2047875"/>
          <a:ext xmlns:a="http://schemas.openxmlformats.org/drawingml/2006/main" cx="6915150" cy="3743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4ac855716a48e7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21066F-3C2C-4A8A-9B6E-8176D8F7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152650"/>
            <a:ext cx="3609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bin 0.8–0.9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826CE7-8AB9-4B57-9F22-75763018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886075"/>
            <a:ext cx="36099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Mean score: 0.847</a:t>
            </a:r>
          </a:p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rejection: 7 / 16</a:t>
            </a:r>
          </a:p>
          <a:p xmlns:a="http://schemas.openxmlformats.org/drawingml/2006/main">
            <a:pPr marL="279400" indent="-152400" algn="l">
              <a:spcAft>
                <a:spcPts val="2000"/>
              </a:spcAft>
              <a:buChar char="•"/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Observed fraction: 43.8%
95% interval: 23.1–66.8%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400732-337E-440D-9227-A82BDFB3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95975"/>
            <a:ext cx="10687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Diagonal: score equals observed rejection fraction</a:t>
            </a:r>
          </a:p>
        </p:txBody>
      </p:sp>
    </p:spTree>
    <p:extLst>
      <p:ext uri="{BB962C8B-B14F-4D97-AF65-F5344CB8AC3E}">
        <p14:creationId xmlns:p14="http://schemas.microsoft.com/office/powerpoint/2010/main" val="194024379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CF9AE-21E6-4768-9D4F-013ABD04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rejection subtype follow-up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82C63C-9C2F-4960-A9F7-4D1AC71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subtype follow-up, 15 Sep 2026. Reuses the examined validation cohort; needs independent confirmation.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EB78B9-ED56-42EB-96A5-EE1D713C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05000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67300"/>
                <a:gridCol w="3257550"/>
                <a:gridCol w="264795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Any-rejection misses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False flags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Binary CatBoost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25 / 169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29 / 169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8 / 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Four-class logistic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28 / 169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10 / 176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Separate component models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24 / 169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 / 176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5503DB-F7F3-40F6-B37B-11ADDC32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logistic recognized 10 / 18 mixed diagnoses, with 5 false mixed calls among 327 non-mixed specimens.</a:t>
            </a:r>
          </a:p>
        </p:txBody>
      </p:sp>
    </p:spTree>
    <p:extLst>
      <p:ext uri="{BB962C8B-B14F-4D97-AF65-F5344CB8AC3E}">
        <p14:creationId xmlns:p14="http://schemas.microsoft.com/office/powerpoint/2010/main" val="205380513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9198B1-2FC2-4004-9E80-60BB46D2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study, assay and deployment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2AF34A-5697-4DC6-B685-5066496A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analysis, research context, and current verification guide.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1476B4-413B-42AC-9F76-7574219B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990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71950"/>
                <a:gridCol w="6800850"/>
              </a:tblGrid>
              <a:tr h="7981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Question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the project establishes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7981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Patient / center independence?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Unverified. Related specimens could make uncertainty look smaller than it is.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981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Laboratory assay quality?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File checks were tested. Laboratory quality was not independently assessed.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7981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Individual probabilities?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Score calibration remains limited.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981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Cloud deployment?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Local container tested. Cloud work deferred.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11053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4EE5B5-0D10-4618-8580-CE46F358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sources and contributions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85345-82B6-4733-93C1-01E24361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FAD40E-C518-461C-B2EC-CAF30B918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Public study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BE82E-E21C-4937-83DF-EDE42C83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 et al., Laboratory Investigation (2024): GSE212160 raw NanoString B-HOT measurements.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0F7A8E-468E-4DAF-B5BF-657EBC96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E8A52-91BA-4D3C-83BC-10E4E787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Binary model comparisons and runs produced here, shared preparation code, and a tested local prediction service.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143650-59BD-4930-B6F8-455269D5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Presentation guidance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0B8A18-D834-4DC0-A4D0-A2DFA6D2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Bourne (2007), Kosslyn et al. (2012), Garner and Alley (2013), Rougier et al. (2014)</a:t>
            </a:r>
          </a:p>
        </p:txBody>
      </p:sp>
    </p:spTree>
    <p:extLst>
      <p:ext uri="{BB962C8B-B14F-4D97-AF65-F5344CB8AC3E}">
        <p14:creationId xmlns:p14="http://schemas.microsoft.com/office/powerpoint/2010/main" val="190265177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B26B9-0615-45F8-9697-B279FDA8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Backup: UNOS research connection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6BA5B-A2CA-4DCC-96DB-8FBF0FDC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UNOS, Using AI to identify kidney anatomy issues (2 Jun 2026)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EDA45-6A76-48A9-83AE-3F0A724F5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5BFC63-8E0D-4F2D-8739-1DC2F688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590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UNOS researchers studied anatomical issues in donor kidney photographs.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Labels came from records of transplantation or refusal because of anatomy concerns.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intended use is to support clinical assessment and improve consistency.</a:t>
            </a:r>
          </a:p>
          <a:p xmlns:a="http://schemas.openxmlformats.org/drawingml/2006/main">
            <a:pPr marL="279400" indent="-152400" algn="l">
              <a:spcAft>
                <a:spcPts val="2100"/>
              </a:spcAft>
              <a:buChar char="•"/>
              <a:defRPr sz="24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connection: use recorded assessments to develop additional evidence for specialists.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F4627-77A9-4B50-9A1F-F320C715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19750"/>
            <a:ext cx="1068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This is a different clinical task and does not validate our classifier.</a:t>
            </a:r>
          </a:p>
        </p:txBody>
      </p:sp>
    </p:spTree>
    <p:extLst>
      <p:ext uri="{BB962C8B-B14F-4D97-AF65-F5344CB8AC3E}">
        <p14:creationId xmlns:p14="http://schemas.microsoft.com/office/powerpoint/2010/main" val="5387571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2026-09-19T15:49:08.9360000Z</dcterms:created>
  <dcterms:modified xsi:type="dcterms:W3CDTF">2026-09-19T15:49:08.9360000Z</dcterms:modified>
</coreProperties>
</file>