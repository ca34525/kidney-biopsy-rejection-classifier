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charts/chart1.xml" ContentType="application/vnd.openxmlformats-officedocument.drawingml.chart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charts/chart2.xml" ContentType="application/vnd.openxmlformats-officedocument.drawingml.chart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Default Extension="xlsx" ContentType="application/vnd.openxmlformats-officedocument.spreadsheetml.sheet"/>
</Types>
</file>

<file path=_rels/.rels><?xml version='1.0' encoding='utf-8'?>
<Relationships xmlns="http://schemas.openxmlformats.org/package/2006/relationships"><Relationship Type="http://schemas.openxmlformats.org/package/2006/relationships/metadata/core-properties" Target="/docProps/core.xml" Id="R2f46ba8dd1224700" /><Relationship Type="http://schemas.openxmlformats.org/officeDocument/2006/relationships/extended-properties" Target="/docProps/app.xml" Id="R8dbf999b08684db0" /><Relationship Type="http://schemas.openxmlformats.org/officeDocument/2006/relationships/officeDocument" Target="/ppt/presentation.xml" Id="R0e135f8fd9ac436b" 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7c225ff666a24f86"/>
  </p:sldMasterIdLst>
  <p:sldIdLst>
    <p:sldId id="256" r:id="R0989a0ca1da64de5"/>
    <p:sldId id="257" r:id="R5310eeb9830a4618"/>
    <p:sldId id="258" r:id="Rff08bf3527e441e2"/>
    <p:sldId id="259" r:id="Rff46253dc12a4256"/>
    <p:sldId id="260" r:id="Rff63545d8a3545a1"/>
    <p:sldId id="261" r:id="R09874e4dc9c0486d"/>
    <p:sldId id="262" r:id="R7c0af833523946e2"/>
    <p:sldId id="263" r:id="Rc22108eb85894f7b"/>
    <p:sldId id="264" r:id="R86df1212b1004d79"/>
    <p:sldId id="265" r:id="Ra7e30180903d4804"/>
    <p:sldId id="266" r:id="R24adefa6f3434584"/>
    <p:sldId id="267" r:id="R805c1cd95d204e1a"/>
    <p:sldId id="268" r:id="Rf890ee60763a4caa"/>
    <p:sldId id="269" r:id="Rfe95aab059dc4f79"/>
    <p:sldId id="270" r:id="R2dd9f77b8c31432b"/>
    <p:sldId id="271" r:id="Rca20f738740c4f48"/>
    <p:sldId id="272" r:id="R725bc4d31d4d4b6c"/>
    <p:sldId id="273" r:id="R85291651d66f42a4"/>
    <p:sldId id="274" r:id="R0daa642d6b2d438b"/>
    <p:sldId id="275" r:id="Rb274479f1f4e4814"/>
    <p:sldId id="276" r:id="Rfec517323f8548ef"/>
    <p:sldId id="277" r:id="R6308870db90d4f3b"/>
    <p:sldId id="278" r:id="R2d454f2c40cd4238"/>
    <p:sldId id="279" r:id="R0ca4c9fa79d34962"/>
    <p:sldId id="280" r:id="R07998d4533c64386"/>
    <p:sldId id="281" r:id="R09ba7aa6ebce4e57"/>
    <p:sldId id="282" r:id="Rce23fe55c35643b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?>
<Relationships xmlns="http://schemas.openxmlformats.org/package/2006/relationships"><Relationship Type="http://schemas.openxmlformats.org/officeDocument/2006/relationships/theme" Target="/ppt/theme/theme1.xml" Id="R91db6d7fea0743ef" /><Relationship Type="http://schemas.openxmlformats.org/officeDocument/2006/relationships/slideMaster" Target="/ppt/slideMasters/slideMaster1.xml" Id="R7c225ff666a24f86" /><Relationship Type="http://schemas.openxmlformats.org/officeDocument/2006/relationships/presProps" Target="/ppt/presProps.xml" Id="R8bdfb7e6f54f4c94" /><Relationship Type="http://schemas.openxmlformats.org/officeDocument/2006/relationships/tableStyles" Target="/ppt/tableStyles.xml" Id="Rd745810779bd4ef0" /><Relationship Type="http://schemas.openxmlformats.org/officeDocument/2006/relationships/slide" Target="/ppt/slides/slide1.xml" Id="R0989a0ca1da64de5" /><Relationship Type="http://schemas.openxmlformats.org/officeDocument/2006/relationships/slide" Target="/ppt/slides/slide2.xml" Id="R5310eeb9830a4618" /><Relationship Type="http://schemas.openxmlformats.org/officeDocument/2006/relationships/slide" Target="/ppt/slides/slide3.xml" Id="Rff08bf3527e441e2" /><Relationship Type="http://schemas.openxmlformats.org/officeDocument/2006/relationships/slide" Target="/ppt/slides/slide4.xml" Id="Rff46253dc12a4256" /><Relationship Type="http://schemas.openxmlformats.org/officeDocument/2006/relationships/slide" Target="/ppt/slides/slide5.xml" Id="Rff63545d8a3545a1" /><Relationship Type="http://schemas.openxmlformats.org/officeDocument/2006/relationships/slide" Target="/ppt/slides/slide6.xml" Id="R09874e4dc9c0486d" /><Relationship Type="http://schemas.openxmlformats.org/officeDocument/2006/relationships/slide" Target="/ppt/slides/slide7.xml" Id="R7c0af833523946e2" /><Relationship Type="http://schemas.openxmlformats.org/officeDocument/2006/relationships/slide" Target="/ppt/slides/slide8.xml" Id="Rc22108eb85894f7b" /><Relationship Type="http://schemas.openxmlformats.org/officeDocument/2006/relationships/slide" Target="/ppt/slides/slide9.xml" Id="R86df1212b1004d79" /><Relationship Type="http://schemas.openxmlformats.org/officeDocument/2006/relationships/slide" Target="/ppt/slides/slide10.xml" Id="Ra7e30180903d4804" /><Relationship Type="http://schemas.openxmlformats.org/officeDocument/2006/relationships/slide" Target="/ppt/slides/slide11.xml" Id="R24adefa6f3434584" /><Relationship Type="http://schemas.openxmlformats.org/officeDocument/2006/relationships/slide" Target="/ppt/slides/slide12.xml" Id="R805c1cd95d204e1a" /><Relationship Type="http://schemas.openxmlformats.org/officeDocument/2006/relationships/slide" Target="/ppt/slides/slide13.xml" Id="Rf890ee60763a4caa" /><Relationship Type="http://schemas.openxmlformats.org/officeDocument/2006/relationships/slide" Target="/ppt/slides/slide14.xml" Id="Rfe95aab059dc4f79" /><Relationship Type="http://schemas.openxmlformats.org/officeDocument/2006/relationships/slide" Target="/ppt/slides/slide15.xml" Id="R2dd9f77b8c31432b" /><Relationship Type="http://schemas.openxmlformats.org/officeDocument/2006/relationships/slide" Target="/ppt/slides/slide16.xml" Id="Rca20f738740c4f48" /><Relationship Type="http://schemas.openxmlformats.org/officeDocument/2006/relationships/slide" Target="/ppt/slides/slide17.xml" Id="R725bc4d31d4d4b6c" /><Relationship Type="http://schemas.openxmlformats.org/officeDocument/2006/relationships/slide" Target="/ppt/slides/slide18.xml" Id="R85291651d66f42a4" /><Relationship Type="http://schemas.openxmlformats.org/officeDocument/2006/relationships/slide" Target="/ppt/slides/slide19.xml" Id="R0daa642d6b2d438b" /><Relationship Type="http://schemas.openxmlformats.org/officeDocument/2006/relationships/slide" Target="/ppt/slides/slide20.xml" Id="Rb274479f1f4e4814" /><Relationship Type="http://schemas.openxmlformats.org/officeDocument/2006/relationships/slide" Target="/ppt/slides/slide21.xml" Id="Rfec517323f8548ef" /><Relationship Type="http://schemas.openxmlformats.org/officeDocument/2006/relationships/slide" Target="/ppt/slides/slide22.xml" Id="R6308870db90d4f3b" /><Relationship Type="http://schemas.openxmlformats.org/officeDocument/2006/relationships/slide" Target="/ppt/slides/slide23.xml" Id="R2d454f2c40cd4238" /><Relationship Type="http://schemas.openxmlformats.org/officeDocument/2006/relationships/slide" Target="/ppt/slides/slide24.xml" Id="R0ca4c9fa79d34962" /><Relationship Type="http://schemas.openxmlformats.org/officeDocument/2006/relationships/slide" Target="/ppt/slides/slide25.xml" Id="R07998d4533c64386" /><Relationship Type="http://schemas.openxmlformats.org/officeDocument/2006/relationships/slide" Target="/ppt/slides/slide26.xml" Id="R09ba7aa6ebce4e57" /><Relationship Type="http://schemas.openxmlformats.org/officeDocument/2006/relationships/slide" Target="/ppt/slides/slide27.xml" Id="Rce23fe55c35643ba" /></Relationships>
</file>

<file path=ppt/slideLayouts/_rels/slideLayout1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46ee7841054b413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?>
<Relationships xmlns="http://schemas.openxmlformats.org/package/2006/relationships"><Relationship Type="http://schemas.openxmlformats.org/officeDocument/2006/relationships/theme" Target="/ppt/slideMasters/theme/theme2.xml" Id="R56bd92a7e41a408e" /><Relationship Type="http://schemas.openxmlformats.org/officeDocument/2006/relationships/slideLayout" Target="/ppt/slideLayouts/slideLayout1.xml" Id="Rf1f3bbf19cf5411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1f3bbf19cf5411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944c7ebad16e4f44" /></Relationships>
</file>

<file path=ppt/slides/_rels/slide2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daca3cfabb7f43a8" /></Relationships>
</file>

<file path=ppt/slides/_rels/slide3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095847bc951d4268" /></Relationships>
</file>

<file path=ppt/slides/_rels/slide4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c2a05356055646b7" /></Relationships>
</file>

<file path=ppt/slides/_rels/slide5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e75d445806e54682" /></Relationships>
</file>

<file path=ppt/slides/_rels/slide6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a48235d0d15543c3" /></Relationships>
</file>

<file path=ppt/slides/_rels/slide7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ada71aed376c4440" /></Relationships>
</file>

<file path=ppt/slides/_rels/slide8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8ef1d097b02c4d69" /></Relationships>
</file>

<file path=ppt/slides/_rels/slide9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27ebae271a2d4f05" /></Relationships>
</file>

<file path=ppt/slides/_rels/slide10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7c3a8024f7f24836" /></Relationships>
</file>

<file path=ppt/slides/_rels/slide11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c5235395ad414576" /></Relationships>
</file>

<file path=ppt/slides/_rels/slide12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0673574162f34bc3" /><Relationship Type="http://schemas.openxmlformats.org/officeDocument/2006/relationships/chart" Target="/ppt/slides/charts/chart1.xml" Id="Rca3b9ed9027f45b4" /></Relationships>
</file>

<file path=ppt/slides/_rels/slide13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ff32a26ce90645f7" /></Relationships>
</file>

<file path=ppt/slides/_rels/slide14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a6e751a0d01f4c9c" /></Relationships>
</file>

<file path=ppt/slides/_rels/slide15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0a4724e218c040cb" /></Relationships>
</file>

<file path=ppt/slides/_rels/slide16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2ab4183a4f2c4087" /></Relationships>
</file>

<file path=ppt/slides/_rels/slide17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29c94a7c12dc4434" /></Relationships>
</file>

<file path=ppt/slides/_rels/slide18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9d87f281771a4d5b" /></Relationships>
</file>

<file path=ppt/slides/_rels/slide19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1ac0b411f5284ed6" /></Relationships>
</file>

<file path=ppt/slides/_rels/slide20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b1316894e09e4d4b" /></Relationships>
</file>

<file path=ppt/slides/_rels/slide21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37033bebf101491a" /></Relationships>
</file>

<file path=ppt/slides/_rels/slide22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d9c4bc7bf16d4f75" /></Relationships>
</file>

<file path=ppt/slides/_rels/slide23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290be2e3a2ef4638" /><Relationship Type="http://schemas.openxmlformats.org/officeDocument/2006/relationships/chart" Target="/ppt/slides/charts/chart2.xml" Id="R089f47c496794191" /></Relationships>
</file>

<file path=ppt/slides/_rels/slide24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7d09524f179448ea" /></Relationships>
</file>

<file path=ppt/slides/_rels/slide25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f46c990d5b3e443b" /></Relationships>
</file>

<file path=ppt/slides/_rels/slide26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1295c763a5834818" /></Relationships>
</file>

<file path=ppt/slides/_rels/slide27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5f5d7faf5df24b4d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False negatives / 169</c:v>
          </c:tx>
          <c:spPr>
            <a:solidFill xmlns:a="http://schemas.openxmlformats.org/drawingml/2006/main">
              <a:srgbClr val="B55730"/>
            </a:solidFill>
          </c:spPr>
          <c:cat>
            <c:strRef>
              <c:f>'Chart Data'!$A$2:$A$4</c:f>
              <c:strCache>
                <c:ptCount val="3"/>
                <c:pt idx="0">
                  <c:v>IFNG only</c:v>
                </c:pt>
                <c:pt idx="1">
                  <c:v>Logistic regression</c:v>
                </c:pt>
                <c:pt idx="2">
                  <c:v>CatBoost</c:v>
                </c:pt>
              </c:strCache>
            </c:strRef>
          </c:cat>
          <c:val>
            <c:numRef>
              <c:f>'Chart Data'!$B$2:$B$4</c:f>
              <c:numCache>
                <c:formatCode>General</c:formatCode>
                <c:ptCount val="3"/>
                <c:pt idx="0">
                  <c:v>14</c:v>
                </c:pt>
                <c:pt idx="1">
                  <c:v>33</c:v>
                </c:pt>
                <c:pt idx="2">
                  <c:v>25</c:v>
                </c:pt>
              </c:numCache>
            </c:numRef>
          </c:val>
        </c:ser>
        <c:ser>
          <c:idx val="1"/>
          <c:order val="1"/>
          <c:tx>
            <c:v>False positives / 176</c:v>
          </c:tx>
          <c:spPr>
            <a:solidFill xmlns:a="http://schemas.openxmlformats.org/drawingml/2006/main">
              <a:srgbClr val="007C78"/>
            </a:solidFill>
          </c:spPr>
          <c:cat>
            <c:strRef>
              <c:f>'Chart Data'!$C$2:$C$4</c:f>
              <c:strCache>
                <c:ptCount val="3"/>
                <c:pt idx="0">
                  <c:v>IFNG only</c:v>
                </c:pt>
                <c:pt idx="1">
                  <c:v>Logistic regression</c:v>
                </c:pt>
                <c:pt idx="2">
                  <c:v>CatBoost</c:v>
                </c:pt>
              </c:strCache>
            </c:strRef>
          </c:cat>
          <c:val>
            <c:numRef>
              <c:f>'Chart Data'!$D$2:$D$4</c:f>
              <c:numCache>
                <c:formatCode>General</c:formatCode>
                <c:ptCount val="3"/>
                <c:pt idx="0">
                  <c:v>75</c:v>
                </c:pt>
                <c:pt idx="1">
                  <c:v>8</c:v>
                </c:pt>
                <c:pt idx="2">
                  <c:v>8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875" b="1">
                  <a:solidFill>
                    <a:srgbClr val="16343E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9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  <c:max val="80"/>
          <c:min val="0"/>
        </c:scaling>
        <c:delete val="0"/>
        <c:axPos val="b"/>
        <c:majorGridlines>
          <c:spPr>
            <a:ln xmlns:a="http://schemas.openxmlformats.org/drawingml/2006/main" w="9525">
              <a:solidFill>
                <a:srgbClr val="CEDBD7"/>
              </a:solidFill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  <c:majorUnit val="20"/>
      </c:valAx>
      <c:spPr>
        <a:solidFill xmlns:a="http://schemas.openxmlformats.org/drawingml/2006/main">
          <a:srgbClr val="F7F8F5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875">
              <a:solidFill>
                <a:srgbClr val="16343E"/>
              </a:solidFill>
              <a:latin typeface="Arial"/>
              <a:ea typeface="Arial"/>
              <a:cs typeface="Arial"/>
            </a:defRPr>
          </a:pPr>
        </a:p>
      </c:txPr>
    </c:legend>
    <c:plotVisOnly val="1"/>
  </c:chart>
  <c:spPr>
    <a:solidFill xmlns:a="http://schemas.openxmlformats.org/drawingml/2006/main">
      <a:srgbClr val="F7F8F5"/>
    </a:solidFill>
  </c:spPr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plotArea>
      <c:scatterChart>
        <c:scatterStyle val="lineMarker"/>
        <c:ser>
          <c:idx val="0"/>
          <c:order val="0"/>
          <c:tx>
            <c:v>Agreement</c:v>
          </c:tx>
          <c:spPr>
            <a:ln xmlns:a="http://schemas.openxmlformats.org/drawingml/2006/main" w="13335">
              <a:solidFill>
                <a:srgbClr val="52656B"/>
              </a:solidFill>
            </a:ln>
          </c:spPr>
          <c:marker>
            <c:symbol val="none"/>
          </c:marker>
          <c:xVal>
            <c:numRef>
              <c:f>'Chart Data'!$A$2:$A$3</c:f>
              <c:numCache>
                <c:formatCode>General</c:formatCode>
                <c:ptCount val="2"/>
                <c:pt idx="0">
                  <c:v>0</c:v>
                </c:pt>
                <c:pt idx="1">
                  <c:v>1</c:v>
                </c:pt>
              </c:numCache>
            </c:numRef>
          </c:xVal>
          <c:yVal>
            <c:numRef>
              <c:f>'Chart Data'!$B$2:$B$3</c:f>
              <c:numCache>
                <c:formatCode>0.0</c:formatCode>
                <c:ptCount val="2"/>
                <c:pt idx="0">
                  <c:v>0</c:v>
                </c:pt>
                <c:pt idx="1">
                  <c:v>1</c:v>
                </c:pt>
              </c:numCache>
            </c:numRef>
          </c:yVal>
        </c:ser>
        <c:ser>
          <c:idx val="1"/>
          <c:order val="1"/>
          <c:tx>
            <c:v>Observed bins</c:v>
          </c:tx>
          <c:spPr>
            <a:solidFill xmlns:a="http://schemas.openxmlformats.org/drawingml/2006/main">
              <a:srgbClr val="007C78"/>
            </a:solidFill>
            <a:ln xmlns:a="http://schemas.openxmlformats.org/drawingml/2006/main" w="0">
              <a:noFill/>
            </a:ln>
          </c:spPr>
          <c:marker>
            <c:symbol val="circle"/>
            <c:size val="9"/>
            <c:spPr>
              <a:noFill xmlns:a="http://schemas.openxmlformats.org/drawingml/2006/main"/>
            </c:spPr>
          </c:marker>
          <c:xVal>
            <c:numRef>
              <c:f>'Chart Data'!$C$2:$C$11</c:f>
              <c:numCache>
                <c:formatCode>General</c:formatCode>
                <c:ptCount val="10"/>
                <c:pt idx="0">
                  <c:v>0.02236</c:v>
                </c:pt>
                <c:pt idx="1">
                  <c:v>0.150831</c:v>
                </c:pt>
                <c:pt idx="2">
                  <c:v>0.256868</c:v>
                </c:pt>
                <c:pt idx="3">
                  <c:v>0.33529</c:v>
                </c:pt>
                <c:pt idx="4">
                  <c:v>0.462784</c:v>
                </c:pt>
                <c:pt idx="5">
                  <c:v>0.535663</c:v>
                </c:pt>
                <c:pt idx="6">
                  <c:v>0.66592</c:v>
                </c:pt>
                <c:pt idx="7">
                  <c:v>0.764537</c:v>
                </c:pt>
                <c:pt idx="8">
                  <c:v>0.847196</c:v>
                </c:pt>
                <c:pt idx="9">
                  <c:v>0.983569</c:v>
                </c:pt>
              </c:numCache>
            </c:numRef>
          </c:xVal>
          <c:yVal>
            <c:numRef>
              <c:f>'Chart Data'!$D$2:$D$11</c:f>
              <c:numCache>
                <c:formatCode>0.0</c:formatCode>
                <c:ptCount val="10"/>
                <c:pt idx="0">
                  <c:v>0.02963</c:v>
                </c:pt>
                <c:pt idx="1">
                  <c:v>0.25</c:v>
                </c:pt>
                <c:pt idx="2">
                  <c:v>0.333333</c:v>
                </c:pt>
                <c:pt idx="3">
                  <c:v>0.222222</c:v>
                </c:pt>
                <c:pt idx="4">
                  <c:v>0.5</c:v>
                </c:pt>
                <c:pt idx="5">
                  <c:v>0.5</c:v>
                </c:pt>
                <c:pt idx="6">
                  <c:v>0.375</c:v>
                </c:pt>
                <c:pt idx="7">
                  <c:v>0.5</c:v>
                </c:pt>
                <c:pt idx="8">
                  <c:v>0.4375</c:v>
                </c:pt>
                <c:pt idx="9">
                  <c:v>0.959459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"/>
                  <a:ea typeface="Arial"/>
                  <a:cs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CEDBD7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800">
                    <a:solidFill>
                      <a:srgbClr val="16343E"/>
                    </a:solidFill>
                    <a:latin typeface="Arial"/>
                    <a:ea typeface="Arial"/>
                    <a:cs typeface="Arial"/>
                  </a:rPr>
                  <a:t>Recorded rejection fraction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800">
                  <a:solidFill>
                    <a:srgbClr val="16343E"/>
                  </a:solidFill>
                  <a:latin typeface="Arial"/>
                  <a:ea typeface="Arial"/>
                  <a:cs typeface="Arial"/>
                </a:defRPr>
              </a:pPr>
            </a:p>
          </c:txPr>
        </c:title>
        <c:numFmt formatCode="0.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majorUnit val="0.2"/>
      </c:valAx>
      <c:valAx>
        <c:axId val="48650112"/>
        <c:scaling>
          <c:orientation val="minMax"/>
          <c:max val="1"/>
          <c:min val="0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800">
                    <a:solidFill>
                      <a:srgbClr val="16343E"/>
                    </a:solidFill>
                    <a:latin typeface="Arial"/>
                    <a:ea typeface="Arial"/>
                    <a:cs typeface="Arial"/>
                  </a:rPr>
                  <a:t>Mean model score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800">
                  <a:solidFill>
                    <a:srgbClr val="16343E"/>
                  </a:solidFill>
                  <a:latin typeface="Arial"/>
                  <a:ea typeface="Arial"/>
                  <a:cs typeface="Arial"/>
                </a:defRPr>
              </a:pPr>
            </a:p>
          </c:txPr>
        </c:title>
        <c:numFmt formatCode="0.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  <c:majorUnit val="0.2"/>
      </c:valAx>
      <c:spPr>
        <a:solidFill xmlns:a="http://schemas.openxmlformats.org/drawingml/2006/main">
          <a:srgbClr val="F7F8F5"/>
        </a:solidFill>
      </c:spPr>
    </c:plotArea>
    <c:plotVisOnly val="1"/>
  </c:chart>
  <c:spPr>
    <a:solidFill xmlns:a="http://schemas.openxmlformats.org/drawingml/2006/main">
      <a:srgbClr val="F7F8F5"/>
    </a:solidFill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6343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F41B514-C8F6-4330-9000-B3C49A6D3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24025"/>
            <a:ext cx="10972800" cy="3028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5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5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Classifying Kidney</a:t>
            </a:r>
          </a:p>
          <a:p xmlns:a="http://schemas.openxmlformats.org/drawingml/2006/main">
            <a:pPr algn="l">
              <a:defRPr sz="5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5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Transplant Rejection</a:t>
            </a:r>
          </a:p>
          <a:p xmlns:a="http://schemas.openxmlformats.org/drawingml/2006/main">
            <a:pPr algn="l">
              <a:defRPr sz="5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5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from Biopsy RNA</a:t>
            </a:r>
          </a:p>
        </p:txBody>
      </p:sp>
    </p:spTree>
    <p:extLst>
      <p:ext uri="{BB962C8B-B14F-4D97-AF65-F5344CB8AC3E}">
        <p14:creationId xmlns:p14="http://schemas.microsoft.com/office/powerpoint/2010/main" val="129429076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9BD640E-4046-47B9-A30F-1F7F77ED9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Transplant rejection and kidney biopsy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3B5B35D-D0B5-4DA6-B7D3-F4B49472D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Sources: NIDDK, Kidney Transplant and Kidney Biopsy; Zhang et al. (2024)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D8515F9-FF7F-41D5-8F04-6AF42F14E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7651A8-F593-4D13-8F22-69215C240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5925"/>
            <a:ext cx="10972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0"/>
              </a:spcAft>
              <a:buChar char="•"/>
              <a:defRPr sz="25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b="1"/>
              <a:t>Rejection: </a:t>
            </a:r>
            <a:r>
              <a:t>The recipient’s immune system attacks the donated kidney.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B6F2983-BE7D-44BE-899E-133A6C7FE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47925"/>
            <a:ext cx="10972800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0"/>
              </a:spcAft>
              <a:buChar char="•"/>
              <a:defRPr sz="25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b="1"/>
              <a:t>Kidney biopsy: </a:t>
            </a:r>
            <a:r>
              <a:t>A small tissue sample collected from the kidney for examination.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5D5123F-C7D6-4E33-BB8E-14AC88BDA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3590925"/>
            <a:ext cx="10525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0"/>
              </a:spcAft>
              <a:buChar char="•"/>
              <a:defRPr sz="24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b="1"/>
              <a:t>Histology: </a:t>
            </a:r>
            <a:r>
              <a:t>Microscopic examination reveals injury and inflammation and supports the recorded diagnosis.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7713512-A658-4362-8465-29BF3D327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4695825"/>
            <a:ext cx="10525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0"/>
              </a:spcAft>
              <a:buChar char="•"/>
              <a:defRPr sz="24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b="1"/>
              <a:t>Molecular measurements: </a:t>
            </a:r>
            <a:r>
              <a:t>Counts of selected RNA types provide the model’s inputs.</a:t>
            </a:r>
          </a:p>
        </p:txBody>
      </p:sp>
    </p:spTree>
    <p:extLst>
      <p:ext uri="{BB962C8B-B14F-4D97-AF65-F5344CB8AC3E}">
        <p14:creationId xmlns:p14="http://schemas.microsoft.com/office/powerpoint/2010/main" val="81663142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2C2B19F-ED62-4F03-A4E9-7C2BF593F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Possible Use: Molecular Second Opinion for Ambiguous Biopsies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03AF5C1-9A69-4770-836E-CEFC0FA82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Source: Banff reference guide (updated Apr 2026).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2FC4AB0-B45B-4992-BA99-7FDAF5DBC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7FAA486-28B4-4122-94D2-15DC600A0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1200"/>
              </a:spcAft>
              <a:buChar char="•"/>
              <a:defRPr sz="232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Sometimes the microscopic findings are borderline or conflict with other clinical evidence.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50E365-A892-48BC-93F3-9544B8688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571750"/>
            <a:ext cx="10687050" cy="1285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FEB"/>
          </a:solidFill>
          <a:ln xmlns:a="http://schemas.openxmlformats.org/drawingml/2006/main" w="9525">
            <a:solidFill>
              <a:srgbClr val="CEDBD7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95D5FF2-0A6B-46D9-8E36-6A853A727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2657475"/>
            <a:ext cx="103251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07C78"/>
                </a:solidFill>
                <a:latin typeface="Arial"/>
                <a:ea typeface="Arial"/>
                <a:cs typeface="Arial"/>
              </a:rPr>
              <a:t>Hypothetical Example: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A379BC0-1758-473B-AEAA-CC34C1E16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3028950"/>
            <a:ext cx="103251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A biopsy shows mild inflammation, but the microscopic findings do not clearly establish rejection.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9495C64-6A4B-4269-8A6A-E862B7242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48125"/>
            <a:ext cx="10972800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1200"/>
              </a:spcAft>
              <a:buChar char="•"/>
              <a:defRPr sz="232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This project tests how well RNA classifies recorded rejection diagnoses.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D8E8992-A284-4830-B5F9-005589A75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829175"/>
            <a:ext cx="10687050" cy="1285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FEB"/>
          </a:solidFill>
          <a:ln xmlns:a="http://schemas.openxmlformats.org/drawingml/2006/main" w="9525">
            <a:solidFill>
              <a:srgbClr val="CEDBD7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A3E59A0-FEFD-4646-9B17-63CAFBDE3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4914900"/>
            <a:ext cx="103251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07C78"/>
                </a:solidFill>
                <a:latin typeface="Arial"/>
                <a:ea typeface="Arial"/>
                <a:cs typeface="Arial"/>
              </a:rPr>
              <a:t>Hypothetical Example, continued: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6D68790-3531-4E48-B30C-DB717F840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5286375"/>
            <a:ext cx="103251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A high rejection score could add evidence for specialist review of this biopsy. That use needs direct validation.</a:t>
            </a:r>
          </a:p>
        </p:txBody>
      </p:sp>
    </p:spTree>
    <p:extLst>
      <p:ext uri="{BB962C8B-B14F-4D97-AF65-F5344CB8AC3E}">
        <p14:creationId xmlns:p14="http://schemas.microsoft.com/office/powerpoint/2010/main" val="173143762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F79A06A-FAD6-46A5-90B1-3C0D09EB4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Evidence for a molecular second opinion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12A1B6F-5766-432E-AAEA-CFA579888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9E35677-C436-4927-AB9D-8E3191DDF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33525"/>
            <a:ext cx="2609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Banff guidance</a:t>
            </a:r>
          </a:p>
          <a:p xmlns:a="http://schemas.openxmlformats.org/drawingml/2006/main">
            <a:pPr algn="l">
              <a:defRPr sz="2175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28830D-33B6-4BF0-9714-6EF9FDBDE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1533525"/>
            <a:ext cx="81057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Considers validated molecular tests</a:t>
            </a:r>
          </a:p>
          <a:p xmlns:a="http://schemas.openxmlformats.org/drawingml/2006/main">
            <a:pPr algn="l">
              <a:defRPr sz="22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for difficult biopsy interpretations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B430DC7-55E8-4C91-80E0-2C7BA3E14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71725"/>
            <a:ext cx="10972800" cy="0"/>
          </a:xfrm>
          <a:prstGeom xmlns:a="http://schemas.openxmlformats.org/drawingml/2006/main" prst="line">
            <a:avLst/>
          </a:prstGeom>
          <a:ln xmlns:a="http://schemas.openxmlformats.org/drawingml/2006/main" w="11430">
            <a:solidFill>
              <a:srgbClr val="CEDBD7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A1119C6-95BF-4A1A-AD11-E3AEECF7C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52700"/>
            <a:ext cx="2609850" cy="771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B-HOT study</a:t>
            </a:r>
          </a:p>
          <a:p xmlns:a="http://schemas.openxmlformats.org/drawingml/2006/main">
            <a:pPr algn="l">
              <a:defRPr sz="2175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Rosales, 2022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9DC8E45-8715-4C5A-BE3C-6CEEF3D9E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466975"/>
            <a:ext cx="8105775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Higher initial molecular scores in patients who later</a:t>
            </a:r>
          </a:p>
          <a:p xmlns:a="http://schemas.openxmlformats.org/drawingml/2006/main">
            <a:pPr algn="l">
              <a:defRPr sz="21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developed chronic active antibody-mediated rejection,</a:t>
            </a:r>
          </a:p>
          <a:p xmlns:a="http://schemas.openxmlformats.org/drawingml/2006/main">
            <a:pPr algn="l">
              <a:defRPr sz="21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despite no initial diagnosis of it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F858CA2-683E-48B4-8D22-FD68A1F61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48075"/>
            <a:ext cx="10972800" cy="0"/>
          </a:xfrm>
          <a:prstGeom xmlns:a="http://schemas.openxmlformats.org/drawingml/2006/main" prst="line">
            <a:avLst/>
          </a:prstGeom>
          <a:ln xmlns:a="http://schemas.openxmlformats.org/drawingml/2006/main" w="11430">
            <a:solidFill>
              <a:srgbClr val="CEDBD7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1ECC72D-AEBC-4041-8F02-491620920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29050"/>
            <a:ext cx="260985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Why incorrect</a:t>
            </a:r>
          </a:p>
          <a:p xmlns:a="http://schemas.openxmlformats.org/drawingml/2006/main">
            <a:pPr algn="l">
              <a:defRPr sz="210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rejection calls matter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032FB58-BBDE-475A-AF7C-07746FF4F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3781425"/>
            <a:ext cx="8105775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Unnecessary rejection treatment can weaken the body’s</a:t>
            </a:r>
          </a:p>
          <a:p xmlns:a="http://schemas.openxmlformats.org/drawingml/2006/main">
            <a:pPr algn="l">
              <a:defRPr sz="21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defenses and worsen an infection.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7107F7D-5FED-40E1-A405-F51AF263E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4829175"/>
            <a:ext cx="81057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KDIGO (2009); BK polyomavirus consensus (2024)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63C5AA1-6A21-4297-A81D-F39FD1C37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86375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7C78"/>
                </a:solidFill>
                <a:latin typeface="Arial"/>
                <a:ea typeface="Arial"/>
                <a:cs typeface="Arial"/>
              </a:rPr>
              <a:t>This project measures agreement with recorded diagnoses.</a:t>
            </a:r>
          </a:p>
          <a:p xmlns:a="http://schemas.openxmlformats.org/drawingml/2006/main">
            <a:pPr algn="l">
              <a:defRPr sz="2250" b="1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7C78"/>
                </a:solidFill>
                <a:latin typeface="Arial"/>
                <a:ea typeface="Arial"/>
                <a:cs typeface="Arial"/>
              </a:rPr>
              <a:t>Its value in ambiguous biopsies needs direct evaluation.</a:t>
            </a:r>
          </a:p>
        </p:txBody>
      </p:sp>
    </p:spTree>
    <p:extLst>
      <p:ext uri="{BB962C8B-B14F-4D97-AF65-F5344CB8AC3E}">
        <p14:creationId xmlns:p14="http://schemas.microsoft.com/office/powerpoint/2010/main" val="137441281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17497A1-0C23-4806-AC7B-AAF575DBB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What the dataset contains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4EC1BB6-D4D2-467B-8E4D-1EE08DA65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Sources: GSE212160; Zhang et al. (2024), Methods and Tables 5–6; project data reader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245295C-B14B-4CFE-BF8A-0909F342A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F2AB9C-AD2E-41C6-8B9A-F79927A20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10972800" cy="771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0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475" b="0">
                <a:solidFill>
                  <a:srgbClr val="007C78"/>
                </a:solidFill>
                <a:latin typeface="Arial"/>
                <a:ea typeface="Arial"/>
                <a:cs typeface="Arial"/>
              </a:rPr>
              <a:t>1,395 biopsy specimens, with one row per specimen in each table.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F1D6A05-DCF3-4F01-9DE7-722B80543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43150"/>
            <a:ext cx="47815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RNA counts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F4DEA1B-4018-45BA-B3C1-48CB8218D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343150"/>
            <a:ext cx="47625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Specimen information</a:t>
            </a:r>
          </a:p>
        </p:txBody>
      </p:sp>
      <p:graphicFrame>
        <p:nvGraphicFramePr>
          <p:cNvPr id="19" name=""/>
          <p:cNvGraphicFramePr/>
          <p:nvPr/>
        </p:nvGraphicFramePr>
        <p:xfrm>
          <a:off xmlns:a="http://schemas.openxmlformats.org/drawingml/2006/main" x="609600" y="2990850"/>
          <a:ext xmlns:a="http://schemas.openxmlformats.org/drawingml/2006/main" cx="4781550" cy="22764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524125"/>
                <a:gridCol w="2257425"/>
              </a:tblGrid>
              <a:tr h="45529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Column</a:t>
                      </a:r>
                    </a:p>
                  </a:txBody>
                  <a:tcPr marL="171450" marR="142875" marT="57150" marB="57150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Example</a:t>
                      </a:r>
                    </a:p>
                  </a:txBody>
                  <a:tcPr marL="171450" marR="142875" marT="57150" marB="57150" anchor="ctr">
                    <a:solidFill>
                      <a:srgbClr val="16343E"/>
                    </a:solidFill>
                  </a:tcPr>
                </a:tc>
              </a:tr>
              <a:tr h="45529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Specimen ID (key)</a:t>
                      </a:r>
                    </a:p>
                  </a:txBody>
                  <a:tcPr marL="171450" marR="142875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GSM6510425</a:t>
                      </a:r>
                    </a:p>
                  </a:txBody>
                  <a:tcPr marL="171450" marR="142875" marT="57150" marB="57150" anchor="ctr">
                    <a:solidFill>
                      <a:srgbClr val="FFFFFF"/>
                    </a:solidFill>
                  </a:tcPr>
                </a:tc>
              </a:tr>
              <a:tr h="45529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IFNG</a:t>
                      </a:r>
                    </a:p>
                  </a:txBody>
                  <a:tcPr marL="171450" marR="142875" marT="57150" marB="57150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171450" marR="142875" marT="57150" marB="57150" anchor="ctr">
                    <a:solidFill>
                      <a:srgbClr val="EDF3F0"/>
                    </a:solidFill>
                  </a:tcPr>
                </a:tc>
              </a:tr>
              <a:tr h="45529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GUSB (reference)</a:t>
                      </a:r>
                    </a:p>
                  </a:txBody>
                  <a:tcPr marL="171450" marR="142875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260</a:t>
                      </a:r>
                    </a:p>
                  </a:txBody>
                  <a:tcPr marL="171450" marR="142875" marT="57150" marB="57150" anchor="ctr">
                    <a:solidFill>
                      <a:srgbClr val="FFFFFF"/>
                    </a:solidFill>
                  </a:tcPr>
                </a:tc>
              </a:tr>
              <a:tr h="45529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Other RNA counts</a:t>
                      </a:r>
                    </a:p>
                  </a:txBody>
                  <a:tcPr marL="171450" marR="142875" marT="57150" marB="57150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…</a:t>
                      </a:r>
                    </a:p>
                  </a:txBody>
                  <a:tcPr marL="171450" marR="142875" marT="57150" marB="57150" anchor="ctr">
                    <a:solidFill>
                      <a:srgbClr val="EDF3F0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0" name=""/>
          <p:cNvGraphicFramePr/>
          <p:nvPr/>
        </p:nvGraphicFramePr>
        <p:xfrm>
          <a:off xmlns:a="http://schemas.openxmlformats.org/drawingml/2006/main" x="6819900" y="2990850"/>
          <a:ext xmlns:a="http://schemas.openxmlformats.org/drawingml/2006/main" cx="4762500" cy="22764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571750"/>
                <a:gridCol w="2190750"/>
              </a:tblGrid>
              <a:tr h="45529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Column</a:t>
                      </a:r>
                    </a:p>
                  </a:txBody>
                  <a:tcPr marL="171450" marR="142875" marT="57150" marB="57150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Example</a:t>
                      </a:r>
                    </a:p>
                  </a:txBody>
                  <a:tcPr marL="171450" marR="142875" marT="57150" marB="57150" anchor="ctr">
                    <a:solidFill>
                      <a:srgbClr val="16343E"/>
                    </a:solidFill>
                  </a:tcPr>
                </a:tc>
              </a:tr>
              <a:tr h="45529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Specimen ID (key)</a:t>
                      </a:r>
                    </a:p>
                  </a:txBody>
                  <a:tcPr marL="171450" marR="142875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GSM6510425</a:t>
                      </a:r>
                    </a:p>
                  </a:txBody>
                  <a:tcPr marL="171450" marR="142875" marT="57150" marB="57150" anchor="ctr">
                    <a:solidFill>
                      <a:srgbClr val="FFFFFF"/>
                    </a:solidFill>
                  </a:tcPr>
                </a:tc>
              </a:tr>
              <a:tr h="45529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Recorded diagnosis</a:t>
                      </a:r>
                    </a:p>
                  </a:txBody>
                  <a:tcPr marL="171450" marR="142875" marT="57150" marB="57150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No rejection</a:t>
                      </a:r>
                    </a:p>
                  </a:txBody>
                  <a:tcPr marL="171450" marR="142875" marT="57150" marB="57150" anchor="ctr">
                    <a:solidFill>
                      <a:srgbClr val="EDF3F0"/>
                    </a:solidFill>
                  </a:tcPr>
                </a:tc>
              </a:tr>
              <a:tr h="45529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Study group</a:t>
                      </a:r>
                    </a:p>
                  </a:txBody>
                  <a:tcPr marL="171450" marR="142875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Discovery</a:t>
                      </a:r>
                    </a:p>
                  </a:txBody>
                  <a:tcPr marL="171450" marR="142875" marT="57150" marB="57150" anchor="ctr">
                    <a:solidFill>
                      <a:srgbClr val="FFFFFF"/>
                    </a:solidFill>
                  </a:tcPr>
                </a:tc>
              </a:tr>
              <a:tr h="45529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Other details</a:t>
                      </a:r>
                    </a:p>
                  </a:txBody>
                  <a:tcPr marL="171450" marR="142875" marT="57150" marB="57150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…</a:t>
                      </a:r>
                    </a:p>
                  </a:txBody>
                  <a:tcPr marL="171450" marR="142875" marT="57150" marB="57150" anchor="ctr">
                    <a:solidFill>
                      <a:srgbClr val="EDF3F0"/>
                    </a:solidFill>
                  </a:tcPr>
                </a:tc>
              </a:tr>
            </a:tbl>
          </a:graphicData>
        </a:graphic>
      </p:graphicFrame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9E367C0-0516-42F2-85D1-9042DE15E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3676650"/>
            <a:ext cx="1428750" cy="0"/>
          </a:xfrm>
          <a:prstGeom xmlns:a="http://schemas.openxmlformats.org/drawingml/2006/main" prst="line">
            <a:avLst/>
          </a:prstGeom>
          <a:ln xmlns:a="http://schemas.openxmlformats.org/drawingml/2006/main" w="11430">
            <a:solidFill>
              <a:srgbClr val="52656B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190575A-F8D9-4C93-B3D2-B23863226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3276600"/>
            <a:ext cx="1276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1 : 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FC5A186-1A1A-42D1-8A13-D3BA6D888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3752850"/>
            <a:ext cx="12763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Same ID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BC0FA2D-1820-4D9A-BF5D-FEAB20B7D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67350"/>
            <a:ext cx="109728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800"/>
              </a:spcAft>
              <a:buChar char="•"/>
              <a:defRPr sz="18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Includes 1,193 transplant biopsies and 202 native-kidney controls.</a:t>
            </a:r>
          </a:p>
          <a:p xmlns:a="http://schemas.openxmlformats.org/drawingml/2006/main">
            <a:pPr marL="279400" indent="-152400" algn="l">
              <a:spcAft>
                <a:spcPts val="800"/>
              </a:spcAft>
              <a:buChar char="•"/>
              <a:defRPr sz="18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The study does not document separation by patient or referring center between study groups.</a:t>
            </a:r>
          </a:p>
        </p:txBody>
      </p:sp>
    </p:spTree>
    <p:extLst>
      <p:ext uri="{BB962C8B-B14F-4D97-AF65-F5344CB8AC3E}">
        <p14:creationId xmlns:p14="http://schemas.microsoft.com/office/powerpoint/2010/main" val="5326679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B13B808-2BB4-4937-B684-33B4F348E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Outcome: rejection versus no rejection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B0563C3-7CC1-4BA1-BC4E-C3896C419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Sources: Zhang et al. (2024), Tables 5–6 and Discussion, p. 11; project diagnosis mapping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934B2D8-1DCD-4FAC-BC37-99F02BD24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362F86C-0BF9-4658-BBD7-AE3E9F846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007C78"/>
                </a:solidFill>
                <a:latin typeface="Arial"/>
                <a:ea typeface="Arial"/>
                <a:cs typeface="Arial"/>
              </a:rPr>
              <a:t>The model combines the three rejection categories included in this study.</a:t>
            </a:r>
          </a:p>
        </p:txBody>
      </p:sp>
      <p:graphicFrame>
        <p:nvGraphicFramePr>
          <p:cNvPr id="11" name=""/>
          <p:cNvGraphicFramePr/>
          <p:nvPr/>
        </p:nvGraphicFramePr>
        <p:xfrm>
          <a:off xmlns:a="http://schemas.openxmlformats.org/drawingml/2006/main" x="609600" y="2428875"/>
          <a:ext xmlns:a="http://schemas.openxmlformats.org/drawingml/2006/main" cx="10972800" cy="3095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619625"/>
                <a:gridCol w="3876675"/>
                <a:gridCol w="2476500"/>
              </a:tblGrid>
              <a:tr h="6191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Recorded diagnosis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Meaning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Model label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Antibody-mediated rejection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Antibodies: immune proteins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Rejection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T-cell-mediated rejection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T cells: immune cells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Rejection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Mixed rejection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Both rejection processes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Rejection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No rejection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No recorded rejection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No rejection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F559C41-DB40-4107-9C0B-8EBA86D27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95950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Some diagnostic categories were excluded from the study.</a:t>
            </a:r>
          </a:p>
        </p:txBody>
      </p:sp>
    </p:spTree>
    <p:extLst>
      <p:ext uri="{BB962C8B-B14F-4D97-AF65-F5344CB8AC3E}">
        <p14:creationId xmlns:p14="http://schemas.microsoft.com/office/powerpoint/2010/main" val="186762431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FA6ABA4-7136-4747-9567-66C3F2381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The measurements used to build the features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8679DE8-5A33-4F4C-A307-361D66662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Sources: GSE212160; B-HOT panel consensus (2020); project data contract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945066F-904A-4C5C-BE02-6857700C5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435EB7-FDB9-4AC4-968B-DCB4DAD16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10972800" cy="771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007C78"/>
                </a:solidFill>
                <a:latin typeface="Arial"/>
                <a:ea typeface="Arial"/>
                <a:cs typeface="Arial"/>
              </a:rPr>
              <a:t>770 RNA counts per specimen, one for each RNA type measured.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89C47E9-43DD-4001-A86F-CBA8B1228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14625"/>
            <a:ext cx="50958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758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DD675FC-F32B-42AB-B917-48D75F716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14725"/>
            <a:ext cx="509587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Model measurements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0DC698D-BDEA-4A70-8C68-3ADC74FC6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0"/>
            <a:ext cx="514350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1200"/>
              </a:spcAft>
              <a:buChar char="•"/>
              <a:defRPr sz="21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Include human and viral RNA.</a:t>
            </a:r>
          </a:p>
          <a:p xmlns:a="http://schemas.openxmlformats.org/drawingml/2006/main">
            <a:pPr marL="279400" indent="-152400" algn="l">
              <a:spcAft>
                <a:spcPts val="1200"/>
              </a:spcAft>
              <a:buChar char="•"/>
              <a:defRPr sz="21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Signals depend on gene activity and the cell mixture.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33373E1-ADE9-476C-B000-E4341011A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3675" y="2714625"/>
            <a:ext cx="50387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55B14D4-CDA2-44BA-A0E2-CF066D25A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3675" y="3514725"/>
            <a:ext cx="50387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Housekeeping references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2BC13FD-3F68-46D9-8392-9EAEEB02B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3675" y="4095750"/>
            <a:ext cx="5038725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1200"/>
              </a:spcAft>
              <a:buChar char="•"/>
              <a:defRPr sz="21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12 different reference RNAs.</a:t>
            </a:r>
          </a:p>
          <a:p xmlns:a="http://schemas.openxmlformats.org/drawingml/2006/main">
            <a:pPr marL="279400" indent="-152400" algn="l">
              <a:spcAft>
                <a:spcPts val="1200"/>
              </a:spcAft>
              <a:buChar char="•"/>
              <a:defRPr sz="21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Used to adjust for differences in how much RNA each specimen supplies.</a:t>
            </a:r>
          </a:p>
        </p:txBody>
      </p:sp>
    </p:spTree>
    <p:extLst>
      <p:ext uri="{BB962C8B-B14F-4D97-AF65-F5344CB8AC3E}">
        <p14:creationId xmlns:p14="http://schemas.microsoft.com/office/powerpoint/2010/main" val="48132553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98BC72A-C5D1-4659-80EB-65CA7696D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Preparing counts for the model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AEECC4-F095-4F81-8CA4-452EE1AD8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Source: shared preprocessing; public specimen GSM6510425. Values rounded for display.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1F921DB-AA27-4F56-9EDE-8F4EAC388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graphicFrame>
        <p:nvGraphicFramePr>
          <p:cNvPr id="8" name=""/>
          <p:cNvGraphicFramePr/>
          <p:nvPr/>
        </p:nvGraphicFramePr>
        <p:xfrm>
          <a:off xmlns:a="http://schemas.openxmlformats.org/drawingml/2006/main" x="609600" y="1743075"/>
          <a:ext xmlns:a="http://schemas.openxmlformats.org/drawingml/2006/main" cx="10972800" cy="31718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7677150"/>
                <a:gridCol w="3295650"/>
              </a:tblGrid>
              <a:tr h="63436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For each of the 758 RNA counts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IFNG example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</a:tr>
              <a:tr h="63436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1. Start with the raw count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</a:tr>
              <a:tr h="63436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2. Calculate log₂(count + 1)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2.322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</a:tr>
              <a:tr h="63436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3. Average log₂(count + 1) for the 12 reference RNAs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7.900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</a:tr>
              <a:tr h="63436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4. Subtract that reference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2.322 − 7.900 = −5.578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0351196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32EED76-5B79-45EA-B79E-62E593160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Development and evaluation specimens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03DDE87-11A4-43E5-8369-63F91B8AE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Sources: Zhang et al. (2024), Methods; saved project split, seed 20260915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FFDEF61-9CDB-4A07-877F-75CD426FC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9CB5857-2414-41EF-BD6A-E7E5F588F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109728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1300"/>
              </a:spcAft>
              <a:buChar char="•"/>
              <a:defRPr sz="232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I use the authors’ two study groups: discovery and validation cohorts.</a:t>
            </a:r>
          </a:p>
          <a:p xmlns:a="http://schemas.openxmlformats.org/drawingml/2006/main">
            <a:pPr marL="279400" indent="-152400" algn="l">
              <a:spcAft>
                <a:spcPts val="1300"/>
              </a:spcAft>
              <a:buChar char="•"/>
              <a:defRPr sz="232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My training / screening split keeps diagnosis proportions similar.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D3CEF92-A00E-4EA1-B540-EE2232A9D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67050"/>
            <a:ext cx="6657975" cy="981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FEB"/>
          </a:solidFill>
          <a:ln xmlns:a="http://schemas.openxmlformats.org/drawingml/2006/main" w="9525">
            <a:solidFill>
              <a:srgbClr val="CEDBD7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47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75">
                <a:solidFill>
                  <a:srgbClr val="16343E"/>
                </a:solidFill>
                <a:latin typeface="Arial"/>
                <a:ea typeface="Arial"/>
                <a:cs typeface="Arial"/>
              </a:rPr>
              <a:t>Discovery Cohort</a:t>
            </a:r>
          </a:p>
          <a:p xmlns:a="http://schemas.openxmlformats.org/drawingml/2006/main">
            <a:pPr algn="ctr">
              <a:defRPr sz="247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75">
                <a:solidFill>
                  <a:srgbClr val="16343E"/>
                </a:solidFill>
                <a:latin typeface="Arial"/>
                <a:ea typeface="Arial"/>
                <a:cs typeface="Arial"/>
              </a:rPr>
              <a:t>1,050 specimens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38DCAF6-EA70-4EF7-B719-FDF680382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24400"/>
            <a:ext cx="30099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FEB"/>
          </a:solidFill>
          <a:ln xmlns:a="http://schemas.openxmlformats.org/drawingml/2006/main" w="9525">
            <a:solidFill>
              <a:srgbClr val="CEDBD7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32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>
                <a:solidFill>
                  <a:srgbClr val="16343E"/>
                </a:solidFill>
                <a:latin typeface="Arial"/>
                <a:ea typeface="Arial"/>
                <a:cs typeface="Arial"/>
              </a:rPr>
              <a:t>Training: 787</a:t>
            </a:r>
          </a:p>
          <a:p xmlns:a="http://schemas.openxmlformats.org/drawingml/2006/main">
            <a:pPr algn="ctr">
              <a:defRPr sz="232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>
                <a:solidFill>
                  <a:srgbClr val="16343E"/>
                </a:solidFill>
                <a:latin typeface="Arial"/>
                <a:ea typeface="Arial"/>
                <a:cs typeface="Arial"/>
              </a:rPr>
              <a:t>Fit the models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C1B96DD-6EF8-42EB-ADEE-3251F0BB2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724400"/>
            <a:ext cx="31718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FEB"/>
          </a:solidFill>
          <a:ln xmlns:a="http://schemas.openxmlformats.org/drawingml/2006/main" w="9525">
            <a:solidFill>
              <a:srgbClr val="CEDBD7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7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>
                <a:solidFill>
                  <a:srgbClr val="16343E"/>
                </a:solidFill>
                <a:latin typeface="Arial"/>
                <a:ea typeface="Arial"/>
                <a:cs typeface="Arial"/>
              </a:rPr>
              <a:t>Screening: 263</a:t>
            </a:r>
          </a:p>
          <a:p xmlns:a="http://schemas.openxmlformats.org/drawingml/2006/main">
            <a:pPr algn="ctr">
              <a:defRPr sz="217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>
                <a:solidFill>
                  <a:srgbClr val="16343E"/>
                </a:solidFill>
                <a:latin typeface="Arial"/>
                <a:ea typeface="Arial"/>
                <a:cs typeface="Arial"/>
              </a:rPr>
              <a:t>Choose model and threshold</a:t>
            </a:r>
          </a:p>
        </p:txBody>
      </p:sp>
      <p:cxnSp>
        <p:nvCxnSpPr>
          <p:cNvPr id="18" name=""/>
          <p:cNvCxnSpPr>
            <a:stCxn xmlns:a="http://schemas.openxmlformats.org/drawingml/2006/main" id="5" idx="2"/>
            <a:endCxn xmlns:a="http://schemas.openxmlformats.org/drawingml/2006/main" id="6" idx="0"/>
          </p:cNvCxnSpPr>
          <p:nvPr/>
        </p:nvCxnSpPr>
        <p:spPr>
          <a:xfrm xmlns:a="http://schemas.openxmlformats.org/drawingml/2006/main" flipH="1">
            <a:off x="2114550" y="4048125"/>
            <a:ext cx="1824038" cy="676275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23813">
            <a:solidFill>
              <a:srgbClr val="52656B"/>
            </a:solidFill>
            <a:tailEnd type="arrow" w="med" len="med"/>
          </a:ln>
        </p:spPr>
      </p:cxnSp>
      <p:cxnSp>
        <p:nvCxnSpPr>
          <p:cNvPr id="19" name=""/>
          <p:cNvCxnSpPr>
            <a:stCxn xmlns:a="http://schemas.openxmlformats.org/drawingml/2006/main" id="5" idx="2"/>
            <a:endCxn xmlns:a="http://schemas.openxmlformats.org/drawingml/2006/main" id="7" idx="0"/>
          </p:cNvCxnSpPr>
          <p:nvPr/>
        </p:nvCxnSpPr>
        <p:spPr>
          <a:xfrm xmlns:a="http://schemas.openxmlformats.org/drawingml/2006/main">
            <a:off x="3938588" y="4048125"/>
            <a:ext cx="1743075" cy="676275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23813">
            <a:solidFill>
              <a:srgbClr val="52656B"/>
            </a:solidFill>
            <a:tailEnd type="arrow" w="med" len="med"/>
          </a:ln>
        </p:spPr>
      </p:cxn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47066D6-D86B-40BF-92F1-032E797BE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067050"/>
            <a:ext cx="3771900" cy="2705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343E"/>
          </a:solidFill>
          <a:ln xmlns:a="http://schemas.openxmlformats.org/drawingml/2006/main" w="9525">
            <a:solidFill>
              <a:srgbClr val="CEDBD7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>
                <a:solidFill>
                  <a:srgbClr val="FFFFFF"/>
                </a:solidFill>
                <a:latin typeface="Arial"/>
                <a:ea typeface="Arial"/>
                <a:cs typeface="Arial"/>
              </a:rPr>
              <a:t>Validation Cohort</a:t>
            </a:r>
          </a:p>
          <a:p xmlns:a="http://schemas.openxmlformats.org/drawingml/2006/main">
            <a:pPr algn="ctr">
              <a:defRPr sz="225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>
                <a:solidFill>
                  <a:srgbClr val="FFFFFF"/>
                </a:solidFill>
                <a:latin typeface="Arial"/>
                <a:ea typeface="Arial"/>
                <a:cs typeface="Arial"/>
              </a:rPr>
              <a:t>345 specimens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defRPr sz="225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>
                <a:solidFill>
                  <a:srgbClr val="FFFFFF"/>
                </a:solidFill>
                <a:latin typeface="Arial"/>
                <a:ea typeface="Arial"/>
                <a:cs typeface="Arial"/>
              </a:rPr>
              <a:t>Evaluate the selected</a:t>
            </a:r>
          </a:p>
          <a:p xmlns:a="http://schemas.openxmlformats.org/drawingml/2006/main">
            <a:pPr algn="ctr">
              <a:defRPr sz="225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>
                <a:solidFill>
                  <a:srgbClr val="FFFFFF"/>
                </a:solidFill>
                <a:latin typeface="Arial"/>
                <a:ea typeface="Arial"/>
                <a:cs typeface="Arial"/>
              </a:rPr>
              <a:t>model and threshold</a:t>
            </a:r>
          </a:p>
        </p:txBody>
      </p:sp>
    </p:spTree>
    <p:extLst>
      <p:ext uri="{BB962C8B-B14F-4D97-AF65-F5344CB8AC3E}">
        <p14:creationId xmlns:p14="http://schemas.microsoft.com/office/powerpoint/2010/main" val="78215785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9A6A437-00AF-4208-9CDA-64688BBE9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Models compared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8AB12C9-386B-42E9-A42F-BF91B19C1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Sources: primary configuration and analysis, 15 Sep 2026; Zhang et al., Supplementary Table S2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70D246-2A6F-4E14-99DC-DEA5E5C61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636D61-B86C-46BA-B393-D5EEEFAD8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0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475" b="0">
                <a:solidFill>
                  <a:srgbClr val="007C78"/>
                </a:solidFill>
                <a:latin typeface="Arial"/>
                <a:ea typeface="Arial"/>
                <a:cs typeface="Arial"/>
              </a:rPr>
              <a:t>Each model produces a score for rejection versus no rejection.</a:t>
            </a:r>
          </a:p>
        </p:txBody>
      </p:sp>
      <p:graphicFrame>
        <p:nvGraphicFramePr>
          <p:cNvPr id="10" name=""/>
          <p:cNvGraphicFramePr/>
          <p:nvPr/>
        </p:nvGraphicFramePr>
        <p:xfrm>
          <a:off xmlns:a="http://schemas.openxmlformats.org/drawingml/2006/main" x="609600" y="2419350"/>
          <a:ext xmlns:a="http://schemas.openxmlformats.org/drawingml/2006/main" cx="10972800" cy="35433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371850"/>
                <a:gridCol w="7600950"/>
              </a:tblGrid>
              <a:tr h="5048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Model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What it learns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</a:tr>
              <a:tr h="5810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Constant baseline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One score: the training rejection fraction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</a:tr>
              <a:tr h="7429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IFNG only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One immune-related RNA measurement</a:t>
                      </a:r>
                    </a:p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as a simple benchmark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</a:tr>
              <a:tr h="10477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Logistic regression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A weighted combination of 758 measurements.</a:t>
                      </a:r>
                    </a:p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Regularization limits the size of the weights.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</a:tr>
              <a:tr h="6667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CatBoost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A combination of decision trees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66982383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2E554F0-969A-4672-ACC7-ED7AF9A80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Choosing a rejection threshold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C1A396B-0A57-46AC-80EF-D8B1F6C94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Source: discovery screening rule and selected model metadata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FC80041-1AB7-4DC5-BA56-9302DCE52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95FD238-7FC0-48DF-A2F9-3F50CC037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90675"/>
            <a:ext cx="51816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B55730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B55730"/>
                </a:solidFill>
                <a:latin typeface="Arial"/>
                <a:ea typeface="Arial"/>
                <a:cs typeface="Arial"/>
              </a:rPr>
              <a:t>Recall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28F2EC7-A2E5-4E8A-AE19-D372254C6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24075"/>
            <a:ext cx="51816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Recorded rejection cases detected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938E53E-F76B-48F2-87D2-62F76F0F1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47950"/>
            <a:ext cx="4953000" cy="0"/>
          </a:xfrm>
          <a:prstGeom xmlns:a="http://schemas.openxmlformats.org/drawingml/2006/main" prst="line">
            <a:avLst/>
          </a:prstGeom>
          <a:ln xmlns:a="http://schemas.openxmlformats.org/drawingml/2006/main" w="11430">
            <a:solidFill>
              <a:srgbClr val="16343E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2B7F36-C4DE-430D-B848-A89FE8963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05100"/>
            <a:ext cx="51816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All recorded rejection cases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1DAE889-778F-42B9-8F35-B874D529D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57550"/>
            <a:ext cx="51816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B55730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B55730"/>
                </a:solidFill>
                <a:latin typeface="Arial"/>
                <a:ea typeface="Arial"/>
                <a:cs typeface="Arial"/>
              </a:rPr>
              <a:t>(False negatives are missed cases.)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C14D9E0-A1AF-49C4-B32B-8484275CE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1590675"/>
            <a:ext cx="4876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007C78"/>
                </a:solidFill>
                <a:latin typeface="Arial"/>
                <a:ea typeface="Arial"/>
                <a:cs typeface="Arial"/>
              </a:rPr>
              <a:t>Precision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A380D3B-F8E0-4812-9CEB-274BD74F7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124075"/>
            <a:ext cx="4876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Flags with recorded rejection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1F62A75-1633-4745-992E-8326DB939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647950"/>
            <a:ext cx="4648200" cy="0"/>
          </a:xfrm>
          <a:prstGeom xmlns:a="http://schemas.openxmlformats.org/drawingml/2006/main" prst="line">
            <a:avLst/>
          </a:prstGeom>
          <a:ln xmlns:a="http://schemas.openxmlformats.org/drawingml/2006/main" w="11430">
            <a:solidFill>
              <a:srgbClr val="16343E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A3F7D60-3ABE-476B-B5D7-46E112A80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705100"/>
            <a:ext cx="4876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All positive flags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E7969CB-039F-4945-89C9-D5BC12558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257550"/>
            <a:ext cx="4876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007C78"/>
                </a:solidFill>
                <a:latin typeface="Arial"/>
                <a:ea typeface="Arial"/>
                <a:cs typeface="Arial"/>
              </a:rPr>
              <a:t>(False positives are incorrect flags.)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F4420A0-6058-4FC8-88FC-3B2BAD156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0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Selection using screening specimens</a:t>
            </a:r>
          </a:p>
        </p:txBody>
      </p:sp>
      <p:graphicFrame>
        <p:nvGraphicFramePr>
          <p:cNvPr id="31" name=""/>
          <p:cNvGraphicFramePr/>
          <p:nvPr/>
        </p:nvGraphicFramePr>
        <p:xfrm>
          <a:off xmlns:a="http://schemas.openxmlformats.org/drawingml/2006/main" x="609600" y="4505325"/>
          <a:ext xmlns:a="http://schemas.openxmlformats.org/drawingml/2006/main" cx="10972800" cy="14382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066800"/>
                <a:gridCol w="9906000"/>
              </a:tblGrid>
              <a:tr h="3524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Step</a:t>
                      </a:r>
                    </a:p>
                  </a:txBody>
                  <a:tcPr marL="171450" marR="142875" marT="19050" marB="19050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Rule</a:t>
                      </a:r>
                    </a:p>
                  </a:txBody>
                  <a:tcPr marL="171450" marR="142875" marT="19050" marB="19050" anchor="ctr">
                    <a:solidFill>
                      <a:srgbClr val="16343E"/>
                    </a:solidFill>
                  </a:tcPr>
                </a:tc>
              </a:tr>
              <a:tr h="3619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171450" marR="142875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Detect at least 90% of recorded rejection cases.*</a:t>
                      </a:r>
                    </a:p>
                  </a:txBody>
                  <a:tcPr marL="171450" marR="142875" marT="19050" marB="19050"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171450" marR="142875" marT="19050" marB="19050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Among qualifying choices, minimize false positives.</a:t>
                      </a:r>
                    </a:p>
                  </a:txBody>
                  <a:tcPr marL="171450" marR="142875" marT="19050" marB="19050" anchor="ctr">
                    <a:solidFill>
                      <a:srgbClr val="EDF3F0"/>
                    </a:solidFill>
                  </a:tcPr>
                </a:tc>
              </a:tr>
              <a:tr h="3619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171450" marR="142875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Keep the chosen model and threshold for evaluation.</a:t>
                      </a:r>
                    </a:p>
                  </a:txBody>
                  <a:tcPr marL="171450" marR="142875" marT="19050" marB="190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AEF79EC-0BD2-4CB3-9829-EE39DA58D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*90% is an experimental target.</a:t>
            </a:r>
          </a:p>
        </p:txBody>
      </p:sp>
    </p:spTree>
    <p:extLst>
      <p:ext uri="{BB962C8B-B14F-4D97-AF65-F5344CB8AC3E}">
        <p14:creationId xmlns:p14="http://schemas.microsoft.com/office/powerpoint/2010/main" val="163242456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29C166B-21AE-414D-8C5F-DAD7A23B3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Validation results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7587E13-10EF-4227-B11E-14EDA6BF1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Source: primary evaluation, 15 Sep 2026. Errors are against recorded diagnoses.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20101C-68D0-4BDC-8031-DA39DD933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63124D7-118C-40D4-A62C-1DA89D023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Same 345 specimens: 169 rejection and 176 no rejection</a:t>
            </a:r>
          </a:p>
        </p:txBody>
      </p:sp>
      <p:graphicFrame>
        <p:nvGraphicFramePr>
          <p:cNvPr id="11" name="Chart"/>
          <p:cNvGraphicFramePr/>
          <p:nvPr/>
        </p:nvGraphicFramePr>
        <p:xfrm>
          <a:off xmlns:a="http://schemas.openxmlformats.org/drawingml/2006/main" x="533400" y="1924050"/>
          <a:ext xmlns:a="http://schemas.openxmlformats.org/drawingml/2006/main" cx="11144250" cy="31146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a3b9ed9027f45b4"/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D3133AB-F27A-444D-BA58-8510313CD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00650"/>
            <a:ext cx="109728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1100"/>
              </a:spcAft>
              <a:buChar char="•"/>
              <a:defRPr sz="21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Constant baseline: 0 false negatives, 176 false positives. It flags everyone.</a:t>
            </a:r>
          </a:p>
          <a:p xmlns:a="http://schemas.openxmlformats.org/drawingml/2006/main">
            <a:pPr marL="279400" indent="-152400" algn="l">
              <a:spcAft>
                <a:spcPts val="1100"/>
              </a:spcAft>
              <a:buChar char="•"/>
              <a:defRPr sz="21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CatBoost versus IFNG: 67 fewer false positives, 11 more false negatives.</a:t>
            </a:r>
          </a:p>
        </p:txBody>
      </p:sp>
    </p:spTree>
    <p:extLst>
      <p:ext uri="{BB962C8B-B14F-4D97-AF65-F5344CB8AC3E}">
        <p14:creationId xmlns:p14="http://schemas.microsoft.com/office/powerpoint/2010/main" val="127773223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6C3FCE4-A5C2-4644-B938-F6D411D28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Most CatBoost misses were T-cell rejection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8229517-23CD-4431-BA1B-D9D58D913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Source: primary evaluation and screening results, 15 Sep 2026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5B1AE7B-A413-4063-B17D-3CFBAD98B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39D2F5-1B34-452E-B472-AD47631A8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4667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525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144 / 169 detected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4EEABEC-FBCF-46B1-8A26-14233474A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0325"/>
            <a:ext cx="4667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85.2% recall (sensitivity)</a:t>
            </a:r>
          </a:p>
          <a:p xmlns:a="http://schemas.openxmlformats.org/drawingml/2006/main">
            <a:pPr algn="l">
              <a:defRPr sz="24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in evaluation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DA375D3-44E1-43F4-9997-EA55F0CED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43325"/>
            <a:ext cx="45148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1800"/>
              </a:spcAft>
              <a:buChar char="•"/>
              <a:defRPr sz="22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Screening: 157 / 174 detected (90.2%).</a:t>
            </a:r>
          </a:p>
          <a:p xmlns:a="http://schemas.openxmlformats.org/drawingml/2006/main">
            <a:pPr marL="279400" indent="-152400" algn="l">
              <a:spcAft>
                <a:spcPts val="1800"/>
              </a:spcAft>
              <a:buChar char="•"/>
              <a:defRPr sz="22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Evaluation falls below the 90% selection target.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FE9D7BA-71ED-4B6A-96FC-94C403EB2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1666875"/>
            <a:ext cx="59150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Misses by recorded diagnosis</a:t>
            </a:r>
          </a:p>
        </p:txBody>
      </p:sp>
      <p:graphicFrame>
        <p:nvGraphicFramePr>
          <p:cNvPr id="16" name=""/>
          <p:cNvGraphicFramePr/>
          <p:nvPr/>
        </p:nvGraphicFramePr>
        <p:xfrm>
          <a:off xmlns:a="http://schemas.openxmlformats.org/drawingml/2006/main" x="5667375" y="2381250"/>
          <a:ext xmlns:a="http://schemas.openxmlformats.org/drawingml/2006/main" cx="5915025" cy="3095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781425"/>
                <a:gridCol w="2133600"/>
              </a:tblGrid>
              <a:tr h="773906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Recorded rejection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Missed / total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</a:tr>
              <a:tr h="773906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Antibody-mediated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6 / 56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</a:tr>
              <a:tr h="773906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T-cell-mediated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18 / 95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</a:tr>
              <a:tr h="773906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Mixed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1 / 18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69880390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B60851F-0479-427C-A7B9-36EE11BF2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The advantage over logistic regression is uncertain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65D2DDF-7B50-4590-A645-158627A5E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Sources: paired bootstrap analysis; discovery stability follow-up, 17 Sep 2026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D610B85-A8AF-42BF-BDED-27C0FCA34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ED566BB-48A8-464A-B01B-E06B95162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9725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CatBoost versus logistic regression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791DAE0-4627-4BD5-B4E0-B7295939D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90750"/>
            <a:ext cx="109728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900"/>
              </a:spcAft>
              <a:buChar char="•"/>
              <a:defRPr sz="232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8 fewer misses among the same 169 rejection specimens.</a:t>
            </a:r>
          </a:p>
          <a:p xmlns:a="http://schemas.openxmlformats.org/drawingml/2006/main">
            <a:pPr marL="279400" indent="-152400" algn="l">
              <a:spcAft>
                <a:spcPts val="900"/>
              </a:spcAft>
              <a:buChar char="•"/>
              <a:defRPr sz="232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Both make 8 false flags among 176 no-rejection specimens.</a:t>
            </a:r>
          </a:p>
          <a:p xmlns:a="http://schemas.openxmlformats.org/drawingml/2006/main">
            <a:pPr marL="279400" indent="-152400" algn="l">
              <a:spcAft>
                <a:spcPts val="900"/>
              </a:spcAft>
              <a:buChar char="•"/>
              <a:defRPr sz="232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The 95% interval for the detection advantage includes zero.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06E2892-5F71-402B-ADC5-17B71B5D5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243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Model choice across 20 development splits</a:t>
            </a:r>
          </a:p>
        </p:txBody>
      </p:sp>
      <p:graphicFrame>
        <p:nvGraphicFramePr>
          <p:cNvPr id="15" name=""/>
          <p:cNvGraphicFramePr/>
          <p:nvPr/>
        </p:nvGraphicFramePr>
        <p:xfrm>
          <a:off xmlns:a="http://schemas.openxmlformats.org/drawingml/2006/main" x="609600" y="4562475"/>
          <a:ext xmlns:a="http://schemas.openxmlformats.org/drawingml/2006/main" cx="10972800" cy="10668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486400"/>
                <a:gridCol w="5486400"/>
              </a:tblGrid>
              <a:tr h="533400">
                <a:tc>
                  <a:txBody>
                    <a:bodyPr>
                      <a:noAutofit/>
                    </a:bodyPr>
                    <a:lstStyle/>
                    <a:p>
                      <a:r>
                        <a:rPr sz="22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CatBoost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2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Logistic regression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</a:tr>
              <a:tr h="533400">
                <a:tc>
                  <a:txBody>
                    <a:bodyPr>
                      <a:noAutofit/>
                    </a:bodyPr>
                    <a:lstStyle/>
                    <a:p>
                      <a:r>
                        <a:rPr sz="22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13 selections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2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7 selections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71E7439-1C34-45E0-ADC4-63B9CB307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0"/>
            <a:ext cx="109728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The splits overlap. These counts describe variation in model choice.</a:t>
            </a:r>
          </a:p>
        </p:txBody>
      </p:sp>
    </p:spTree>
    <p:extLst>
      <p:ext uri="{BB962C8B-B14F-4D97-AF65-F5344CB8AC3E}">
        <p14:creationId xmlns:p14="http://schemas.microsoft.com/office/powerpoint/2010/main" val="598331586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54A8FE2-6003-46A6-A716-180B5F3DC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Prediction service and demonstration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D6B3B66-5D4C-497A-A910-98C5403CF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Source: shared preprocessing and Predictor; application contract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1D2080F-1312-4BC8-A0D0-B70794845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3519A4B-435C-4203-A098-63317865D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109728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600"/>
              </a:spcAft>
              <a:buChar char="•"/>
              <a:defRPr sz="21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CSV input through the command line or web application.</a:t>
            </a:r>
          </a:p>
          <a:p xmlns:a="http://schemas.openxmlformats.org/drawingml/2006/main">
            <a:pPr marL="279400" indent="-152400" algn="l">
              <a:spcAft>
                <a:spcPts val="600"/>
              </a:spcAft>
              <a:buChar char="•"/>
              <a:defRPr sz="21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Training and prediction share the preparation code.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CC0AD85-0F67-4B6A-97E2-4EDCA0AAB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09825"/>
            <a:ext cx="24384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FEB"/>
          </a:solidFill>
          <a:ln xmlns:a="http://schemas.openxmlformats.org/drawingml/2006/main" w="9525">
            <a:solidFill>
              <a:srgbClr val="CEDBD7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32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>
                <a:solidFill>
                  <a:srgbClr val="16343E"/>
                </a:solidFill>
                <a:latin typeface="Arial"/>
                <a:ea typeface="Arial"/>
                <a:cs typeface="Arial"/>
              </a:rPr>
              <a:t>Read counts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84D9139-524E-49E9-9BA4-E06D68CAC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409825"/>
            <a:ext cx="24384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FEB"/>
          </a:solidFill>
          <a:ln xmlns:a="http://schemas.openxmlformats.org/drawingml/2006/main" w="9525">
            <a:solidFill>
              <a:srgbClr val="CEDBD7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32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>
                <a:solidFill>
                  <a:srgbClr val="16343E"/>
                </a:solidFill>
                <a:latin typeface="Arial"/>
                <a:ea typeface="Arial"/>
                <a:cs typeface="Arial"/>
              </a:rPr>
              <a:t>Check names</a:t>
            </a:r>
          </a:p>
          <a:p xmlns:a="http://schemas.openxmlformats.org/drawingml/2006/main">
            <a:pPr algn="ctr">
              <a:defRPr sz="232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>
                <a:solidFill>
                  <a:srgbClr val="16343E"/>
                </a:solidFill>
                <a:latin typeface="Arial"/>
                <a:ea typeface="Arial"/>
                <a:cs typeface="Arial"/>
              </a:rPr>
              <a:t>and numbers</a:t>
            </a:r>
          </a:p>
        </p:txBody>
      </p:sp>
      <p:cxnSp>
        <p:nvCxnSpPr>
          <p:cNvPr id="19" name="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3048000" y="3028950"/>
            <a:ext cx="4000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52656B"/>
            </a:solidFill>
            <a:tailEnd type="arrow" w="med" len="med"/>
          </a:ln>
        </p:spPr>
      </p:cxn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4762E3D-26F1-4AFF-A718-0FD0A1BF8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409825"/>
            <a:ext cx="24384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FEB"/>
          </a:solidFill>
          <a:ln xmlns:a="http://schemas.openxmlformats.org/drawingml/2006/main" w="9525">
            <a:solidFill>
              <a:srgbClr val="CEDBD7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32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>
                <a:solidFill>
                  <a:srgbClr val="16343E"/>
                </a:solidFill>
                <a:latin typeface="Arial"/>
                <a:ea typeface="Arial"/>
                <a:cs typeface="Arial"/>
              </a:rPr>
              <a:t>Normalize</a:t>
            </a:r>
          </a:p>
          <a:p xmlns:a="http://schemas.openxmlformats.org/drawingml/2006/main">
            <a:pPr algn="ctr">
              <a:defRPr sz="232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>
                <a:solidFill>
                  <a:srgbClr val="16343E"/>
                </a:solidFill>
                <a:latin typeface="Arial"/>
                <a:ea typeface="Arial"/>
                <a:cs typeface="Arial"/>
              </a:rPr>
              <a:t>758 inputs</a:t>
            </a:r>
          </a:p>
        </p:txBody>
      </p:sp>
      <p:cxnSp>
        <p:nvCxnSpPr>
          <p:cNvPr id="21" name=""/>
          <p:cNvCxnSpPr>
            <a:stCxn xmlns:a="http://schemas.openxmlformats.org/drawingml/2006/main" id="6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5886450" y="3028950"/>
            <a:ext cx="4000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52656B"/>
            </a:solidFill>
            <a:tailEnd type="arrow" w="med" len="med"/>
          </a:ln>
        </p:spPr>
      </p:cxn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E2F8D7D-C280-42F8-9599-7394D0F1B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409825"/>
            <a:ext cx="24384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FEB"/>
          </a:solidFill>
          <a:ln xmlns:a="http://schemas.openxmlformats.org/drawingml/2006/main" w="9525">
            <a:solidFill>
              <a:srgbClr val="CEDBD7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32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>
                <a:solidFill>
                  <a:srgbClr val="16343E"/>
                </a:solidFill>
                <a:latin typeface="Arial"/>
                <a:ea typeface="Arial"/>
                <a:cs typeface="Arial"/>
              </a:rPr>
              <a:t>Score with</a:t>
            </a:r>
          </a:p>
          <a:p xmlns:a="http://schemas.openxmlformats.org/drawingml/2006/main">
            <a:pPr algn="ctr">
              <a:defRPr sz="232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>
                <a:solidFill>
                  <a:srgbClr val="16343E"/>
                </a:solidFill>
                <a:latin typeface="Arial"/>
                <a:ea typeface="Arial"/>
                <a:cs typeface="Arial"/>
              </a:rPr>
              <a:t>saved model</a:t>
            </a:r>
          </a:p>
        </p:txBody>
      </p:sp>
      <p:cxnSp>
        <p:nvCxnSpPr>
          <p:cNvPr id="23" name=""/>
          <p:cNvCxnSpPr>
            <a:stCxn xmlns:a="http://schemas.openxmlformats.org/drawingml/2006/main" id="8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8724900" y="3028950"/>
            <a:ext cx="4000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52656B"/>
            </a:solidFill>
            <a:tailEnd type="arrow" w="med" len="med"/>
          </a:ln>
        </p:spPr>
      </p:cxn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5EABD82-ECF3-4F7A-9567-36063A3F0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2200"/>
              </a:spcAft>
              <a:buChar char="•"/>
              <a:defRPr sz="24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A valid request returns the specimen ID, model score, threshold, flag and model version.</a:t>
            </a:r>
          </a:p>
          <a:p xmlns:a="http://schemas.openxmlformats.org/drawingml/2006/main">
            <a:pPr marL="279400" indent="-152400" algn="l">
              <a:spcAft>
                <a:spcPts val="2200"/>
              </a:spcAft>
              <a:buChar char="•"/>
              <a:defRPr sz="24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Missing or duplicate measurements, negative counts or non-finite values stop scoring.</a:t>
            </a:r>
          </a:p>
        </p:txBody>
      </p:sp>
    </p:spTree>
    <p:extLst>
      <p:ext uri="{BB962C8B-B14F-4D97-AF65-F5344CB8AC3E}">
        <p14:creationId xmlns:p14="http://schemas.microsoft.com/office/powerpoint/2010/main" val="1404919146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0B12E10-902A-4D94-B2BB-65ED70346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One public specimen through the service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40FA92F-E999-4C58-A209-8FBD24C44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Source: public discovery-screen example and saved application checks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00F3AB6-3108-45FA-950A-23C58CE48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F124F3-8051-4078-9915-471577AA7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1200"/>
              </a:spcAft>
              <a:buChar char="•"/>
              <a:defRPr sz="25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GSM6510425: recorded no rejection.</a:t>
            </a:r>
          </a:p>
        </p:txBody>
      </p:sp>
      <p:graphicFrame>
        <p:nvGraphicFramePr>
          <p:cNvPr id="13" name=""/>
          <p:cNvGraphicFramePr/>
          <p:nvPr/>
        </p:nvGraphicFramePr>
        <p:xfrm>
          <a:off xmlns:a="http://schemas.openxmlformats.org/drawingml/2006/main" x="609600" y="2371725"/>
          <a:ext xmlns:a="http://schemas.openxmlformats.org/drawingml/2006/main" cx="10972800" cy="13144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295650"/>
                <a:gridCol w="3486150"/>
                <a:gridCol w="4191000"/>
              </a:tblGrid>
              <a:tr h="6572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3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Model score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3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Selected threshold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3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Rejection flag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</a:tr>
              <a:tr h="6572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32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0.274934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32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0.876588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32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False (below cutoff)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7054A0A-3161-4CAB-B661-402DE7205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00475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Model: 20260915_shared:any_rejection:catboost_all_depth4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5ABC40D-995E-4FC5-BFD9-D9528999A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71975"/>
            <a:ext cx="10972800" cy="1209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1800"/>
              </a:spcAft>
              <a:buChar char="•"/>
              <a:defRPr sz="22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The complete input produces a flag that agrees with the recorded diagnosis.</a:t>
            </a:r>
          </a:p>
          <a:p xmlns:a="http://schemas.openxmlformats.org/drawingml/2006/main">
            <a:pPr marL="279400" indent="-152400" algn="l">
              <a:spcAft>
                <a:spcPts val="1800"/>
              </a:spcAft>
              <a:buChar char="•"/>
              <a:defRPr sz="22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Removing IFNG clears the previous result and returns no new score.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AACC592-0E71-473E-822D-D24BCAE3B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638800"/>
            <a:ext cx="106870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“Missing required assay targets: IFNG”</a:t>
            </a:r>
          </a:p>
        </p:txBody>
      </p:sp>
    </p:spTree>
    <p:extLst>
      <p:ext uri="{BB962C8B-B14F-4D97-AF65-F5344CB8AC3E}">
        <p14:creationId xmlns:p14="http://schemas.microsoft.com/office/powerpoint/2010/main" val="1755082383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7F5E51B-B22F-44C3-BC86-7BC785A25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The service reproduces all 345 saved scores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4B8D860-6894-48DD-B17B-CF12F732A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Source: local verification, 17 Sep 2026. Software consistency check.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7A32D45-DA0E-44FF-8331-5CAEBCC31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00F02C-70C9-45DA-B2CB-99A401E30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1200"/>
              </a:spcAft>
              <a:buChar char="•"/>
              <a:defRPr sz="24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API, command line and saved evaluation agree within 10⁻¹².</a:t>
            </a:r>
          </a:p>
        </p:txBody>
      </p:sp>
      <p:graphicFrame>
        <p:nvGraphicFramePr>
          <p:cNvPr id="11" name=""/>
          <p:cNvGraphicFramePr/>
          <p:nvPr/>
        </p:nvGraphicFramePr>
        <p:xfrm>
          <a:off xmlns:a="http://schemas.openxmlformats.org/drawingml/2006/main" x="609600" y="2447925"/>
          <a:ext xmlns:a="http://schemas.openxmlformats.org/drawingml/2006/main" cx="10972800" cy="2381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476875"/>
                <a:gridCol w="5495925"/>
              </a:tblGrid>
              <a:tr h="595313">
                <a:tc>
                  <a:txBody>
                    <a:bodyPr>
                      <a:noAutofit/>
                    </a:bodyPr>
                    <a:lstStyle/>
                    <a:p>
                      <a:r>
                        <a:rPr sz="22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Check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2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Observed behavior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</a:tr>
              <a:tr h="595313">
                <a:tc>
                  <a:txBody>
                    <a:bodyPr>
                      <a:noAutofit/>
                    </a:bodyPr>
                    <a:lstStyle/>
                    <a:p>
                      <a:r>
                        <a:rPr sz="22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Reordered columns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2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Same model score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</a:tr>
              <a:tr h="595313">
                <a:tc>
                  <a:txBody>
                    <a:bodyPr>
                      <a:noAutofit/>
                    </a:bodyPr>
                    <a:lstStyle/>
                    <a:p>
                      <a:r>
                        <a:rPr sz="22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Invalid or incomplete counts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2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No score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</a:tr>
              <a:tr h="595313">
                <a:tc>
                  <a:txBody>
                    <a:bodyPr>
                      <a:noAutofit/>
                    </a:bodyPr>
                    <a:lstStyle/>
                    <a:p>
                      <a:r>
                        <a:rPr sz="22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Incompatible model metadata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2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Model does not load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15CA0AB-FB60-4A4E-80B5-9394EBBA5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00650"/>
            <a:ext cx="109728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1300"/>
              </a:spcAft>
              <a:buChar char="•"/>
              <a:defRPr sz="21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94 tests passed, including these failure cases.</a:t>
            </a:r>
          </a:p>
          <a:p xmlns:a="http://schemas.openxmlformats.org/drawingml/2006/main">
            <a:pPr marL="279400" indent="-152400" algn="l">
              <a:spcAft>
                <a:spcPts val="1300"/>
              </a:spcAft>
              <a:buChar char="•"/>
              <a:defRPr sz="21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The local container was checked. Cloud deployment is deferred.</a:t>
            </a:r>
          </a:p>
        </p:txBody>
      </p:sp>
    </p:spTree>
    <p:extLst>
      <p:ext uri="{BB962C8B-B14F-4D97-AF65-F5344CB8AC3E}">
        <p14:creationId xmlns:p14="http://schemas.microsoft.com/office/powerpoint/2010/main" val="2073885485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F4E59F-202D-453A-A030-C87C175ED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Possible next steps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DDF993B-8CDC-4ED6-B14C-F738651D3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Sources: project results and research context. Hypothetical extensions.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7B6BE33-4A8D-4E3B-9333-E60D6857C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5144E4-F508-4F88-9DC8-6523273B8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10972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007C78"/>
                </a:solidFill>
                <a:latin typeface="Arial"/>
                <a:ea typeface="Arial"/>
                <a:cs typeface="Arial"/>
              </a:rPr>
              <a:t>Ideas for extending this personal project</a:t>
            </a:r>
          </a:p>
        </p:txBody>
      </p:sp>
      <p:graphicFrame>
        <p:nvGraphicFramePr>
          <p:cNvPr id="10" name=""/>
          <p:cNvGraphicFramePr/>
          <p:nvPr/>
        </p:nvGraphicFramePr>
        <p:xfrm>
          <a:off xmlns:a="http://schemas.openxmlformats.org/drawingml/2006/main" x="609600" y="2486025"/>
          <a:ext xmlns:a="http://schemas.openxmlformats.org/drawingml/2006/main" cx="10972800" cy="3333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067175"/>
                <a:gridCol w="6905625"/>
              </a:tblGrid>
              <a:tr h="5143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Question</a:t>
                      </a:r>
                    </a:p>
                  </a:txBody>
                  <a:tcPr marL="171450" marR="142875" marT="76200" marB="76200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Possible approach</a:t>
                      </a:r>
                    </a:p>
                  </a:txBody>
                  <a:tcPr marL="171450" marR="142875" marT="76200" marB="76200" anchor="ctr">
                    <a:solidFill>
                      <a:srgbClr val="16343E"/>
                    </a:solidFill>
                  </a:tcPr>
                </a:tc>
              </a:tr>
              <a:tr h="1409700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Would the results hold in another dataset?</a:t>
                      </a:r>
                    </a:p>
                  </a:txBody>
                  <a:tcPr marL="171450" marR="142875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Test the saved models and thresholds on new transplant biopsies.</a:t>
                      </a:r>
                    </a:p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Record patient, center and lab quality information.</a:t>
                      </a:r>
                    </a:p>
                  </a:txBody>
                  <a:tcPr marL="171450" marR="142875" marT="76200" marB="76200" anchor="ctr">
                    <a:solidFill>
                      <a:srgbClr val="FFFFFF"/>
                    </a:solidFill>
                  </a:tcPr>
                </a:tc>
              </a:tr>
              <a:tr h="1409700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Would RNA help with uncertain biopsies?</a:t>
                      </a:r>
                    </a:p>
                  </a:txBody>
                  <a:tcPr marL="171450" marR="142875" marT="76200" marB="76200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With clinical collaborators, compare assessment with and without the RNA score.</a:t>
                      </a:r>
                    </a:p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Review decisions and follow-up outcomes.</a:t>
                      </a:r>
                    </a:p>
                  </a:txBody>
                  <a:tcPr marL="171450" marR="142875" marT="76200" marB="76200" anchor="ctr">
                    <a:solidFill>
                      <a:srgbClr val="EDF3F0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6349190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16343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827F13D-E296-487E-BC3D-BEC1C5FEF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What this project accomplished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384811A-BC5B-4994-B1FB-840C52CEB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D6E8E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D6E8E5"/>
                </a:solidFill>
                <a:latin typeface="Arial"/>
                <a:ea typeface="Arial"/>
                <a:cs typeface="Arial"/>
              </a:rPr>
              <a:t>Public data: Zhang et al. (2024), GSE212160. Presentation prepared with AI assistance.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8A84633-E373-4173-B48C-6EDC81AC8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D6E8E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D6E8E5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A30DF5-DED2-491F-9227-8927EF662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33525"/>
            <a:ext cx="1097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Model comparison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CD479A6-5E91-4058-8A49-88481CE0D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CatBoost, 345 evaluation specimens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B4058D1-3828-49FA-916D-A0509C1C2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90775"/>
            <a:ext cx="51625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5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14.8% missed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145E8F5-53D5-4E6F-9760-A59DF66AB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390775"/>
            <a:ext cx="5238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5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4.5% false flags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7571658-5BD9-487A-9E6C-8661BE54E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5162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25 of 169 recorded rejection specimens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0E739F1-1484-4F98-BD00-C3599D74D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048000"/>
            <a:ext cx="5238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8 of 176 recorded no-rejection specimens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A4605B1-D513-47FD-BAEF-BA3D11FDE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Fewer false flags than IFNG, but more misses.</a:t>
            </a:r>
          </a:p>
          <a:p xmlns:a="http://schemas.openxmlformats.org/drawingml/2006/main">
            <a:pPr algn="l">
              <a:defRPr sz="21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Advantage over logistic regression remains uncertain.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D4EFCD4-72FD-4DA6-A388-C9AF351A6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76750"/>
            <a:ext cx="10972800" cy="0"/>
          </a:xfrm>
          <a:prstGeom xmlns:a="http://schemas.openxmlformats.org/drawingml/2006/main" prst="line">
            <a:avLst/>
          </a:prstGeom>
          <a:ln xmlns:a="http://schemas.openxmlformats.org/drawingml/2006/main" w="11430">
            <a:solidFill>
              <a:srgbClr val="78949B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72D92F0-D623-4A0F-807E-C3A912200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29150"/>
            <a:ext cx="1097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Prediction service and demo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ABFBC1F-89BC-4FAA-9380-A59ABE375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1000"/>
              </a:spcAft>
              <a:buChar char="•"/>
              <a:defRPr sz="21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Shared preparation code reproduced all 345 saved scores.</a:t>
            </a:r>
          </a:p>
          <a:p xmlns:a="http://schemas.openxmlformats.org/drawingml/2006/main">
            <a:pPr marL="279400" indent="-152400" algn="l">
              <a:spcAft>
                <a:spcPts val="1000"/>
              </a:spcAft>
              <a:buChar char="•"/>
              <a:defRPr sz="21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Working demo with valid input and clear error messages.</a:t>
            </a:r>
          </a:p>
        </p:txBody>
      </p:sp>
    </p:spTree>
    <p:extLst>
      <p:ext uri="{BB962C8B-B14F-4D97-AF65-F5344CB8AC3E}">
        <p14:creationId xmlns:p14="http://schemas.microsoft.com/office/powerpoint/2010/main" val="675679110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859C7B-C133-43DB-8406-26833AF44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Backup: measuring biopsy RNA with NanoString nCounter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8B927D5-CDED-4880-A59D-52C0B3C43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Sources: Zhang et al. (2024), Methods; Bruker nCounter documentation; GSE212160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DD5821-AF82-46C7-B953-30B99ED17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E948DC-2B29-4761-8428-46F38E13F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04975"/>
            <a:ext cx="10972800" cy="3543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2200"/>
              </a:spcAft>
              <a:buChar char="•"/>
              <a:defRPr sz="25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RNA includes messages cells make when genes are active.</a:t>
            </a:r>
          </a:p>
          <a:p xmlns:a="http://schemas.openxmlformats.org/drawingml/2006/main">
            <a:pPr marL="279400" indent="-152400" algn="l">
              <a:spcAft>
                <a:spcPts val="2200"/>
              </a:spcAft>
              <a:buChar char="•"/>
              <a:defRPr sz="25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An assay is a laboratory test. B-HOT is the fixed panel of RNA types measured in this study.</a:t>
            </a:r>
          </a:p>
          <a:p xmlns:a="http://schemas.openxmlformats.org/drawingml/2006/main">
            <a:pPr marL="279400" indent="-152400" algn="l">
              <a:spcAft>
                <a:spcPts val="2200"/>
              </a:spcAft>
              <a:buChar char="•"/>
              <a:defRPr sz="25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The laboratory extracts RNA from preserved tissue. Probes recognize selected RNAs, and NanoString nCounter counts their identifying barcodes.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4EDB1A-646B-4977-9874-003FEFDC0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219700"/>
            <a:ext cx="10687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Example: IFNG count = 4 in one public specimen</a:t>
            </a:r>
          </a:p>
        </p:txBody>
      </p:sp>
    </p:spTree>
    <p:extLst>
      <p:ext uri="{BB962C8B-B14F-4D97-AF65-F5344CB8AC3E}">
        <p14:creationId xmlns:p14="http://schemas.microsoft.com/office/powerpoint/2010/main" val="1814137767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BF21BDC-B5EA-48C9-ABC5-0329B4E66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Backup: complete primary comparison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2632283-4B63-40A1-B3C4-1EF4E7C4C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Source: primary evaluation, 15 Sep 2026. Same 345 specimens.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D1DCFFB-055C-4FBB-8F8A-F0B0D10F0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  <p:graphicFrame>
        <p:nvGraphicFramePr>
          <p:cNvPr id="9" name=""/>
          <p:cNvGraphicFramePr/>
          <p:nvPr/>
        </p:nvGraphicFramePr>
        <p:xfrm>
          <a:off xmlns:a="http://schemas.openxmlformats.org/drawingml/2006/main" x="609600" y="1885950"/>
          <a:ext xmlns:a="http://schemas.openxmlformats.org/drawingml/2006/main" cx="10972800" cy="32766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324100"/>
                <a:gridCol w="1295400"/>
                <a:gridCol w="1600200"/>
                <a:gridCol w="1914525"/>
                <a:gridCol w="1952625"/>
                <a:gridCol w="1885950"/>
              </a:tblGrid>
              <a:tr h="65532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Model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Misses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False flags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Sensitivity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Specificity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ROC-AUC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</a:tr>
              <a:tr h="65532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CatBoost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25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85.2%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95.5%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0.969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</a:tr>
              <a:tr h="65532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Logistic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33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80.5%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95.5%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0.956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</a:tr>
              <a:tr h="65532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IFNG only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75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91.7%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57.4%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0.842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</a:tr>
              <a:tr h="65532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Constant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176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100.0%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0.0%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0.500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E08BEE-86D8-498D-B03D-5B177B730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76875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Denominators: 169 rejection; 176 no rejection. Fixed thresholds per model.</a:t>
            </a:r>
          </a:p>
        </p:txBody>
      </p:sp>
    </p:spTree>
    <p:extLst>
      <p:ext uri="{BB962C8B-B14F-4D97-AF65-F5344CB8AC3E}">
        <p14:creationId xmlns:p14="http://schemas.microsoft.com/office/powerpoint/2010/main" val="1002277887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CE42A14-EC5A-44A4-9B06-A9F7D555A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Backup: normalization and model settings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A78389-33DD-4083-88A7-B5FD500CF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Sources: shared preprocessing; primary model configuration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40BE242-CAFD-4641-B9A6-68C3697A5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22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645D3DD-7ED5-454A-87BA-EFE21C3F2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9725"/>
            <a:ext cx="10972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Normalized measurement = log₂(raw count + 1)</a:t>
            </a:r>
          </a:p>
          <a:p xmlns:a="http://schemas.openxmlformats.org/drawingml/2006/main">
            <a:pPr algn="l">
              <a:defRPr sz="25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− mean of the 12 housekeeping log₂(count + 1) values</a:t>
            </a:r>
          </a:p>
        </p:txBody>
      </p:sp>
      <p:graphicFrame>
        <p:nvGraphicFramePr>
          <p:cNvPr id="10" name=""/>
          <p:cNvGraphicFramePr/>
          <p:nvPr/>
        </p:nvGraphicFramePr>
        <p:xfrm>
          <a:off xmlns:a="http://schemas.openxmlformats.org/drawingml/2006/main" x="609600" y="2905125"/>
          <a:ext xmlns:a="http://schemas.openxmlformats.org/drawingml/2006/main" cx="10972800" cy="27813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857500"/>
                <a:gridCol w="8115300"/>
              </a:tblGrid>
              <a:tr h="5143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Model</a:t>
                      </a:r>
                    </a:p>
                  </a:txBody>
                  <a:tcPr marL="171450" marR="142875" marT="76200" marB="76200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Additional preparation and settings</a:t>
                      </a:r>
                    </a:p>
                  </a:txBody>
                  <a:tcPr marL="171450" marR="142875" marT="76200" marB="76200" anchor="ctr">
                    <a:solidFill>
                      <a:srgbClr val="16343E"/>
                    </a:solidFill>
                  </a:tcPr>
                </a:tc>
              </a:tr>
              <a:tr h="13525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Logistic regression</a:t>
                      </a:r>
                    </a:p>
                  </a:txBody>
                  <a:tcPr marL="171450" marR="142875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Subtract each feature’s training mean, then divide by its training standard deviation. Reuse these values for later specimens.</a:t>
                      </a:r>
                    </a:p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Regularization: C = 0.1.</a:t>
                      </a:r>
                    </a:p>
                  </a:txBody>
                  <a:tcPr marL="171450" marR="142875" marT="76200" marB="76200" anchor="ctr"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CatBoost</a:t>
                      </a:r>
                    </a:p>
                  </a:txBody>
                  <a:tcPr marL="171450" marR="142875" marT="76200" marB="76200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No extra feature scaling.</a:t>
                      </a:r>
                    </a:p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300 trees, depth 4, learning rate 0.04.</a:t>
                      </a:r>
                    </a:p>
                  </a:txBody>
                  <a:tcPr marL="171450" marR="142875" marT="76200" marB="76200" anchor="ctr">
                    <a:solidFill>
                      <a:srgbClr val="EDF3F0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99337456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CBFCA71-8016-4738-B724-91A8D2AF7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Backup: interpreting model scores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22DD19E-21C9-4C25-A5C2-636E89F33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Source: reliability_bins.csv. The highlighted bin has a Wilson 95% interval. No recalibration fitted.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98BB7B2-1F1F-4030-8437-13ED6A3C5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23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5E1CC5-CD93-4145-95A6-610E28C0C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109728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CatBoost on 345 validation specimens</a:t>
            </a:r>
          </a:p>
        </p:txBody>
      </p:sp>
      <p:graphicFrame>
        <p:nvGraphicFramePr>
          <p:cNvPr id="13" name="Chart"/>
          <p:cNvGraphicFramePr/>
          <p:nvPr/>
        </p:nvGraphicFramePr>
        <p:xfrm>
          <a:off xmlns:a="http://schemas.openxmlformats.org/drawingml/2006/main" x="561975" y="2047875"/>
          <a:ext xmlns:a="http://schemas.openxmlformats.org/drawingml/2006/main" cx="6915150" cy="37433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89f47c496794191"/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1CCE58-2154-4204-A3BA-594E6B4BC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2425" y="2152650"/>
            <a:ext cx="36099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Score bin 0.8–0.9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B74DB84-DB7A-484D-B67F-F7EB030DE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2425" y="2886075"/>
            <a:ext cx="3609975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2000"/>
              </a:spcAft>
              <a:buChar char="•"/>
              <a:defRPr sz="21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Mean score: 0.847</a:t>
            </a:r>
          </a:p>
          <a:p xmlns:a="http://schemas.openxmlformats.org/drawingml/2006/main">
            <a:pPr marL="279400" indent="-152400" algn="l">
              <a:spcAft>
                <a:spcPts val="2000"/>
              </a:spcAft>
              <a:buChar char="•"/>
              <a:defRPr sz="21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Recorded rejection: 7 / 16</a:t>
            </a:r>
          </a:p>
          <a:p xmlns:a="http://schemas.openxmlformats.org/drawingml/2006/main">
            <a:pPr marL="279400" indent="-152400" algn="l">
              <a:spcAft>
                <a:spcPts val="2000"/>
              </a:spcAft>
              <a:buChar char="•"/>
              <a:defRPr sz="21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Observed fraction: 43.8%
95% interval: 23.1–66.8%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914430D-A34F-4828-B049-32E90106B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95975"/>
            <a:ext cx="106870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Diagonal: score equals observed rejection fraction</a:t>
            </a:r>
          </a:p>
        </p:txBody>
      </p:sp>
    </p:spTree>
    <p:extLst>
      <p:ext uri="{BB962C8B-B14F-4D97-AF65-F5344CB8AC3E}">
        <p14:creationId xmlns:p14="http://schemas.microsoft.com/office/powerpoint/2010/main" val="1944329423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32B83BB-4939-4147-813F-C4C529BE9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Backup: rejection subtype follow-up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271FB5A-84AA-42BD-93C4-143D4C090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Source: subtype follow-up, 15 Sep 2026. Reuses the examined validation cohort; needs independent confirmation.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A2C940B-83AE-4718-A3A8-98676C631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24</a:t>
            </a:r>
          </a:p>
        </p:txBody>
      </p:sp>
      <p:graphicFrame>
        <p:nvGraphicFramePr>
          <p:cNvPr id="9" name=""/>
          <p:cNvGraphicFramePr/>
          <p:nvPr/>
        </p:nvGraphicFramePr>
        <p:xfrm>
          <a:off xmlns:a="http://schemas.openxmlformats.org/drawingml/2006/main" x="609600" y="1905000"/>
          <a:ext xmlns:a="http://schemas.openxmlformats.org/drawingml/2006/main" cx="10972800" cy="3095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067300"/>
                <a:gridCol w="3257550"/>
                <a:gridCol w="2647950"/>
              </a:tblGrid>
              <a:tr h="6191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Model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Any-rejection misses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False flags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Binary CatBoost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25 / 169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8 / 176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Four-class CatBoost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29 / 169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8 / 176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Four-class logistic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28 / 169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10 / 176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Separate component models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24 / 169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15 / 176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1FA32EB-3539-453A-9187-C63639F53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86375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1200"/>
              </a:spcAft>
              <a:buChar char="•"/>
              <a:defRPr sz="22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Four-class logistic recognized 10 / 18 mixed diagnoses, with 5 false mixed calls among 327 non-mixed specimens.</a:t>
            </a:r>
          </a:p>
        </p:txBody>
      </p:sp>
    </p:spTree>
    <p:extLst>
      <p:ext uri="{BB962C8B-B14F-4D97-AF65-F5344CB8AC3E}">
        <p14:creationId xmlns:p14="http://schemas.microsoft.com/office/powerpoint/2010/main" val="584846588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B9AD1D0-6B55-4238-B9EF-1F4641CDE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Backup: study, assay and deployment limits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CBFE9D-80A6-4F1B-850C-ADC63C1FA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Sources: Zhang et al. (2024), Methods and Tables 5–6; primary analysis; verification guide.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DE45332-D463-48CD-BC01-59FEE191E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graphicFrame>
        <p:nvGraphicFramePr>
          <p:cNvPr id="8" name=""/>
          <p:cNvGraphicFramePr/>
          <p:nvPr/>
        </p:nvGraphicFramePr>
        <p:xfrm>
          <a:off xmlns:a="http://schemas.openxmlformats.org/drawingml/2006/main" x="609600" y="1704975"/>
          <a:ext xmlns:a="http://schemas.openxmlformats.org/drawingml/2006/main" cx="10972800" cy="43148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667125"/>
                <a:gridCol w="7305675"/>
              </a:tblGrid>
              <a:tr h="4667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Question</a:t>
                      </a:r>
                    </a:p>
                  </a:txBody>
                  <a:tcPr marL="171450" marR="142875" marT="66675" marB="66675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Evidence and remaining limits</a:t>
                      </a:r>
                    </a:p>
                  </a:txBody>
                  <a:tcPr marL="171450" marR="142875" marT="66675" marB="66675" anchor="ctr">
                    <a:solidFill>
                      <a:srgbClr val="16343E"/>
                    </a:solidFill>
                  </a:tcPr>
                </a:tc>
              </a:tr>
              <a:tr h="8096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Patient / center separation?</a:t>
                      </a:r>
                    </a:p>
                  </a:txBody>
                  <a:tcPr marL="171450" marR="142875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Not documented. All specimens were processed at one laboratory.</a:t>
                      </a:r>
                    </a:p>
                  </a:txBody>
                  <a:tcPr marL="171450" marR="142875" marT="66675" marB="66675" anchor="ctr">
                    <a:solidFill>
                      <a:srgbClr val="FFFFFF"/>
                    </a:solidFill>
                  </a:tcPr>
                </a:tc>
              </a:tr>
              <a:tr h="8953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Study population?</a:t>
                      </a:r>
                    </a:p>
                  </a:txBody>
                  <a:tcPr marL="171450" marR="142875" marT="66675" marB="666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Includes 202 native-kidney controls.</a:t>
                      </a:r>
                    </a:p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Selected ambiguous diagnoses were excluded.</a:t>
                      </a:r>
                    </a:p>
                  </a:txBody>
                  <a:tcPr marL="171450" marR="142875" marT="66675" marB="66675" anchor="ctr">
                    <a:solidFill>
                      <a:srgbClr val="EDF3F0"/>
                    </a:solidFill>
                  </a:tcPr>
                </a:tc>
              </a:tr>
              <a:tr h="9620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Laboratory assay quality?</a:t>
                      </a:r>
                    </a:p>
                  </a:txBody>
                  <a:tcPr marL="171450" marR="142875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File checks were tested. Laboratory quality was not independently reassessed.</a:t>
                      </a:r>
                    </a:p>
                  </a:txBody>
                  <a:tcPr marL="171450" marR="142875" marT="66675" marB="66675" anchor="ctr"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Individual probabilities?</a:t>
                      </a:r>
                    </a:p>
                  </a:txBody>
                  <a:tcPr marL="171450" marR="142875" marT="66675" marB="666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Score calibration remains limited.</a:t>
                      </a:r>
                    </a:p>
                  </a:txBody>
                  <a:tcPr marL="171450" marR="142875" marT="66675" marB="66675" anchor="ctr">
                    <a:solidFill>
                      <a:srgbClr val="EDF3F0"/>
                    </a:solidFill>
                  </a:tcPr>
                </a:tc>
              </a:tr>
              <a:tr h="5905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Cloud deployment?</a:t>
                      </a:r>
                    </a:p>
                  </a:txBody>
                  <a:tcPr marL="171450" marR="142875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Local container tested. Cloud work deferred.</a:t>
                      </a:r>
                    </a:p>
                  </a:txBody>
                  <a:tcPr marL="171450" marR="142875" marT="66675" marB="6667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78106522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14A1309-54E9-435D-AF58-CD3E6D407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Backup: sources and contributions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420695-F6D7-4274-9CB2-9AFC56FAA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6CFA779-58D7-40F9-A478-44E449910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28775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Public study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3AA88D7-FE97-47CE-930E-A23090F0E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43125"/>
            <a:ext cx="109728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1200"/>
              </a:spcAft>
              <a:buChar char="•"/>
              <a:defRPr sz="24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Zhang et al., Laboratory Investigation (2024): GSE212160 raw NanoString B-HOT measurements.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EE1AEBA-5D36-45A6-A0F3-B9AB33C50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43275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This project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A139E2E-04A1-4E92-8247-879072EBA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1200"/>
              </a:spcAft>
              <a:buChar char="•"/>
              <a:defRPr sz="24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Binary model comparisons and runs produced here, shared preparation code, and a tested local prediction service.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47AA429-FCF2-45AF-878C-84AD2FD62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1097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Presentation guidance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4986899-6338-4165-8EFB-54F0F8D88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67375"/>
            <a:ext cx="10972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Bourne (2007), Kosslyn et al. (2012), Garner and Alley (2013), Rougier et al. (2014)</a:t>
            </a:r>
          </a:p>
        </p:txBody>
      </p:sp>
    </p:spTree>
    <p:extLst>
      <p:ext uri="{BB962C8B-B14F-4D97-AF65-F5344CB8AC3E}">
        <p14:creationId xmlns:p14="http://schemas.microsoft.com/office/powerpoint/2010/main" val="1610160321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9F25AD8-8430-4D3E-91A6-D3308F442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Backup: UNOS research connection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2E3D9B-2A42-4FF1-99E2-9605EC4BB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Source: UNOS, Using AI to identify kidney anatomy issues (2 Jun 2026)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400956E-5E12-4E4C-855C-7ACC2BA7A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27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9BE0D72-41BA-4D59-8E1C-2EFDC397E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590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2100"/>
              </a:spcAft>
              <a:buChar char="•"/>
              <a:defRPr sz="24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UNOS researchers studied anatomical issues in donor kidney photographs.</a:t>
            </a:r>
          </a:p>
          <a:p xmlns:a="http://schemas.openxmlformats.org/drawingml/2006/main">
            <a:pPr marL="279400" indent="-152400" algn="l">
              <a:spcAft>
                <a:spcPts val="2100"/>
              </a:spcAft>
              <a:buChar char="•"/>
              <a:defRPr sz="24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Labels came from records of transplantation or refusal because of anatomy concerns.</a:t>
            </a:r>
          </a:p>
          <a:p xmlns:a="http://schemas.openxmlformats.org/drawingml/2006/main">
            <a:pPr marL="279400" indent="-152400" algn="l">
              <a:spcAft>
                <a:spcPts val="2100"/>
              </a:spcAft>
              <a:buChar char="•"/>
              <a:defRPr sz="24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The intended use is to support clinical assessment and improve consistency.</a:t>
            </a:r>
          </a:p>
          <a:p xmlns:a="http://schemas.openxmlformats.org/drawingml/2006/main">
            <a:pPr marL="279400" indent="-152400" algn="l">
              <a:spcAft>
                <a:spcPts val="2100"/>
              </a:spcAft>
              <a:buChar char="•"/>
              <a:defRPr sz="24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The connection: use recorded assessments to develop additional evidence for specialists.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F76A5BA-B0E2-4735-868B-61323518C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619750"/>
            <a:ext cx="10687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This is a different clinical task and does not validate my classifier.</a:t>
            </a:r>
          </a:p>
        </p:txBody>
      </p:sp>
    </p:spTree>
    <p:extLst>
      <p:ext uri="{BB962C8B-B14F-4D97-AF65-F5344CB8AC3E}">
        <p14:creationId xmlns:p14="http://schemas.microsoft.com/office/powerpoint/2010/main" val="188455971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2026-09-19T19:35:50.9260000Z</dcterms:created>
  <dcterms:modified xsi:type="dcterms:W3CDTF">2026-09-19T19:35:50.9260000Z</dcterms:modified>
</coreProperties>
</file>