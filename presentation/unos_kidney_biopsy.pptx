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df2aae66c4e74f24" /><Relationship Type="http://schemas.openxmlformats.org/officeDocument/2006/relationships/extended-properties" Target="/docProps/app.xml" Id="R3164fd1537164a19" /><Relationship Type="http://schemas.openxmlformats.org/officeDocument/2006/relationships/officeDocument" Target="/ppt/presentation.xml" Id="Rc35b2d5b7c604f14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d844c1105f43f4"/>
  </p:sldMasterIdLst>
  <p:sldIdLst>
    <p:sldId id="256" r:id="R1da50bf531ec4aac"/>
    <p:sldId id="257" r:id="Rf84452d2265644c6"/>
    <p:sldId id="258" r:id="Rd2bbc35d9db44420"/>
    <p:sldId id="259" r:id="Re748c4c2b0c548ea"/>
    <p:sldId id="260" r:id="Rd7d2817c67384cbf"/>
    <p:sldId id="261" r:id="R326e2b707e904e08"/>
    <p:sldId id="262" r:id="R9f4d3c9562e940fd"/>
    <p:sldId id="263" r:id="Rcf1563392a334b63"/>
    <p:sldId id="264" r:id="R80cebfcf34f4494f"/>
    <p:sldId id="265" r:id="Rfc305686560343d3"/>
    <p:sldId id="266" r:id="Raa05d04e427a4301"/>
    <p:sldId id="267" r:id="R4d42540895c64039"/>
    <p:sldId id="268" r:id="R7acc59df41194444"/>
    <p:sldId id="269" r:id="R12b69fb94bfe4f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3ab4657068064d4d" /><Relationship Type="http://schemas.openxmlformats.org/officeDocument/2006/relationships/slideMaster" Target="/ppt/slideMasters/slideMaster1.xml" Id="R0ed844c1105f43f4" /><Relationship Type="http://schemas.openxmlformats.org/officeDocument/2006/relationships/presProps" Target="/ppt/presProps.xml" Id="R098dda57c0554373" /><Relationship Type="http://schemas.openxmlformats.org/officeDocument/2006/relationships/tableStyles" Target="/ppt/tableStyles.xml" Id="R91832b4985054b7a" /><Relationship Type="http://schemas.openxmlformats.org/officeDocument/2006/relationships/slide" Target="/ppt/slides/slide1.xml" Id="R1da50bf531ec4aac" /><Relationship Type="http://schemas.openxmlformats.org/officeDocument/2006/relationships/slide" Target="/ppt/slides/slide2.xml" Id="Rf84452d2265644c6" /><Relationship Type="http://schemas.openxmlformats.org/officeDocument/2006/relationships/slide" Target="/ppt/slides/slide3.xml" Id="Rd2bbc35d9db44420" /><Relationship Type="http://schemas.openxmlformats.org/officeDocument/2006/relationships/slide" Target="/ppt/slides/slide4.xml" Id="Re748c4c2b0c548ea" /><Relationship Type="http://schemas.openxmlformats.org/officeDocument/2006/relationships/slide" Target="/ppt/slides/slide5.xml" Id="Rd7d2817c67384cbf" /><Relationship Type="http://schemas.openxmlformats.org/officeDocument/2006/relationships/slide" Target="/ppt/slides/slide6.xml" Id="R326e2b707e904e08" /><Relationship Type="http://schemas.openxmlformats.org/officeDocument/2006/relationships/slide" Target="/ppt/slides/slide7.xml" Id="R9f4d3c9562e940fd" /><Relationship Type="http://schemas.openxmlformats.org/officeDocument/2006/relationships/slide" Target="/ppt/slides/slide8.xml" Id="Rcf1563392a334b63" /><Relationship Type="http://schemas.openxmlformats.org/officeDocument/2006/relationships/slide" Target="/ppt/slides/slide9.xml" Id="R80cebfcf34f4494f" /><Relationship Type="http://schemas.openxmlformats.org/officeDocument/2006/relationships/slide" Target="/ppt/slides/slide10.xml" Id="Rfc305686560343d3" /><Relationship Type="http://schemas.openxmlformats.org/officeDocument/2006/relationships/slide" Target="/ppt/slides/slide11.xml" Id="Raa05d04e427a4301" /><Relationship Type="http://schemas.openxmlformats.org/officeDocument/2006/relationships/slide" Target="/ppt/slides/slide12.xml" Id="R4d42540895c64039" /><Relationship Type="http://schemas.openxmlformats.org/officeDocument/2006/relationships/slide" Target="/ppt/slides/slide13.xml" Id="R7acc59df41194444" /><Relationship Type="http://schemas.openxmlformats.org/officeDocument/2006/relationships/slide" Target="/ppt/slides/slide14.xml" Id="R12b69fb94bfe4fd3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67841f12ec9c43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6508eb6085494454" /><Relationship Type="http://schemas.openxmlformats.org/officeDocument/2006/relationships/slideLayout" Target="/ppt/slideLayouts/slideLayout1.xml" Id="R7ebc50db3a104e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bc50db3a104e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3d2ccb860714512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2c517f9493452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1856c25634740a3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3f8c5ba8c854735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bf4a5f5533543ad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5d293faf2194ae8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95d54eb0efa4521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52743437389454e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e965d7f409e4136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9cb50577bc4460f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78f019baff442bf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8ba7e4e761f4b5c" /><Relationship Type="http://schemas.openxmlformats.org/officeDocument/2006/relationships/chart" Target="/ppt/slides/charts/chart1.xml" Id="Re36337c169344784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e435a2fc98147d8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2e693f013654a0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cases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Incorrect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8CF6AB-CAFC-4852-A4A6-32339F55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0424945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30E4E-2091-44E3-9EF4-8DC9CC02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94DCC-E773-4582-91F2-81495E3C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6986E7-4656-4C62-867E-CA74CA55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38257-570F-4126-9AD8-7F7D0711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1325E-2BCE-4A98-83C3-76BDE9A1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3FF54-7C51-4397-A52D-AA529876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A microscopic examination that reveals injury and inflammation, which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17BB0A-9A66-40A4-8026-18EE06DC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that reflect gene activity in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7947759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E12C4-0B63-4971-A369-B32354E2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Purpose of this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89D6D-F1C0-4CB1-8BBB-A4B55CD8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Clinical rationale: Zhang et al. (2024), Discussion, p. 13; KDIGO (2009).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00CA0-C12D-4421-8696-DE2F68E0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B733E-4575-4F90-9A74-0D82A1BD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Whether rejection is present can affect decisions about further treatment to suppress the immune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55258-FBBB-4669-AAC5-5E0FC548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4F0F7-8DBE-4665-974D-BE48EE48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do logistic regression and CatBoost compare in classifying any recorded rejection versus no rejection from B-HOT biopsy RNA, particularly in missed cases and incorrect flags?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06C38-78F6-461D-8193-2E2DBB23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CD3FA-819B-4BE7-A050-F7C44F2A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Make preprocessing, training and evaluation reproducible. Build a tested scoring service and prototype application that let a user submit a specimen’s RNA counts and inspect its model score, threshold and rejection flag.</a:t>
            </a:r>
          </a:p>
        </p:txBody>
      </p:sp>
    </p:spTree>
    <p:extLst>
      <p:ext uri="{BB962C8B-B14F-4D97-AF65-F5344CB8AC3E}">
        <p14:creationId xmlns:p14="http://schemas.microsoft.com/office/powerpoint/2010/main" val="1416086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EDC805-410E-4128-95F4-39638F4C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Clinical and research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5B513-0EE0-49DA-89A8-B2A9780C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Zhang et al. (2024); KDIGO (2009); BK consensus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AC371-0525-485D-8140-7D508E68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C0E9A-ACEF-4B7A-A3B7-63E2B1D6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diagnostic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172A2-B223-45A8-A653-A336B0E8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19250"/>
            <a:ext cx="8105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Validated biopsy transcript tests have a defined role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antibody-mediated rejection assessment.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786D6-4586-42C9-A760-50D0BB99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260371-60F6-4F3D-98C1-3355DB73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Published 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Zhang, 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414656-1AB4-4C79-8CFB-0D9F095A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81057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study compared regression and boosting.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LASSO for similar accuracy with fewer features.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AB12F-C1DE-4987-B5B9-C736B783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BA750-94C7-42B9-A14C-37351B71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both kinds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of error matter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5B9486-652D-4AD0-8CC7-A6A77A95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7200"/>
            <a:ext cx="81057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findings help guide treatment for rejection.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rejection can leave kidney injury untreated.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treatment can worsen an infection.</a:t>
            </a:r>
          </a:p>
        </p:txBody>
      </p:sp>
    </p:spTree>
    <p:extLst>
      <p:ext uri="{BB962C8B-B14F-4D97-AF65-F5344CB8AC3E}">
        <p14:creationId xmlns:p14="http://schemas.microsoft.com/office/powerpoint/2010/main" val="18999122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5A9869-9C66-4100-9666-5EF7957B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1B652-97B5-423E-B643-8533DD97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855AF-8522-4E66-AA21-CF1F3385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07D4A-1DFF-43A2-B189-43307C47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8B6BE-737E-43DD-9DD9-66147697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7E10B-4E3B-49D5-AE01-044D0529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5F357-D214-4F82-BB1F-3EA07D37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C7AB4-206C-46DE-8204-110ABA38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016DF-049F-41CA-A166-EF16C9F1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96BC94-05CC-48CF-9CFC-C5A43F3E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1135537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908E84-9FB4-4BE1-ABB5-7F6B6E4D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318D5-1415-400F-808A-D6E49513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89D7E-6A70-4B4A-93D6-2C629D29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1243F-7142-48B5-93AB-B83E7552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CAEA7-A9D1-4427-A1CB-F8B0B501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6093549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61011-B34B-4687-AC39-EBBDCEA0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AD6C3-6DA3-4035-89C8-E864941E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FAE6D-78C5-4BBC-BB2D-0B2480B0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AE511-1DBC-4CE4-8838-F07576B5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D5BF5-4173-423C-8BE2-04D512F3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1F9CC-36F5-4550-98F3-7D59768D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EDEA3-2482-4ED6-8CDD-E941E3CA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E5690-D9C7-4ADE-8917-1E4FD7B7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A98344-A490-41AA-B318-EA8469C6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B2646-8BD7-4149-988C-A19DC092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2885943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01540-E329-4D06-89E1-D8CE30B0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1F216-C47E-4633-9047-9CE28FAB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47B84-5D7E-41AC-AF20-9EF0E524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6837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DFAA9C-709E-4321-9A5B-84F1351F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F8900-D210-4B09-AD3F-511CFA43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05A24-EC25-436F-85A1-D5A68896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863DB-D8ED-4BB7-AF31-6F064D8D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7CB50-5CAD-4493-8E18-05152634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FC681-8373-4283-8515-F4609020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4CFB1-070E-4655-AF21-29B49D4F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74A1E-0399-4A94-AF0F-6C97E684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002636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859BB-C459-4BC4-8216-0140BA17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AEA37-B91E-4A37-8A64-79FFCE73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1A541-BBC7-4329-8328-AB79E16A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A1A24-85D4-4840-9C8A-06AB6CCE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1338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11C9D-1CA5-4BF2-A777-52B504D1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Selecting the model and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82DD5-62AA-4394-9C7C-606E2CB4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saved discovery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F7B64-0097-4729-8FC1-B999E83E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7B699-8488-445C-A2BD-0E77DB4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B3DF7-76E1-43E1-884B-1DA8F5C8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D8664-F410-4247-B7F8-61650F5A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3C10-2C82-4656-9FB9-EEB6DDD9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F98733-F947-4FE3-AFBE-D403CEAC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DF9B54-EB57-4011-9EB6-44449F58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7637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8D2CB-3415-410E-A455-577623E8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B469E6-0F2C-483F-A1FF-991F72F2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EE539-693A-4775-A212-11E1D6AA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860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1CB5C-8673-4A4A-8CE7-A49F1D16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813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7BF4A-751C-43E8-BD8B-5C4818DE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 rule: detect at least 90% of recorded rejection cases,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then minimize false positives. ROC-AUC breaks ties.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419600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Screening result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All-RNA logistic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 detected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positives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78F94-935E-470F-8330-D6EAEC79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fewer false positive selected CatBoost.</a:t>
            </a:r>
          </a:p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model and threshold then stayed fixed for evaluation.</a:t>
            </a:r>
          </a:p>
        </p:txBody>
      </p:sp>
    </p:spTree>
    <p:extLst>
      <p:ext uri="{BB962C8B-B14F-4D97-AF65-F5344CB8AC3E}">
        <p14:creationId xmlns:p14="http://schemas.microsoft.com/office/powerpoint/2010/main" val="9640843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74A69-06CA-4897-8180-E2ABCDD8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6E7B2-210F-42D1-B602-F8618417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evaluation (15 Sep) and discovery-only stability follow-up (17 Sep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18E58-AC94-4535-9839-A90F4A25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F1B5A-93AE-4956-98C3-5EDBDEC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6337c16934478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80127-3FAF-45B7-A042-2A14D2F3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missed cases, 176 incorrect flags. It flags everyone.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1E46D-F4EA-4E44-890D-7271A44A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Across 20 discovery splits: CatBoost selected 13 times, logistic 7.</a:t>
            </a:r>
          </a:p>
        </p:txBody>
      </p:sp>
    </p:spTree>
    <p:extLst>
      <p:ext uri="{BB962C8B-B14F-4D97-AF65-F5344CB8AC3E}">
        <p14:creationId xmlns:p14="http://schemas.microsoft.com/office/powerpoint/2010/main" val="9484902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9CA22-C8B7-4D1C-9310-165429E5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2BD10-1A38-4374-8B1E-7E2B5B33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81557B-C43C-4C62-AD65-B1849067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Reports, application and scoring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8E36E-F3BA-40C9-B663-377CF51A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972800" cy="2200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800"/>
              </a:spcAft>
              <a:buChar char="•"/>
              <a:defRPr sz="28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Inspect the evidence</a:t>
            </a:r>
          </a:p>
          <a:p xmlns:a="http://schemas.openxmlformats.org/drawingml/2006/main">
            <a:pPr marL="279400" indent="-152400" algn="l">
              <a:spcAft>
                <a:spcPts val="2800"/>
              </a:spcAft>
              <a:buChar char="•"/>
              <a:defRPr sz="28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a public specimen</a:t>
            </a:r>
          </a:p>
          <a:p xmlns:a="http://schemas.openxmlformats.org/drawingml/2006/main">
            <a:pPr marL="279400" indent="-152400" algn="l">
              <a:spcAft>
                <a:spcPts val="2800"/>
              </a:spcAft>
              <a:buChar char="•"/>
              <a:defRPr sz="28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Trace and check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21008309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2D1C2-2FFB-4A56-9F28-510255EF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47D3A-B9C6-4D28-8827-042B0BCA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09459-563E-46FD-82B6-AF6549F7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5126E-5CAC-4F8E-BC96-F8E4A861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F2C50-330D-45A1-8B71-7F987C1B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 missed 8 fewer rejection cases than logistic, with 8 incorrect flags each.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dependable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FE265-7F9F-4FF1-AA98-42BDAAF5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44CC5-7581-4ECD-97EE-2D89FB47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C5769-C5C7-4137-B0F7-48A20CF5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Reproducible analysis and a tested scoring service,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a prototype application and checks against saved results.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F0F6F-77E5-4E9F-81BD-8B56BAD1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Next: cross-validation within discovery.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Then investigate whether the score adds useful diagnostic information.</a:t>
            </a:r>
          </a:p>
        </p:txBody>
      </p:sp>
    </p:spTree>
    <p:extLst>
      <p:ext uri="{BB962C8B-B14F-4D97-AF65-F5344CB8AC3E}">
        <p14:creationId xmlns:p14="http://schemas.microsoft.com/office/powerpoint/2010/main" val="6544790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2026-09-22T03:19:49.2460000Z</dcterms:created>
  <dcterms:modified xsi:type="dcterms:W3CDTF">2026-09-22T03:19:49.2460000Z</dcterms:modified>
</coreProperties>
</file>