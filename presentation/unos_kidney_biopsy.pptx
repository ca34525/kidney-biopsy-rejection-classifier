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charts/chart2.xml" ContentType="application/vnd.openxmlformats-officedocument.drawingml.chart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Default Extension="xlsx" ContentType="application/vnd.openxmlformats-officedocument.spreadsheetml.sheet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df0a52ab9d93428c" /><Relationship Type="http://schemas.openxmlformats.org/officeDocument/2006/relationships/extended-properties" Target="/docProps/app.xml" Id="R13ee90131d36402a" /><Relationship Type="http://schemas.openxmlformats.org/officeDocument/2006/relationships/officeDocument" Target="/ppt/presentation.xml" Id="R27e8c339f11e403f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739f781bdf4d493d"/>
  </p:sldMasterIdLst>
  <p:sldIdLst>
    <p:sldId id="256" r:id="R1f2ab1eda9494546"/>
    <p:sldId id="257" r:id="R59c9b0af64bf419f"/>
    <p:sldId id="258" r:id="R504fd48608b5418b"/>
    <p:sldId id="259" r:id="R4f048afa50dd449e"/>
    <p:sldId id="260" r:id="R50aa0d4687714ee8"/>
    <p:sldId id="261" r:id="R2c5bbaf02d5c42b7"/>
    <p:sldId id="262" r:id="R63341c1707d049ca"/>
    <p:sldId id="263" r:id="Ra427b264d11649ab"/>
    <p:sldId id="264" r:id="R45bef67779ab42b1"/>
    <p:sldId id="265" r:id="R9fd6cb64a9a74172"/>
    <p:sldId id="266" r:id="R72fc7113ed1f4053"/>
    <p:sldId id="267" r:id="Rf7d8bdfd91c34e16"/>
    <p:sldId id="268" r:id="R4b5106577c654aaf"/>
    <p:sldId id="269" r:id="Radd0b6c2b31142f5"/>
    <p:sldId id="270" r:id="R50ef2c4ffc5245f6"/>
    <p:sldId id="271" r:id="R6b6b1c463eb44343"/>
    <p:sldId id="272" r:id="R159e1272a27048b2"/>
    <p:sldId id="273" r:id="R605c06267257486e"/>
    <p:sldId id="274" r:id="R708e049b93a04b27"/>
    <p:sldId id="275" r:id="Rabeece4e5c3b448d"/>
    <p:sldId id="276" r:id="R92e62dbdcd1a48ee"/>
    <p:sldId id="277" r:id="Rba1d7a2a58c7478b"/>
    <p:sldId id="278" r:id="Rbc332b12e1904d16"/>
    <p:sldId id="279" r:id="R3565a369ddb047b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d1bf9e279d614e49" /><Relationship Type="http://schemas.openxmlformats.org/officeDocument/2006/relationships/slideMaster" Target="/ppt/slideMasters/slideMaster1.xml" Id="R739f781bdf4d493d" /><Relationship Type="http://schemas.openxmlformats.org/officeDocument/2006/relationships/presProps" Target="/ppt/presProps.xml" Id="R4c37856acbbd424e" /><Relationship Type="http://schemas.openxmlformats.org/officeDocument/2006/relationships/tableStyles" Target="/ppt/tableStyles.xml" Id="R65ff4b1948474f4f" /><Relationship Type="http://schemas.openxmlformats.org/officeDocument/2006/relationships/slide" Target="/ppt/slides/slide1.xml" Id="R1f2ab1eda9494546" /><Relationship Type="http://schemas.openxmlformats.org/officeDocument/2006/relationships/slide" Target="/ppt/slides/slide2.xml" Id="R59c9b0af64bf419f" /><Relationship Type="http://schemas.openxmlformats.org/officeDocument/2006/relationships/slide" Target="/ppt/slides/slide3.xml" Id="R504fd48608b5418b" /><Relationship Type="http://schemas.openxmlformats.org/officeDocument/2006/relationships/slide" Target="/ppt/slides/slide4.xml" Id="R4f048afa50dd449e" /><Relationship Type="http://schemas.openxmlformats.org/officeDocument/2006/relationships/slide" Target="/ppt/slides/slide5.xml" Id="R50aa0d4687714ee8" /><Relationship Type="http://schemas.openxmlformats.org/officeDocument/2006/relationships/slide" Target="/ppt/slides/slide6.xml" Id="R2c5bbaf02d5c42b7" /><Relationship Type="http://schemas.openxmlformats.org/officeDocument/2006/relationships/slide" Target="/ppt/slides/slide7.xml" Id="R63341c1707d049ca" /><Relationship Type="http://schemas.openxmlformats.org/officeDocument/2006/relationships/slide" Target="/ppt/slides/slide8.xml" Id="Ra427b264d11649ab" /><Relationship Type="http://schemas.openxmlformats.org/officeDocument/2006/relationships/slide" Target="/ppt/slides/slide9.xml" Id="R45bef67779ab42b1" /><Relationship Type="http://schemas.openxmlformats.org/officeDocument/2006/relationships/slide" Target="/ppt/slides/slide10.xml" Id="R9fd6cb64a9a74172" /><Relationship Type="http://schemas.openxmlformats.org/officeDocument/2006/relationships/slide" Target="/ppt/slides/slide11.xml" Id="R72fc7113ed1f4053" /><Relationship Type="http://schemas.openxmlformats.org/officeDocument/2006/relationships/slide" Target="/ppt/slides/slide12.xml" Id="Rf7d8bdfd91c34e16" /><Relationship Type="http://schemas.openxmlformats.org/officeDocument/2006/relationships/slide" Target="/ppt/slides/slide13.xml" Id="R4b5106577c654aaf" /><Relationship Type="http://schemas.openxmlformats.org/officeDocument/2006/relationships/slide" Target="/ppt/slides/slide14.xml" Id="Radd0b6c2b31142f5" /><Relationship Type="http://schemas.openxmlformats.org/officeDocument/2006/relationships/slide" Target="/ppt/slides/slide15.xml" Id="R50ef2c4ffc5245f6" /><Relationship Type="http://schemas.openxmlformats.org/officeDocument/2006/relationships/slide" Target="/ppt/slides/slide16.xml" Id="R6b6b1c463eb44343" /><Relationship Type="http://schemas.openxmlformats.org/officeDocument/2006/relationships/slide" Target="/ppt/slides/slide17.xml" Id="R159e1272a27048b2" /><Relationship Type="http://schemas.openxmlformats.org/officeDocument/2006/relationships/slide" Target="/ppt/slides/slide18.xml" Id="R605c06267257486e" /><Relationship Type="http://schemas.openxmlformats.org/officeDocument/2006/relationships/slide" Target="/ppt/slides/slide19.xml" Id="R708e049b93a04b27" /><Relationship Type="http://schemas.openxmlformats.org/officeDocument/2006/relationships/slide" Target="/ppt/slides/slide20.xml" Id="Rabeece4e5c3b448d" /><Relationship Type="http://schemas.openxmlformats.org/officeDocument/2006/relationships/slide" Target="/ppt/slides/slide21.xml" Id="R92e62dbdcd1a48ee" /><Relationship Type="http://schemas.openxmlformats.org/officeDocument/2006/relationships/slide" Target="/ppt/slides/slide22.xml" Id="Rba1d7a2a58c7478b" /><Relationship Type="http://schemas.openxmlformats.org/officeDocument/2006/relationships/slide" Target="/ppt/slides/slide23.xml" Id="Rbc332b12e1904d16" /><Relationship Type="http://schemas.openxmlformats.org/officeDocument/2006/relationships/slide" Target="/ppt/slides/slide24.xml" Id="R3565a369ddb047ba" 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991f5b3604b845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09b9f888d024cba" /><Relationship Type="http://schemas.openxmlformats.org/officeDocument/2006/relationships/slideLayout" Target="/ppt/slideLayouts/slideLayout1.xml" Id="R413c349bd241411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13c349bd241411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d28f7c9d7aa466f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f809fb3ed8241e9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c65dbe7a4624644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c3afd1046314ef1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ec8d72b6c074683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33894bfb6fb46de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b21b94b1eb44cda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7fc6b0df208479f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8c4d1dd3ba14303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20f8ce5836b4509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5aaf38463c94996" /><Relationship Type="http://schemas.openxmlformats.org/officeDocument/2006/relationships/chart" Target="/ppt/slides/charts/chart1.xml" Id="R44e5059b99714997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8d5c3b22d94477b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d13ef0112f54b51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8e05b5ef06c45b4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efe07bfd4c2460f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d7c095a4c7d41df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5ccfea95bea456a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e7ac7325c9e4d94" 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3cead1cbd7b4855" /></Relationships>
</file>

<file path=ppt/slides/_rels/slide2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ff25de6a2154529" /></Relationships>
</file>

<file path=ppt/slides/_rels/slide2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b597c80b7834d2e" /><Relationship Type="http://schemas.openxmlformats.org/officeDocument/2006/relationships/chart" Target="/ppt/slides/charts/chart2.xml" Id="R8e43550a5b9b4f63" /></Relationships>
</file>

<file path=ppt/slides/_rels/slide2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354546496304fa0" /></Relationships>
</file>

<file path=ppt/slides/_rels/slide2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2ba6fdebd2e4de9" /></Relationships>
</file>

<file path=ppt/slides/_rels/slide2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40790324fb844f9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Missed rejection / 169</c:v>
          </c:tx>
          <c:spPr>
            <a:solidFill xmlns:a="http://schemas.openxmlformats.org/drawingml/2006/main">
              <a:srgbClr val="B55730"/>
            </a:solidFill>
          </c:spPr>
          <c:cat>
            <c:strRef>
              <c:f>'Chart Data'!$A$2:$A$4</c:f>
              <c:strCache>
                <c:ptCount val="3"/>
                <c:pt idx="0">
                  <c:v>IFNG only</c:v>
                </c:pt>
                <c:pt idx="1">
                  <c:v>Logistic regression</c:v>
                </c:pt>
                <c:pt idx="2">
                  <c:v>CatBoost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14</c:v>
                </c:pt>
                <c:pt idx="1">
                  <c:v>33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v>False flags / 176</c:v>
          </c:tx>
          <c:spPr>
            <a:solidFill xmlns:a="http://schemas.openxmlformats.org/drawingml/2006/main">
              <a:srgbClr val="007C78"/>
            </a:solidFill>
          </c:spPr>
          <c:cat>
            <c:strRef>
              <c:f>'Chart Data'!$C$2:$C$4</c:f>
              <c:strCache>
                <c:ptCount val="3"/>
                <c:pt idx="0">
                  <c:v>IFNG only</c:v>
                </c:pt>
                <c:pt idx="1">
                  <c:v>Logistic regression</c:v>
                </c:pt>
                <c:pt idx="2">
                  <c:v>CatBoost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75</c:v>
                </c:pt>
                <c:pt idx="1">
                  <c:v>8</c:v>
                </c:pt>
                <c:pt idx="2">
                  <c:v>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7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>
              <a:solidFill>
                <a:srgbClr val="16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Agreement</c:v>
          </c:tx>
          <c:spPr>
            <a:ln xmlns:a="http://schemas.openxmlformats.org/drawingml/2006/main" w="13335">
              <a:solidFill>
                <a:srgbClr val="52656B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'Chart Data'!$B$2:$B$3</c:f>
              <c:numCache>
                <c:formatCode>0.0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Observed bins</c:v>
          </c:tx>
          <c:spPr>
            <a:solidFill xmlns:a="http://schemas.openxmlformats.org/drawingml/2006/main">
              <a:srgbClr val="007C78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noFill xmlns:a="http://schemas.openxmlformats.org/drawingml/2006/main"/>
            </c:spPr>
          </c:marker>
          <c:xVal>
            <c:numRef>
              <c:f>'Chart Data'!$C$2:$C$11</c:f>
              <c:numCache>
                <c:formatCode>General</c:formatCode>
                <c:ptCount val="10"/>
                <c:pt idx="0">
                  <c:v>0.02236</c:v>
                </c:pt>
                <c:pt idx="1">
                  <c:v>0.150831</c:v>
                </c:pt>
                <c:pt idx="2">
                  <c:v>0.256868</c:v>
                </c:pt>
                <c:pt idx="3">
                  <c:v>0.33529</c:v>
                </c:pt>
                <c:pt idx="4">
                  <c:v>0.462784</c:v>
                </c:pt>
                <c:pt idx="5">
                  <c:v>0.535663</c:v>
                </c:pt>
                <c:pt idx="6">
                  <c:v>0.66592</c:v>
                </c:pt>
                <c:pt idx="7">
                  <c:v>0.764537</c:v>
                </c:pt>
                <c:pt idx="8">
                  <c:v>0.847196</c:v>
                </c:pt>
                <c:pt idx="9">
                  <c:v>0.983569</c:v>
                </c:pt>
              </c:numCache>
            </c:numRef>
          </c:xVal>
          <c:yVal>
            <c:numRef>
              <c:f>'Chart Data'!$D$2:$D$11</c:f>
              <c:numCache>
                <c:formatCode>0.0</c:formatCode>
                <c:ptCount val="10"/>
                <c:pt idx="0">
                  <c:v>0.02963</c:v>
                </c:pt>
                <c:pt idx="1">
                  <c:v>0.25</c:v>
                </c:pt>
                <c:pt idx="2">
                  <c:v>0.333333</c:v>
                </c:pt>
                <c:pt idx="3">
                  <c:v>0.222222</c:v>
                </c:pt>
                <c:pt idx="4">
                  <c:v>0.5</c:v>
                </c:pt>
                <c:pt idx="5">
                  <c:v>0.5</c:v>
                </c:pt>
                <c:pt idx="6">
                  <c:v>0.375</c:v>
                </c:pt>
                <c:pt idx="7">
                  <c:v>0.5</c:v>
                </c:pt>
                <c:pt idx="8">
                  <c:v>0.4375</c:v>
                </c:pt>
                <c:pt idx="9">
                  <c:v>0.959459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00">
                    <a:solidFill>
                      <a:srgbClr val="16343E"/>
                    </a:solidFill>
                    <a:latin typeface="Arial"/>
                    <a:ea typeface="Arial"/>
                    <a:cs typeface="Arial"/>
                  </a:rPr>
                  <a:t>Recorded rejection fraction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1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00">
                    <a:solidFill>
                      <a:srgbClr val="16343E"/>
                    </a:solidFill>
                    <a:latin typeface="Arial"/>
                    <a:ea typeface="Arial"/>
                    <a:cs typeface="Arial"/>
                  </a:rPr>
                  <a:t>Mean model score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majorUnit val="0.2"/>
      </c:valAx>
      <c:spPr>
        <a:solidFill xmlns:a="http://schemas.openxmlformats.org/drawingml/2006/main">
          <a:srgbClr val="F7F8F5"/>
        </a:solidFill>
      </c:spPr>
    </c:plotArea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3DA154-7AAC-45A1-A2A1-0A8385C7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7D9762-9A13-40E2-A80A-B57F3795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204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Classifying rejection</a:t>
            </a:r>
          </a:p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kidney biopsy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E1301D-5B8C-45E7-B02E-CA3EC926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62400"/>
            <a:ext cx="1047750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CDE6DF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CDE6DF"/>
                </a:solidFill>
                <a:latin typeface="Arial"/>
                <a:ea typeface="Arial"/>
                <a:cs typeface="Arial"/>
              </a:rPr>
              <a:t>Can molecular measurements classify</a:t>
            </a:r>
          </a:p>
          <a:p xmlns:a="http://schemas.openxmlformats.org/drawingml/2006/main">
            <a:pPr algn="l">
              <a:defRPr sz="3150" b="0">
                <a:solidFill>
                  <a:srgbClr val="CDE6DF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CDE6DF"/>
                </a:solidFill>
                <a:latin typeface="Arial"/>
                <a:ea typeface="Arial"/>
                <a:cs typeface="Arial"/>
              </a:rPr>
              <a:t>the recorded biopsy diagnosis?</a:t>
            </a:r>
          </a:p>
        </p:txBody>
      </p:sp>
    </p:spTree>
    <p:extLst>
      <p:ext uri="{BB962C8B-B14F-4D97-AF65-F5344CB8AC3E}">
        <p14:creationId xmlns:p14="http://schemas.microsoft.com/office/powerpoint/2010/main" val="1778973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B99EDA-9A9B-4C2D-B245-1DAB38013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Kidney biopsy and transplant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5BAAF4-B1F0-49B7-909A-D25F9E28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NIDDK, Kidney Transplant and Kidney Biopsy; Zhang et al.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3A4B7E-55DA-46FA-9AEE-7554AC88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94D9D9-12D7-4F7C-B4F8-64403544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Rejection: the recipient’s immune system attacks the donated kidney.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BE5836-6B2B-4320-9664-6F06BA0C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2004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598AEE-C73E-4E7D-B40F-96A74E4A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76575"/>
            <a:ext cx="2895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Biopsy tissue: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C6ED7D-FF29-4F06-9F66-283D58E2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95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small sample</a:t>
            </a:r>
          </a:p>
          <a:p xmlns:a="http://schemas.openxmlformats.org/drawingml/2006/main">
            <a:pPr algn="ctr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from the kidney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B67930-9E9C-4C75-97BB-6F2A4117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428875"/>
            <a:ext cx="6486525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9FC225-9A94-4113-967B-0230470A4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90800"/>
            <a:ext cx="61626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Microscopic examination (histology)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6FD616-100F-4099-A888-EFC8035B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048000"/>
            <a:ext cx="61626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diagnosis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407F4F-A79E-4A65-A914-C7DA1518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019550"/>
            <a:ext cx="6486525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13B516-57F4-4E8C-8D67-8E110E62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171950"/>
            <a:ext cx="61626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Molecular measurements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AFCF94-72CC-4A1C-9E8A-867593200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619625"/>
            <a:ext cx="61626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Inputs to the model</a:t>
            </a:r>
          </a:p>
        </p:txBody>
      </p:sp>
      <p:cxnSp>
        <p:nvCxnSpPr>
          <p:cNvPr id="30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3810000" y="3033713"/>
            <a:ext cx="1285875" cy="5762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31" name=""/>
          <p:cNvCxnSpPr>
            <a:stCxn xmlns:a="http://schemas.openxmlformats.org/drawingml/2006/main" id="5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810000" y="3609975"/>
            <a:ext cx="1285875" cy="10144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0C618D-B37B-4E53-949B-5CF8BDF3D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Research use: compare measurements with the diagnosis</a:t>
            </a:r>
          </a:p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of tissue already collected.</a:t>
            </a:r>
          </a:p>
        </p:txBody>
      </p:sp>
    </p:spTree>
    <p:extLst>
      <p:ext uri="{BB962C8B-B14F-4D97-AF65-F5344CB8AC3E}">
        <p14:creationId xmlns:p14="http://schemas.microsoft.com/office/powerpoint/2010/main" val="1794332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48E0B4-3895-442A-84EB-85E6D6B6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diagnoses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471FA7-2248-4AE4-A2B1-775EE492F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Zhang et al. (2024), GSE212160; project diagnosis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121C83-C374-490B-BC08-CAD9EF05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24025"/>
          <a:ext xmlns:a="http://schemas.openxmlformats.org/drawingml/2006/main" cx="10972800" cy="3495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876675"/>
                <a:gridCol w="2476500"/>
              </a:tblGrid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label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 rejection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Antibodies: immune proteins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 rejection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 cells: immune cells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 rejection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Both rejection processes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recorded rejection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A58B18-CA50-43EA-AB8F-345A0BE9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main question combines all three forms of rejection.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E14627-19EB-4384-8AD5-0E9825C3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“No rejection” does not mean an otherwise healthy biopsy.</a:t>
            </a:r>
          </a:p>
        </p:txBody>
      </p:sp>
    </p:spTree>
    <p:extLst>
      <p:ext uri="{BB962C8B-B14F-4D97-AF65-F5344CB8AC3E}">
        <p14:creationId xmlns:p14="http://schemas.microsoft.com/office/powerpoint/2010/main" val="1428357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7CB348-9F8A-4301-99BE-D103C97F8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Measuring RNA in biopsy tissue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EA3638-8354-4309-8F2B-AC3A90AD7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Bruker nCounter documentation; GSE212160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8A272F-311A-45F8-BF9C-B129D912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D3A465-E6EF-4921-BA8C-3A7F92F95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includes messages cells make when genes are active.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C6C341-965A-445B-972C-1D87D95E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Assay: a laboratory test     Panel: a fixed list of molecules to measure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4C72CC-ED2B-4742-AB95-06F6452F0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29051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from</a:t>
            </a:r>
          </a:p>
          <a:p xmlns:a="http://schemas.openxmlformats.org/drawingml/2006/main">
            <a:pPr algn="ctr">
              <a:defRPr sz="25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>
                <a:solidFill>
                  <a:srgbClr val="16343E"/>
                </a:solidFill>
                <a:latin typeface="Arial"/>
                <a:ea typeface="Arial"/>
                <a:cs typeface="Arial"/>
              </a:rPr>
              <a:t>biopsy tissue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6B3E41-9800-45E4-8E8A-ABECD4D7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152775"/>
            <a:ext cx="29051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Probes recognize</a:t>
            </a:r>
          </a:p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specific RNA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C5BFED-E60D-49C1-9DFB-44135A78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52775"/>
            <a:ext cx="29051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Barcodes identify</a:t>
            </a:r>
          </a:p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signals to count</a:t>
            </a:r>
          </a:p>
        </p:txBody>
      </p: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514725" y="3752850"/>
            <a:ext cx="11239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2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543800" y="3752850"/>
            <a:ext cx="11239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A9D46F-15A1-4596-9860-FD5D5391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NanoString nCounter, using the B-HOT panel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CE731C-EA24-45A4-BD12-AD95B28E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Example output: IFNG count = 4 in one public specimen</a:t>
            </a:r>
          </a:p>
        </p:txBody>
      </p:sp>
    </p:spTree>
    <p:extLst>
      <p:ext uri="{BB962C8B-B14F-4D97-AF65-F5344CB8AC3E}">
        <p14:creationId xmlns:p14="http://schemas.microsoft.com/office/powerpoint/2010/main" val="11300819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F95A64-4912-4C10-A9EA-A5D0F7B0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measurements used by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F59CF7-286B-4706-BFE2-5ECE09C43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B-HOT panel consensus (2020); project data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92A6C5-E990-4494-91BF-0DB9EBA3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DABDB2-E522-40E7-A1D9-45C5A998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770 RNA measurements per specimen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E67B11-7745-4135-A77C-5534281B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476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4BDF1D-F02B-4EB8-BB8A-CD8DF4C0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24225"/>
            <a:ext cx="6172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Measurements used as model inputs</a:t>
            </a:r>
          </a:p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Includes some viral RNA signals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2BB5F1-B86D-481A-8652-CF6D745F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381250"/>
            <a:ext cx="38957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91461B-0DA4-4785-B4BC-0516CBB5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324225"/>
            <a:ext cx="38957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Housekeeping references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Prepare the other counts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00BDDA-5F67-4E22-AD91-9721C3F10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22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8FE96C-35EF-48D3-BBB5-367B2609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Assay “target”: a molecule a probe recognizes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0D01ED-6C1F-47B2-9CF2-1CDF74FCE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53025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Counts reflect gene activity and the mixture of cells in the tissue.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BE3FC4-1522-4C0B-A85B-3714D759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12 reference measurements are removed after normalization.</a:t>
            </a:r>
          </a:p>
        </p:txBody>
      </p:sp>
    </p:spTree>
    <p:extLst>
      <p:ext uri="{BB962C8B-B14F-4D97-AF65-F5344CB8AC3E}">
        <p14:creationId xmlns:p14="http://schemas.microsoft.com/office/powerpoint/2010/main" val="18363569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BE664D-AD34-497D-8F8E-3DAD3994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row describes one biopsy specimen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13767C-95F5-4DD5-B23A-EFC8295A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project data audit,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2368A-2C36-4896-A792-D86F8F1D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5570B5-D0AD-4B11-9E8E-7BB43F07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1,395 specimens included. No exclusions.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98BCE0-EB25-4F4C-8667-C4A6D40CB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1457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ID: GSM6510425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1BE527-8E9B-48A2-B0F3-B7CC00F71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31432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count record</a:t>
            </a:r>
          </a:p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IFNG = 4, 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6FE8A2-FEB5-4FEF-898A-C96B85E6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162300"/>
            <a:ext cx="29146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Match the same</a:t>
            </a:r>
          </a:p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A8A205-9C3F-41A0-B8EF-9DABFED3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62300"/>
            <a:ext cx="31432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Diagnosis record</a:t>
            </a:r>
          </a:p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No rejection</a:t>
            </a:r>
          </a:p>
        </p:txBody>
      </p:sp>
      <p:cxnSp>
        <p:nvCxnSpPr>
          <p:cNvPr id="22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752850" y="3757613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23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553325" y="3757613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49F3C0-A103-4F7D-9DBE-0933ED97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Only the prepared RNA measurements enter the model.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1A81E4-F745-4C25-AAE5-9143DF4DF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IDs, diagnosis and cohort stay separate. No duplicate normalized profiles.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0CD45C-EFF6-4781-A8A1-D7348850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counts do not establish the number of independent patients.</a:t>
            </a:r>
          </a:p>
        </p:txBody>
      </p:sp>
    </p:spTree>
    <p:extLst>
      <p:ext uri="{BB962C8B-B14F-4D97-AF65-F5344CB8AC3E}">
        <p14:creationId xmlns:p14="http://schemas.microsoft.com/office/powerpoint/2010/main" val="6044672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E9A049-C4B6-470C-885B-4954AD83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Preparing counts for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7157A7-605A-44BA-A22E-CA5302C7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preprocessing; public specimen GSM6510425. Values rounded for display.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A89F23-CCFA-4E2B-B139-2A637E57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EE29E2-621B-40AC-876E-9FB3301B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Add 1 to allow zero counts. Take log₂ to compress the range.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2352675"/>
          <a:ext xmlns:a="http://schemas.openxmlformats.org/drawingml/2006/main" cx="10972800" cy="2733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486775"/>
                <a:gridCol w="2486025"/>
              </a:tblGrid>
              <a:tr h="5467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IFNG in this specimen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Value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5467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Raw count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5467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log₂(count + 1)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  <a:tr h="5467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Mean of 12 housekeeping log counts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7.900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5467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Normalized input: 2.322 − 7.900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−5.578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3C8F61-867D-4D90-BC1D-1CD9F7BF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Each specimen supplies its own reference. Keep 758 prepared inputs.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C40A65-1C25-4592-8F87-7EC59B9C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any later learned scaling on training specimens only.</a:t>
            </a:r>
          </a:p>
        </p:txBody>
      </p:sp>
    </p:spTree>
    <p:extLst>
      <p:ext uri="{BB962C8B-B14F-4D97-AF65-F5344CB8AC3E}">
        <p14:creationId xmlns:p14="http://schemas.microsoft.com/office/powerpoint/2010/main" val="20695919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B0A463-89D0-4B2D-AE3E-77FE03E6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 and evaluation specimens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2AB222-12CE-4962-AC67-E1367393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authors’ cohorts and saved project split, seed 20260915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B3BCFC-4921-4B35-9145-347D7EEB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A356F-4382-488D-9E42-8FAB54A1D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6657975" cy="1019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Development: 1,050 specimens</a:t>
            </a:r>
          </a:p>
          <a:p xmlns:a="http://schemas.openxmlformats.org/drawingml/2006/main">
            <a:pPr algn="ctr">
              <a:defRPr sz="25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>
                <a:solidFill>
                  <a:srgbClr val="16343E"/>
                </a:solidFill>
                <a:latin typeface="Arial"/>
                <a:ea typeface="Arial"/>
                <a:cs typeface="Arial"/>
              </a:rPr>
              <a:t>Authors’ discovery cohort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6565F2-2E3F-4814-865C-1F726350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00990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Training: 787</a:t>
            </a:r>
          </a:p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the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333220-6E0A-486D-B4A8-7EC50FF3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24250"/>
            <a:ext cx="3171825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263</a:t>
            </a:r>
          </a:p>
          <a:p xmlns:a="http://schemas.openxmlformats.org/drawingml/2006/main">
            <a:pPr algn="ctr">
              <a:defRPr sz="22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+ threshold</a:t>
            </a:r>
          </a:p>
        </p:txBody>
      </p:sp>
      <p:cxnSp>
        <p:nvCxnSpPr>
          <p:cNvPr id="18" name=""/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 flipH="1">
            <a:off x="2114550" y="2714625"/>
            <a:ext cx="1824038" cy="8096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3938588" y="2714625"/>
            <a:ext cx="1743075" cy="8096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0DC15-E8D8-475D-962E-DF90C7B8B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95450"/>
            <a:ext cx="3771900" cy="2962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3E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Evaluation: 345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Authors’ technical validation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Compare frozen choices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2DBDD0-9CCC-41F5-896C-B530FD1F1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saved split keeps the original diagnosis proportions similar.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9A7616-CD2D-48FF-8BB5-228B96E7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Patient and center independence are unverified.</a:t>
            </a:r>
          </a:p>
        </p:txBody>
      </p:sp>
    </p:spTree>
    <p:extLst>
      <p:ext uri="{BB962C8B-B14F-4D97-AF65-F5344CB8AC3E}">
        <p14:creationId xmlns:p14="http://schemas.microsoft.com/office/powerpoint/2010/main" val="20846992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913F5C-06DE-4101-8CB3-D9904687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Four model comparisons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C6229B-F155-471C-ABDD-F0DBA3C1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frozen primary configuration and analysis,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5566E3-6049-41AA-B160-758EBAF9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10972800" cy="3343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71850"/>
                <a:gridCol w="7600950"/>
              </a:tblGrid>
              <a:tr h="66865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learns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66865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 baseline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score: the training rejection fraction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66865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relationship using one RNA measurement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  <a:tr h="66865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weighted combination of 758 measurements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66865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combination of decision trees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F3A9AF-EB50-411B-BC58-DF80C93E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Logistic regularization limits how large the weights can become.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440D4F-9541-47DD-9036-25E19048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Same specimen preparation. Same evaluation specimens.</a:t>
            </a:r>
          </a:p>
        </p:txBody>
      </p:sp>
    </p:spTree>
    <p:extLst>
      <p:ext uri="{BB962C8B-B14F-4D97-AF65-F5344CB8AC3E}">
        <p14:creationId xmlns:p14="http://schemas.microsoft.com/office/powerpoint/2010/main" val="4211817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893A65-85AA-4453-BC4F-1DC7D6E2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Turning a score into a rejection flag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541985-20D8-4021-B50E-E476B5F4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discovery screening rule and frozen model metadata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52A0E1-E180-4E7B-9909-1DB7F491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DA944F-1208-4318-A6B0-C05D55FC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score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19AD41-C668-4634-AECF-A9E4EB8E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628775"/>
            <a:ext cx="35814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Compare with threshold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C2E044-BE51-42CF-B4DF-7712D859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628775"/>
            <a:ext cx="2571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Rejection flag</a:t>
            </a:r>
          </a:p>
        </p:txBody>
      </p:sp>
      <p:cxnSp>
        <p:nvCxnSpPr>
          <p:cNvPr id="23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52850" y="2009775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8172450" y="2009775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BB3EDE-6B8D-449F-9657-36CEF00F8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Missed rejection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60EECE-8959-42CB-84C2-058584382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5095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rejection, score below threshold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1482ED-B611-4DF8-837A-952A035E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813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False flag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66128A-CC60-48D1-BBC8-A1E2E52F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276600"/>
            <a:ext cx="5048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no rejection, score at or above threshold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67992B-013F-471F-B958-3D8AE719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47B372-B686-4552-AA27-19B09086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detect at least 90% of rejection, then minimize false flags.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C5BE55-45F2-4FEE-9C96-D87054FB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Freeze the model and threshold together. CatBoost cutoff: 0.876588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F940D9-BC43-495D-B473-73148673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90% is an experiment choice. A score is not a calibrated probability.</a:t>
            </a:r>
          </a:p>
        </p:txBody>
      </p:sp>
    </p:spTree>
    <p:extLst>
      <p:ext uri="{BB962C8B-B14F-4D97-AF65-F5344CB8AC3E}">
        <p14:creationId xmlns:p14="http://schemas.microsoft.com/office/powerpoint/2010/main" val="6004780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648C5C-53C7-4AC2-9630-E1D69791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Several measurements reduced false flags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BEB30B-4671-4537-B3CE-DFCFA5E7D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frozen primary evaluation, 15 Sep 2026. Each model keeps its chosen threshold.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263969-3668-4656-934A-7FBE63D2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E809C8-A052-4CFC-9B4D-EB722297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345 specimens: 169 rejection and 176 no rejection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44250" cy="3114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4e5059b99714997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2B8561-50C0-4F0E-932E-B420DF32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530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Constant: 0 / 169 missed, 176 / 176 false flags. It flags everyone.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4D1C19-6162-43FC-A1DF-AB48252B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54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CatBoost versus IFNG: 67 fewer false flags, 11 more misses.</a:t>
            </a:r>
          </a:p>
        </p:txBody>
      </p:sp>
    </p:spTree>
    <p:extLst>
      <p:ext uri="{BB962C8B-B14F-4D97-AF65-F5344CB8AC3E}">
        <p14:creationId xmlns:p14="http://schemas.microsoft.com/office/powerpoint/2010/main" val="4691323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4D716B-A90C-4A8D-A2CE-43DCBDBB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Most CatBoost misses were T-cell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352A90-9400-4403-86D3-DBF141F3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frozen primary evaluation and screening results,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20DD16-3C3F-4FC9-9DEF-D268C7091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6F4AF9-08D3-44FB-AB00-DE9DE12C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4286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144 / 169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48663-21C6-45C9-8EAE-7D35B9B0A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4476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rejection cases detected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272A97-DBEA-409C-9BFA-0635F81B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447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85.2% sensitivity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4D0E2B-FA4D-4060-8B0D-2CB3EF4E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4476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157 / 174 (90.2%)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Evaluation falls below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90% selection target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5314950" y="1743075"/>
          <a:ext xmlns:a="http://schemas.openxmlformats.org/drawingml/2006/main" cx="6267450" cy="34004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266950"/>
              </a:tblGrid>
              <a:tr h="8501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rejection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Missed / total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8501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6 / 56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8501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18 / 95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  <a:tr h="8501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 / 18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2B1278-6F6B-4F20-A3EE-871C0F99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Errors describe disagreements with recorded diagnoses.</a:t>
            </a:r>
          </a:p>
        </p:txBody>
      </p:sp>
    </p:spTree>
    <p:extLst>
      <p:ext uri="{BB962C8B-B14F-4D97-AF65-F5344CB8AC3E}">
        <p14:creationId xmlns:p14="http://schemas.microsoft.com/office/powerpoint/2010/main" val="21138826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87F446-8DE4-4FAB-ADE9-BA2F792C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advantage over logistic regression is uncertain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49BF2-C54D-4225-8FEA-F89F1CE9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paired bootstrap analysis; discovery stability follow-up, 17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9288D0-4E70-4B2B-8D58-890F664A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D03F10-DEE9-4B44-9F82-69B903EC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Fixed models, same evaluation specimens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4D87BA-3C8F-4E10-96E0-56CD527B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8 fewer misses among 169 rejection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5E79FE-5E68-4B87-9859-824D755A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Both make 8 / 176 false flags. The 95% interval for the</a:t>
            </a:r>
          </a:p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detection advantage includes zero (2,000 specimen resamples).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91280-2182-4A21-8D16-8C0FAA46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9F976A-9497-4559-A52D-FF39A0CB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Model choice across 20 development splits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4429125"/>
          <a:ext xmlns:a="http://schemas.openxmlformats.org/drawingml/2006/main" cx="10972800" cy="1219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13 selections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 selections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E83A4D-C656-474F-9946-145A7B7C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repetitions overlap. Logistic regression remains a simpler alternative.</a:t>
            </a:r>
          </a:p>
        </p:txBody>
      </p:sp>
    </p:spTree>
    <p:extLst>
      <p:ext uri="{BB962C8B-B14F-4D97-AF65-F5344CB8AC3E}">
        <p14:creationId xmlns:p14="http://schemas.microsoft.com/office/powerpoint/2010/main" val="11082548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DB3A09-2FA1-4257-A6F4-24158BCC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 and serving share the same preprocessing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E3E59E-DED2-46D4-8B3E-FC44965D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 and Predictor; application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94C566-05E0-4208-AE8D-5E8FF186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26ECD-6DFF-445B-AEF2-28F88200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CSV through the command line or web application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49D513-3716-482F-B7F7-2E42109E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Read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B64A53-C410-480C-BC64-A1317B2E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Check names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and numbers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4800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B5F4A8-4B3C-47A5-A9B0-533643CD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758 inputs</a:t>
            </a:r>
          </a:p>
        </p:txBody>
      </p:sp>
      <p:cxnSp>
        <p:nvCxnSpPr>
          <p:cNvPr id="23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88645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D0C5D2-E219-435D-B960-AB5A7747D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with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frozen model</a:t>
            </a:r>
          </a:p>
        </p:txBody>
      </p:sp>
      <p:cxnSp>
        <p:nvCxnSpPr>
          <p:cNvPr id="25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72490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1D29A3-DB24-4423-BE34-26D5F7A3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572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Response: specimen ID, score, threshold, flag and model version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6CF8D9-139B-4E89-85C8-C95A4871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Missing or duplicate names, negative or non-finite counts: stop scoring.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81DF07-C529-4DB0-86AF-24BAC68D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Only the configured model can load. Scores remain research scores.</a:t>
            </a:r>
          </a:p>
        </p:txBody>
      </p:sp>
    </p:spTree>
    <p:extLst>
      <p:ext uri="{BB962C8B-B14F-4D97-AF65-F5344CB8AC3E}">
        <p14:creationId xmlns:p14="http://schemas.microsoft.com/office/powerpoint/2010/main" val="155758288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52390E-C706-471C-AA44-9F203E60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public specimen through the service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091E62-A22E-42CD-92AB-48713534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public discovery-screen example and saved application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6F8A22-367E-48A4-A60D-8262AC4A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8FC606-E93B-40D2-B095-612E6776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GSM6510425: recorded no rejection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2057400"/>
          <a:ext xmlns:a="http://schemas.openxmlformats.org/drawingml/2006/main" cx="10972800" cy="1266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95650"/>
                <a:gridCol w="3486150"/>
                <a:gridCol w="4191000"/>
              </a:tblGrid>
              <a:tr h="6334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score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Frozen threshold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Rejection flag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6334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0.274934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0.876588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 (below cutoff)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9927B1-2DE0-4CFB-AC7D-2FA6140A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IFNG: log₂(4 + 1) = 2.322. Housekeeping reference: 7.900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223711-E448-4E8C-9F6B-FBAAF2E0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Normalized input = −5.578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17D33E-ADB5-4DAB-A90B-205677A5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Remove IFNG: “Missing required assay targets: IFNG”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80569F-D8FF-4413-8CBF-0ACB3909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Previous result clears. No new score returns.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EFF868-D48C-4B7C-80B7-0F39BCE8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Model: 20260915_shared:any_rejection:catboost_all_depth4</a:t>
            </a:r>
          </a:p>
        </p:txBody>
      </p:sp>
    </p:spTree>
    <p:extLst>
      <p:ext uri="{BB962C8B-B14F-4D97-AF65-F5344CB8AC3E}">
        <p14:creationId xmlns:p14="http://schemas.microsoft.com/office/powerpoint/2010/main" val="126807261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C8ED99-00F9-4D13-9498-2DB7D02A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service reproduces all 345 saved scores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D48A06-B7D1-4787-A023-7FCAF6BC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local verification, 17 Sep 2026. Software consistency check.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75F9FB-EF38-47CA-A5B9-1FDA2462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1463BA-D3C8-42D7-83B4-082FB5F5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345 / 345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383E2D-11DD-41F2-9E01-2130BF5C1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API, command line and saved evaluation agree within 10⁻¹².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19FCF0-9A7E-4466-B255-CCCF6A2AF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1947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902B60-0636-445F-97CF-7F187FBA6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1097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94 tests passed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43396F-E192-4237-AF4E-E4651B813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109728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Reordered columns: same score. Invalid counts: no score.</a:t>
            </a:r>
          </a:p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Incompatible model metadata: model does not load.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C2ABA7-BE8A-41FE-A2E9-009B1D81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Local research container checked. Cloud deployment remains deferred.</a:t>
            </a:r>
          </a:p>
        </p:txBody>
      </p:sp>
    </p:spTree>
    <p:extLst>
      <p:ext uri="{BB962C8B-B14F-4D97-AF65-F5344CB8AC3E}">
        <p14:creationId xmlns:p14="http://schemas.microsoft.com/office/powerpoint/2010/main" val="14191748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3BB956-F538-4850-B104-AE9F1419F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result applies to one deposited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458081-2FCC-4315-9B32-0268C43E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project research context and primary analysis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FECFCE-CE2D-46CE-853F-0DD3FF4E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43270F-47D1-46EA-B42E-524609B5D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Established: agreement with recorded biopsy diagnoses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561510-E2E3-4877-B1A0-9105E9BF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9728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Patient and center independence: unverified</a:t>
            </a:r>
          </a:p>
          <a:p xmlns:a="http://schemas.openxmlformats.org/drawingml/2006/main">
            <a:pPr algn="l"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Assay groups: tied to cohort membership</a:t>
            </a:r>
          </a:p>
          <a:p xmlns:a="http://schemas.openxmlformats.org/drawingml/2006/main">
            <a:pPr algn="l"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File checks: do not establish laboratory assay quality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739646-8DF6-49D1-9F9B-AC579D22D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DEBCE9-6C60-4FF2-BDC8-5A73394F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Next: a new cohort with known patient and center IDs,</a:t>
            </a:r>
          </a:p>
          <a:p xmlns:a="http://schemas.openxmlformats.org/drawingml/2006/main">
            <a:pPr algn="l">
              <a:defRPr sz="27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and documented laboratory quality checks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256A34-436B-4373-8444-99FEFE1D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Specify models and thresholds first. Keep logistic in the comparison.</a:t>
            </a:r>
          </a:p>
        </p:txBody>
      </p:sp>
    </p:spTree>
    <p:extLst>
      <p:ext uri="{BB962C8B-B14F-4D97-AF65-F5344CB8AC3E}">
        <p14:creationId xmlns:p14="http://schemas.microsoft.com/office/powerpoint/2010/main" val="204768690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28B743-2777-4BE4-B7E0-D99CD97D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Molecular counts can classify recorded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5A967A-312C-4A3E-86B0-A618C4117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Public data: Zhang et al. (2024), GSE212160. Presentation prepared with AI assistance.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BF4163-5A57-4F41-85E5-00D3E1F9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2D1759-790C-47FC-BA3B-C9FE7B54A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CDE6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CDE6DF"/>
                </a:solidFill>
                <a:latin typeface="Arial"/>
                <a:ea typeface="Arial"/>
                <a:cs typeface="Arial"/>
              </a:rPr>
              <a:t>CatBoost, 345 evaluation specimens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2FC2F1-143F-4944-B967-96B5CCD4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25 / 169 misses. 8 / 176 false flags.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81BB8C-0B68-44DF-B36F-C3E707CF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9728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0">
                <a:solidFill>
                  <a:srgbClr val="CDE6DF"/>
                </a:solidFill>
                <a:latin typeface="Arial"/>
                <a:ea typeface="Arial"/>
                <a:cs typeface="Arial"/>
              </a:defRPr>
            </a:pPr>
            <a:r>
              <a:rPr sz="2775" b="0">
                <a:solidFill>
                  <a:srgbClr val="CDE6DF"/>
                </a:solidFill>
                <a:latin typeface="Arial"/>
                <a:ea typeface="Arial"/>
                <a:cs typeface="Arial"/>
              </a:rPr>
              <a:t>Logistic regression remains a credible simpler alternative.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6AABBB-AA46-4938-BC83-4E9AD931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0">
                <a:solidFill>
                  <a:srgbClr val="CDE6DF"/>
                </a:solidFill>
                <a:latin typeface="Arial"/>
                <a:ea typeface="Arial"/>
                <a:cs typeface="Arial"/>
              </a:defRPr>
            </a:pPr>
            <a:r>
              <a:rPr sz="2775" b="0">
                <a:solidFill>
                  <a:srgbClr val="CDE6DF"/>
                </a:solidFill>
                <a:latin typeface="Arial"/>
                <a:ea typeface="Arial"/>
                <a:cs typeface="Arial"/>
              </a:rPr>
              <a:t>Shared preprocessing supports a tested research service.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2435BA-EB32-4103-AF32-295842E2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>
                <a:solidFill>
                  <a:srgbClr val="CDE6DF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CDE6DF"/>
                </a:solidFill>
                <a:latin typeface="Arial"/>
                <a:ea typeface="Arial"/>
                <a:cs typeface="Arial"/>
              </a:rPr>
              <a:t>Next: test the fixed comparison on a new cohort.</a:t>
            </a:r>
          </a:p>
        </p:txBody>
      </p:sp>
    </p:spTree>
    <p:extLst>
      <p:ext uri="{BB962C8B-B14F-4D97-AF65-F5344CB8AC3E}">
        <p14:creationId xmlns:p14="http://schemas.microsoft.com/office/powerpoint/2010/main" val="39101921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7D0CDC-E614-49DD-84ED-22BB75AB4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complete primary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F787A2-CF90-4246-A941-FA67DFF7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frozen primary evaluation, 15 Sep 2026. Same 345 specimens.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15F10-BBEF-4D17-91F5-35132456C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885950"/>
          <a:ext xmlns:a="http://schemas.openxmlformats.org/drawingml/2006/main" cx="10972800" cy="3276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24100"/>
                <a:gridCol w="1295400"/>
                <a:gridCol w="1600200"/>
                <a:gridCol w="1914525"/>
                <a:gridCol w="1952625"/>
                <a:gridCol w="1885950"/>
              </a:tblGrid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Misses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False flags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Sensitivity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Specificity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ROC-AUC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85.2%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95.5%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0.969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Logistic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33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80.5%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95.5%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0.956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75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91.7%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57.4%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0.842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176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100.0%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0.0%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0.500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80C9EA-5F21-4CD7-ABF6-D1CA2DCB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Denominators: 169 rejection; 176 no rejection. Fixed thresholds per model.</a:t>
            </a:r>
          </a:p>
        </p:txBody>
      </p:sp>
    </p:spTree>
    <p:extLst>
      <p:ext uri="{BB962C8B-B14F-4D97-AF65-F5344CB8AC3E}">
        <p14:creationId xmlns:p14="http://schemas.microsoft.com/office/powerpoint/2010/main" val="4742985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70944A-C513-4854-9FAA-455BA4EF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normalization and threshold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132DFD-0D77-41E2-9435-A5E0A58C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preprocessing.py; saved configuration and screening results in results/reproduction/baseline.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C20612-B5F9-43E4-AE40-EB17171E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525E7F-5ABB-4188-ABFF-7F8B0604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1085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Normalized measurement = log₂(raw count + 1)</a:t>
            </a:r>
          </a:p>
          <a:p xmlns:a="http://schemas.openxmlformats.org/drawingml/2006/main">
            <a:pPr algn="l">
              <a:defRPr sz="27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− mean of the 12 housekeeping log₂(count + 1) values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F1F92E-70B2-444C-B9EE-CF331B44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8585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Logistic: scaling fitted on training rows; regularization C = 0.1.</a:t>
            </a:r>
          </a:p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CatBoost: 300 trees, depth 4, learning rate 0.04.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8DC8D0-21DD-4C3B-BD48-1006EE14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Both detected 157 / 174 screening rejection cases.</a:t>
            </a:r>
          </a:p>
          <a:p xmlns:a="http://schemas.openxmlformats.org/drawingml/2006/main">
            <a:pPr algn="l"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False flags: CatBoost 5 / 89, logistic 6 / 89.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FD8599-13E2-44DF-B4AC-313E0C07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5475"/>
            <a:ext cx="1085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Flag when score ≥ 0.8765880870219778 for the frozen service.</a:t>
            </a:r>
          </a:p>
        </p:txBody>
      </p:sp>
    </p:spTree>
    <p:extLst>
      <p:ext uri="{BB962C8B-B14F-4D97-AF65-F5344CB8AC3E}">
        <p14:creationId xmlns:p14="http://schemas.microsoft.com/office/powerpoint/2010/main" val="76732094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B39B62-1AE5-45BB-9699-8320192C4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ranking does not guarantee calibrated scores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060FD-F3F2-41E0-8468-093953AE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reliability_bins.csv. Fixed bins; Wilson interval shown for the highlighted descriptive example. No recalibration fitted.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8F6F1B-40F6-48D4-A482-7B7DFEF8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561975" y="1571625"/>
          <a:ext xmlns:a="http://schemas.openxmlformats.org/drawingml/2006/main" cx="69151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e43550a5b9b4f6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072AF8-5AA2-46E7-9514-BC1269F4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62125"/>
            <a:ext cx="3771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Score bin 0.8–0.9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53B53B-3692-487B-B8AD-91141C8B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57450"/>
            <a:ext cx="37719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0.847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B69A3-B3DF-4A35-883A-F2EC318A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52775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mean score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172A0C-0DAB-429A-B4E0-CC6C1CED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86200"/>
            <a:ext cx="37719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7 / 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E6F6DD-3BA4-4B24-8BB5-37B948ED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95825"/>
            <a:ext cx="37719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had recorded rejection</a:t>
            </a:r>
          </a:p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43.8% (95% CI 23.1–66.8%)</a:t>
            </a:r>
          </a:p>
        </p:txBody>
      </p:sp>
    </p:spTree>
    <p:extLst>
      <p:ext uri="{BB962C8B-B14F-4D97-AF65-F5344CB8AC3E}">
        <p14:creationId xmlns:p14="http://schemas.microsoft.com/office/powerpoint/2010/main" val="53499580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A5C5F-47C4-4E20-AE4C-1F7A3D17C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subtype follow-up retained the binary service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754E9-5B52-470F-9B6A-46632FFC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subtype follow-up, 15 Sep 2026. Reuses an already examined validation cohort; independent confirmation remains needed.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0812A4-AE38-4039-AD8D-303AB6BA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905000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67300"/>
                <a:gridCol w="3257550"/>
                <a:gridCol w="264795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Any-rejection misses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False flags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Binary CatBoost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25 / 169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 / 176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Four-class CatBoost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29 / 169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 / 176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Four-class logistic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28 / 169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10 / 176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Separate component models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24 / 169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 / 176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DBF65D-6D45-4D26-B668-74D5646B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Four-class logistic recognized 10 / 18 mixed diagnoses,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with 5 false mixed calls among 327 non-mixed specimens.</a:t>
            </a:r>
          </a:p>
        </p:txBody>
      </p:sp>
    </p:spTree>
    <p:extLst>
      <p:ext uri="{BB962C8B-B14F-4D97-AF65-F5344CB8AC3E}">
        <p14:creationId xmlns:p14="http://schemas.microsoft.com/office/powerpoint/2010/main" val="137196333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870D89-DB0C-4E00-BC22-DC747B51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study, assay and deployment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2DD53A-599C-44B8-9373-9F6CFE54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analysis, research context, and current verification guide.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0DD663-9DCD-4744-9C6F-64186FBB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70497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43400"/>
                <a:gridCol w="6629400"/>
              </a:tblGrid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the project establishes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Patient / center independence?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Independence not verified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Laboratory assay quality?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File checks only; lab quality unverified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Individual probabilities?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Calibration remains limited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Cloud deployment?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Local container tested; cloud work deferred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CB4640-792E-4CC7-8EA1-BC9655C6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Biopsy-level resampling may understate uncertainty if specimens are related.</a:t>
            </a:r>
          </a:p>
        </p:txBody>
      </p:sp>
    </p:spTree>
    <p:extLst>
      <p:ext uri="{BB962C8B-B14F-4D97-AF65-F5344CB8AC3E}">
        <p14:creationId xmlns:p14="http://schemas.microsoft.com/office/powerpoint/2010/main" val="101878730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34D1C3-6EA0-4A75-AE61-6A5FBFC8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sources and contributions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004A0A-90E0-49E0-BBB6-F50404FC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FD99FA-B205-49A5-BC99-0B5FCAEB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Public study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9BF2BD-9505-42E1-979F-1A2E53A5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Zhang et al., Laboratory Investigation (2024)</a:t>
            </a:r>
          </a:p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GSE212160 raw NanoString B-HOT measurements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CDBBAC-31E2-407F-BEF2-114E81DD6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This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A4FE90-6DBA-44F1-907F-827B58B2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85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Binary comparison and runs produced in this repository,</a:t>
            </a:r>
          </a:p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shared software and a tested local demonstration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FF24FA-6A9D-470A-955F-B3CAC9BD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4572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Presentation approach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1E25A7-47FC-49F4-A13F-A88DA73B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Bourne (2007); Kosslyn et al. (2012); Garner &amp; Alley (2013); Rougier et al. (2014)</a:t>
            </a:r>
          </a:p>
        </p:txBody>
      </p:sp>
    </p:spTree>
    <p:extLst>
      <p:ext uri="{BB962C8B-B14F-4D97-AF65-F5344CB8AC3E}">
        <p14:creationId xmlns:p14="http://schemas.microsoft.com/office/powerpoint/2010/main" val="18922122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2026-09-18T16:06:47.6500000Z</dcterms:created>
  <dcterms:modified xsi:type="dcterms:W3CDTF">2026-09-18T16:06:47.6500000Z</dcterms:modified>
</coreProperties>
</file>